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5" r:id="rId7"/>
    <p:sldId id="259" r:id="rId8"/>
    <p:sldId id="267" r:id="rId9"/>
    <p:sldId id="261" r:id="rId10"/>
    <p:sldId id="266" r:id="rId11"/>
    <p:sldId id="262" r:id="rId12"/>
    <p:sldId id="268" r:id="rId13"/>
    <p:sldId id="263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248192-FD33-2B91-0DD4-DF457A2C4762}" v="44" dt="2025-05-28T04:40:10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bi Raj Khanal" userId="bbfb95e18448d2a1" providerId="Windows Live" clId="Web-{8C248192-FD33-2B91-0DD4-DF457A2C4762}"/>
    <pc:docChg chg="modSld">
      <pc:chgData name="Kabi Raj Khanal" userId="bbfb95e18448d2a1" providerId="Windows Live" clId="Web-{8C248192-FD33-2B91-0DD4-DF457A2C4762}" dt="2025-05-28T04:40:10.736" v="45" actId="20577"/>
      <pc:docMkLst>
        <pc:docMk/>
      </pc:docMkLst>
      <pc:sldChg chg="modSp">
        <pc:chgData name="Kabi Raj Khanal" userId="bbfb95e18448d2a1" providerId="Windows Live" clId="Web-{8C248192-FD33-2B91-0DD4-DF457A2C4762}" dt="2025-05-28T04:36:14.225" v="43" actId="20577"/>
        <pc:sldMkLst>
          <pc:docMk/>
          <pc:sldMk cId="2228620573" sldId="275"/>
        </pc:sldMkLst>
        <pc:spChg chg="mod">
          <ac:chgData name="Kabi Raj Khanal" userId="bbfb95e18448d2a1" providerId="Windows Live" clId="Web-{8C248192-FD33-2B91-0DD4-DF457A2C4762}" dt="2025-05-28T04:36:14.225" v="43" actId="20577"/>
          <ac:spMkLst>
            <pc:docMk/>
            <pc:sldMk cId="2228620573" sldId="275"/>
            <ac:spMk id="3" creationId="{00000000-0000-0000-0000-000000000000}"/>
          </ac:spMkLst>
        </pc:spChg>
      </pc:sldChg>
      <pc:sldChg chg="modSp">
        <pc:chgData name="Kabi Raj Khanal" userId="bbfb95e18448d2a1" providerId="Windows Live" clId="Web-{8C248192-FD33-2B91-0DD4-DF457A2C4762}" dt="2025-05-28T04:40:10.736" v="45" actId="20577"/>
        <pc:sldMkLst>
          <pc:docMk/>
          <pc:sldMk cId="3811247499" sldId="281"/>
        </pc:sldMkLst>
        <pc:spChg chg="mod">
          <ac:chgData name="Kabi Raj Khanal" userId="bbfb95e18448d2a1" providerId="Windows Live" clId="Web-{8C248192-FD33-2B91-0DD4-DF457A2C4762}" dt="2025-05-28T04:40:10.736" v="45" actId="20577"/>
          <ac:spMkLst>
            <pc:docMk/>
            <pc:sldMk cId="3811247499" sldId="28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57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9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04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4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2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4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883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68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0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9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26567-28EF-4D31-A914-B2E62CE9F675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817F0-D94E-440E-A726-719A63E63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2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II Pharmacoeconomics</a:t>
            </a:r>
          </a:p>
        </p:txBody>
      </p:sp>
    </p:spTree>
    <p:extLst>
      <p:ext uri="{BB962C8B-B14F-4D97-AF65-F5344CB8AC3E}">
        <p14:creationId xmlns:p14="http://schemas.microsoft.com/office/powerpoint/2010/main" val="340066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economics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science of assessing cost and benefits of healthcare. 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branch of health economics which compares the value of one drug or a drug therapy to another</a:t>
            </a:r>
          </a:p>
        </p:txBody>
      </p:sp>
    </p:spTree>
    <p:extLst>
      <p:ext uri="{BB962C8B-B14F-4D97-AF65-F5344CB8AC3E}">
        <p14:creationId xmlns:p14="http://schemas.microsoft.com/office/powerpoint/2010/main" val="389674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 can be considered as a branch of health economics which identifies, measures, and compares the costs and consequences of pharmaceutical products and services.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describes the economic relationship which combines the drug research, its production and distribution, storage, pricing, and further use by the people.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can be classified as the field of study that evaluates the behavior or welfare of individuals, firms, and markets for the relevance of pharmaceutical products, services, and programs.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91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is a field within health economics that focuses on the economic aspects of pharmaceutical drugs and therapies, comparing their costs and effects. 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identify, measure, and compare the costs and consequences of drug therapy for healthcare systems and society, helping to determine the best use of healthcare resources.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3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ctr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Assessment: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and quantifying direct and indirect costs associated with drug therapies, including medication costs, healthcare utilization, lost productivity, and other related expenses. </a:t>
            </a:r>
          </a:p>
          <a:p>
            <a:pPr marL="457200" indent="-457200" fontAlgn="ctr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Evaluation: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the effectiveness of treatments in terms of clinical outcomes, economic impacts (e.g., cost savings), and humanistic outcomes (e.g., quality of life). </a:t>
            </a:r>
          </a:p>
          <a:p>
            <a:pPr marL="457200" indent="-457200" fontAlgn="ctr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Employing various analytical techniques such as cost-minimization analysis, cost-benefit analysis, cost-effectiveness analysis, and cost-utility analysis to compare interventions. 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107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fontAlgn="ctr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Support: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data and insights to inform decisions about drug formularies, prescribing practices, and resource allocation to ensure the most efficient and effective use of healthcare resources. 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Considering different perspectives in the evaluation, such as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patient's perspective, the healthcare provider's perspective, the payer's perspective, and society's perspective.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094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Aspects of Pharmacoeconomics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drug therapies: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helps to determine the relative value of one drug or therapy compared to another, considering both their costs and benefits.</a:t>
            </a:r>
          </a:p>
          <a:p>
            <a:pPr marL="457200" indent="-45720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data to inform decisions about drug affordability, access, and reimbursement, supporting choices for healthcare providers and policymakers. </a:t>
            </a:r>
          </a:p>
          <a:p>
            <a:pPr marL="457200" indent="-45720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Cost-effectiveness analysis: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studies often involve evaluating the cost-effectiveness of different treatment options, comparing the costs with the benefits in terms of health outcomes. </a:t>
            </a:r>
          </a:p>
        </p:txBody>
      </p:sp>
    </p:spTree>
    <p:extLst>
      <p:ext uri="{BB962C8B-B14F-4D97-AF65-F5344CB8AC3E}">
        <p14:creationId xmlns:p14="http://schemas.microsoft.com/office/powerpoint/2010/main" val="276894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minimization: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be used to identify the least costly option among equally effective treatments. </a:t>
            </a:r>
          </a:p>
          <a:p>
            <a:pPr marL="457200" indent="-45720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Cost-benefit analysis: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evaluates the total economic benefits of a drug against its total costs, often including the value of the benefits to society. </a:t>
            </a:r>
          </a:p>
          <a:p>
            <a:pPr marL="457200" indent="-45720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Cost-utility analysis: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considers the quality of life associated with different treatments, often using measures like quality-adjusted life years (QALYs) to assess the overall value of a therapy.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44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development: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to justify the costs of new drug development and to evaluate the overall value of new drugs. </a:t>
            </a:r>
          </a:p>
          <a:p>
            <a:pPr marL="457200" indent="-45720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and reimbursement: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data is used to set drug prices and determine which drugs are covered by insurance. </a:t>
            </a:r>
          </a:p>
        </p:txBody>
      </p:sp>
    </p:spTree>
    <p:extLst>
      <p:ext uri="{BB962C8B-B14F-4D97-AF65-F5344CB8AC3E}">
        <p14:creationId xmlns:p14="http://schemas.microsoft.com/office/powerpoint/2010/main" val="1846136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healthcare organizations make informed decisions about how to allocate resources to optimize patient care. </a:t>
            </a:r>
          </a:p>
          <a:p>
            <a:pPr marL="457200" indent="-457200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decisions: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can inform policy decisions related to drug access, reimbursement, and formulary development.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900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analysis helps to achieve maximum benefit in limited cost.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Clinicians want their patients to receive best care and outcome available.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payers want to manage rising costs. </a:t>
            </a:r>
          </a:p>
        </p:txBody>
      </p:sp>
    </p:spTree>
    <p:extLst>
      <p:ext uri="{BB962C8B-B14F-4D97-AF65-F5344CB8AC3E}">
        <p14:creationId xmlns:p14="http://schemas.microsoft.com/office/powerpoint/2010/main" val="1770142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combines the objectives of both clinician and payers by estimating the value of patient outcomes for the expenditure spent on medications and other healthcare services.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healthcare settings,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 can be applied for effective formulary management, individual patient treatment, medication policy determination, and resource allocation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95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economics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young science and is slowly developing and testing its methodologies.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problems limit the use of health economics in practice.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process may be open to bias, in the choice of comparator drug, the assumptions made, or in the selective reporting of results. </a:t>
            </a:r>
          </a:p>
        </p:txBody>
      </p:sp>
    </p:spTree>
    <p:extLst>
      <p:ext uri="{BB962C8B-B14F-4D97-AF65-F5344CB8AC3E}">
        <p14:creationId xmlns:p14="http://schemas.microsoft.com/office/powerpoint/2010/main" val="785293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are conducted or funded by pharmaceutical companies who obviously are interested in the results, and there is a publication bias towards those studies favorable to sponsoring companies.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economics is therefore sometimes misused as a marketing ploy.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pharmacologists should welcome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 as a means to promote efficiency and effectiveness of prescribing.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812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analysis involves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 perspective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and measuring costs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and measuring consequences </a:t>
            </a:r>
          </a:p>
        </p:txBody>
      </p:sp>
    </p:spTree>
    <p:extLst>
      <p:ext uri="{BB962C8B-B14F-4D97-AF65-F5344CB8AC3E}">
        <p14:creationId xmlns:p14="http://schemas.microsoft.com/office/powerpoint/2010/main" val="1188589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perspectives include: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perspective – Portion of cost not covered by Insurance.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 perspective – e.g. Hospitals- Direct costs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Payer perspective – e.g. Insurance companies, employers, or the government.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 perspective - All direct and indirect costs. </a:t>
            </a:r>
          </a:p>
        </p:txBody>
      </p:sp>
    </p:spTree>
    <p:extLst>
      <p:ext uri="{BB962C8B-B14F-4D97-AF65-F5344CB8AC3E}">
        <p14:creationId xmlns:p14="http://schemas.microsoft.com/office/powerpoint/2010/main" val="3730620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the resources consumed by a program or drug therapy, is defined as Cost.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costs are categorized as.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Medical Costs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Drugs, medical supplies, and equipment, laboratory and diagnostic tests, hospitalizations, and physician visits.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Nonmedical Costs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-Transportation to and from healthcare facilities, extra trips to the emergency department, child or family care expenses, special diets, and various other out-of-pocket expenses.</a:t>
            </a:r>
          </a:p>
        </p:txBody>
      </p:sp>
    </p:spTree>
    <p:extLst>
      <p:ext uri="{BB962C8B-B14F-4D97-AF65-F5344CB8AC3E}">
        <p14:creationId xmlns:p14="http://schemas.microsoft.com/office/powerpoint/2010/main" val="2375960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Nonmedical Costs - Morbidity cost – Loss of productivity.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Mortality – Loss of years of service due to premature death.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Intangible Costs - Nonfinancial outcomes of disease and medical care such as pain, suffering, inconvenience, and grief.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Costs – Value (economic benefit) of the alternative therapy that was forgone.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Costs - The extra costs required to purchase an additional unit of effect.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Costs = Direct Medical Costs + Direct non-medical costs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Costs = Morbidity costs + Mortality costs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costs = Direct costs + Indirect costs + Intangible costs </a:t>
            </a:r>
          </a:p>
        </p:txBody>
      </p:sp>
    </p:spTree>
    <p:extLst>
      <p:ext uri="{BB962C8B-B14F-4D97-AF65-F5344CB8AC3E}">
        <p14:creationId xmlns:p14="http://schemas.microsoft.com/office/powerpoint/2010/main" val="805156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 (Outcomes)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 is defined as the effects, outputs, or outcomes of the program or drug therapy.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 are categorized as…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outcomes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direct, indirect, and intangible costs with the consequences of medical treatment alternatives.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outcomes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events that occur as a result of disease or treatment (e.g., safety and efficacy end points).</a:t>
            </a:r>
          </a:p>
        </p:txBody>
      </p:sp>
    </p:spTree>
    <p:extLst>
      <p:ext uri="{BB962C8B-B14F-4D97-AF65-F5344CB8AC3E}">
        <p14:creationId xmlns:p14="http://schemas.microsoft.com/office/powerpoint/2010/main" val="1689894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/>
                <a:cs typeface="Times New Roman"/>
              </a:rPr>
              <a:t>Humanistic outcomes</a:t>
            </a:r>
            <a:r>
              <a:rPr lang="en-US" dirty="0">
                <a:latin typeface="Times New Roman"/>
                <a:cs typeface="Times New Roman"/>
              </a:rPr>
              <a:t> -Consequences of disease or treatment on patient functional status such as physical function, social function, general health and well-being, and life satisfaction.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/>
                <a:cs typeface="Times New Roman"/>
              </a:rPr>
              <a:t>Positive outcomes</a:t>
            </a:r>
            <a:r>
              <a:rPr lang="en-US" dirty="0">
                <a:latin typeface="Times New Roman"/>
                <a:cs typeface="Times New Roman"/>
              </a:rPr>
              <a:t> – Desired effect of a drug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/>
                <a:cs typeface="Times New Roman"/>
              </a:rPr>
              <a:t>Negative outcomes</a:t>
            </a:r>
            <a:r>
              <a:rPr lang="en-US" dirty="0">
                <a:latin typeface="Times New Roman"/>
                <a:cs typeface="Times New Roman"/>
              </a:rPr>
              <a:t> –ADR or toxicity of a drug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/>
                <a:cs typeface="Times New Roman"/>
              </a:rPr>
              <a:t>Intermediate outcome</a:t>
            </a:r>
            <a:r>
              <a:rPr lang="en-US" dirty="0">
                <a:latin typeface="Times New Roman"/>
                <a:cs typeface="Times New Roman"/>
              </a:rPr>
              <a:t> - Can serve as a proxy for more relevant final outcomes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i="1" dirty="0">
                <a:latin typeface="Times New Roman"/>
                <a:cs typeface="Times New Roman"/>
              </a:rPr>
              <a:t>Final outcome </a:t>
            </a:r>
            <a:r>
              <a:rPr lang="en-US" dirty="0">
                <a:latin typeface="Times New Roman"/>
                <a:cs typeface="Times New Roman"/>
              </a:rPr>
              <a:t>–To get final outcome of reduced MI (Myocardial Infraction) rate, lipid (fatty) lowering agents are being used to decrease LDL </a:t>
            </a:r>
            <a:r>
              <a:rPr lang="en-US" sz="2600" dirty="0">
                <a:latin typeface="Times New Roman"/>
                <a:cs typeface="Times New Roman"/>
              </a:rPr>
              <a:t>( </a:t>
            </a:r>
            <a:r>
              <a:rPr lang="en-US" sz="2600" dirty="0">
                <a:solidFill>
                  <a:srgbClr val="001D35"/>
                </a:solidFill>
                <a:latin typeface="Times New Roman"/>
                <a:ea typeface="+mn-lt"/>
                <a:cs typeface="+mn-lt"/>
              </a:rPr>
              <a:t>low-density lipoprotein)</a:t>
            </a:r>
            <a:r>
              <a:rPr lang="en-US" sz="1400" dirty="0">
                <a:solidFill>
                  <a:srgbClr val="001D3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>
                <a:latin typeface="Times New Roman"/>
                <a:cs typeface="Times New Roman"/>
              </a:rPr>
              <a:t>levels which is an intermediate outcome. </a:t>
            </a:r>
          </a:p>
        </p:txBody>
      </p:sp>
    </p:spTree>
    <p:extLst>
      <p:ext uri="{BB962C8B-B14F-4D97-AF65-F5344CB8AC3E}">
        <p14:creationId xmlns:p14="http://schemas.microsoft.com/office/powerpoint/2010/main" val="2228620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Pharmacoeconomics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evaluations </a:t>
            </a:r>
          </a:p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economic evaluations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consequence analysis (CCA) or Cost outcome analysis (COA)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Cost-of-illness (COI) evaluation </a:t>
            </a:r>
          </a:p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economic evaluations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Minimization Analysis (CMA)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Benefit Analysis (CBA)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Effectiveness Analysis (CEA)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Utility Analysis (CUA) </a:t>
            </a:r>
          </a:p>
          <a:p>
            <a:pPr marL="0" indent="0">
              <a:buNone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Humanistic evaluation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Regulated Quality of Life (HRQOL)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preferences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satisfaction </a:t>
            </a:r>
          </a:p>
        </p:txBody>
      </p:sp>
    </p:spTree>
    <p:extLst>
      <p:ext uri="{BB962C8B-B14F-4D97-AF65-F5344CB8AC3E}">
        <p14:creationId xmlns:p14="http://schemas.microsoft.com/office/powerpoint/2010/main" val="4103765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Cost-Consequence Analysis (CCA)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economic evaluations can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simple descriptive tabulations of outcomes or resources consumed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a minimum of time and effort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cost-outcome or cost-consequence analysis (CCA)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 the costs and consequences of an alternative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provide a comparison with other treatment options </a:t>
            </a:r>
          </a:p>
        </p:txBody>
      </p:sp>
    </p:spTree>
    <p:extLst>
      <p:ext uri="{BB962C8B-B14F-4D97-AF65-F5344CB8AC3E}">
        <p14:creationId xmlns:p14="http://schemas.microsoft.com/office/powerpoint/2010/main" val="2362268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of Illness (COI)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 identifies and estimates the overall cost of a particular disease for a defined population.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 evaluation method is also known as burden of illness.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measuring the direct and indirect costs attributable to a specific disease such as diabetes, mental disorders, or cancer.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 evaluation is not used to compare competing treatment alternatives but to provide an estimation of the financial burden of a disease.</a:t>
            </a:r>
          </a:p>
        </p:txBody>
      </p:sp>
    </p:spTree>
    <p:extLst>
      <p:ext uri="{BB962C8B-B14F-4D97-AF65-F5344CB8AC3E}">
        <p14:creationId xmlns:p14="http://schemas.microsoft.com/office/powerpoint/2010/main" val="2921940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Minimization Analysis (CMA)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Cost-minimization analysis is the most basic technique.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CMA involves the determination of the least costly alternative.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drugs A and B are antiulcer agents equivalent in efficacy and adverse drug reactions (ADRs), then the costs of using these drugs could be compared using CMA.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example would be prescribing a generic preparation instead of the brand leader.</a:t>
            </a:r>
          </a:p>
        </p:txBody>
      </p:sp>
    </p:spTree>
    <p:extLst>
      <p:ext uri="{BB962C8B-B14F-4D97-AF65-F5344CB8AC3E}">
        <p14:creationId xmlns:p14="http://schemas.microsoft.com/office/powerpoint/2010/main" val="519165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Benefit Analysis (CBA)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costs and benefits in monetary terms.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the strengths and weaknesses of alternatives.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costs and the benefits are measured and converted into equivalent dollars in the year in which they will occur.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costs and benefits are expressed as a ratio (a benefit-to-cost (B:C) ratio).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CBAs measure and quantify direct costs and direct benefits only due to difficulties in measuring indirect and intangible benefits.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is not widely used in health economics.</a:t>
            </a:r>
          </a:p>
        </p:txBody>
      </p:sp>
    </p:spTree>
    <p:extLst>
      <p:ext uri="{BB962C8B-B14F-4D97-AF65-F5344CB8AC3E}">
        <p14:creationId xmlns:p14="http://schemas.microsoft.com/office/powerpoint/2010/main" val="432447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Effectiveness Analysis (CEA)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commonly employed method is cost-effectiveness analysis.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effectiveness (health benefit) in natural units (e.g. years of life saved, ulcers healed) and the costs in money.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/>
                <a:cs typeface="Times New Roman"/>
              </a:rPr>
              <a:t>It compares therapies with qualitatively similar outcomes in a particular therapeutic area.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/>
                <a:cs typeface="Times New Roman"/>
              </a:rPr>
              <a:t>For instance, in severe reflux </a:t>
            </a:r>
            <a:r>
              <a:rPr lang="en-US" dirty="0" err="1">
                <a:latin typeface="Times New Roman"/>
                <a:cs typeface="Times New Roman"/>
              </a:rPr>
              <a:t>oesophagitis</a:t>
            </a:r>
            <a:r>
              <a:rPr lang="en-US" dirty="0">
                <a:latin typeface="Times New Roman"/>
                <a:cs typeface="Times New Roman"/>
              </a:rPr>
              <a:t>, using a proton pump inhibitor compared to using H2 blockers. 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11247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CEA does not allow comparisons to be made between two totally different areas of medicine with different outcomes.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of CEA are expressed as a ratio either as an average cost-effectiveness ratio (ACER) or as an incremental cost effectiveness ratio (ICER).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ACER represents the total cost of a program or treatment alternative divided by its clinical outcome to yield a ratio representing the dollar cost per specific clinical outcome gained, independent of comparators.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441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cost effectiveness (ACER) = Net Cost / Net Health Benefit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measure of CEA is the incremental cost effectiveness ratio (ICER).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Cost Effectiveness Ratio = (Cost of drug A - Cost of drug B) / (Benefits of drug A - Benefits of drug B)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ICER = Difference in costs (A-B) / Difference in benefits (A-B)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CEA is being used to set public policies regarding the use of pharmaceutical products (national formularies) in countries such as Australia, New Zealand, and Canada.</a:t>
            </a:r>
          </a:p>
        </p:txBody>
      </p:sp>
    </p:spTree>
    <p:extLst>
      <p:ext uri="{BB962C8B-B14F-4D97-AF65-F5344CB8AC3E}">
        <p14:creationId xmlns:p14="http://schemas.microsoft.com/office/powerpoint/2010/main" val="742884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1684" y="1825625"/>
            <a:ext cx="63086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61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4750" y="2453481"/>
            <a:ext cx="47625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05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Utility Analysis (CUA)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Cost-utility analysis (CUA) is a method for comparing treatment alternatives that integrates patient preferences and Health Regulated Quality of Life (HRQOL) 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HRQOL measure is an utility, having value between 1.0 (perfect health) and 0.0 (death).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Quality-adjusted life years (QALYs) are then derived by multiplying the time in a health state by the appropriate utility score</a:t>
            </a:r>
          </a:p>
        </p:txBody>
      </p:sp>
    </p:spTree>
    <p:extLst>
      <p:ext uri="{BB962C8B-B14F-4D97-AF65-F5344CB8AC3E}">
        <p14:creationId xmlns:p14="http://schemas.microsoft.com/office/powerpoint/2010/main" val="36858100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CUA, Cost is measured in dollars, and therapeutic outcome is measured in patient weighted utilities rather than in physical units.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is well suited to the evaluation of chronic diseases that have deleterious effects on HRQOL.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between treatments are expressed as the incremental cost per QALY gained.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 can compare cost, quality, and the quantity of patient-years. </a:t>
            </a:r>
          </a:p>
        </p:txBody>
      </p:sp>
    </p:spTree>
    <p:extLst>
      <p:ext uri="{BB962C8B-B14F-4D97-AF65-F5344CB8AC3E}">
        <p14:creationId xmlns:p14="http://schemas.microsoft.com/office/powerpoint/2010/main" val="1389519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CUA are expressed in a ratio, a cost-utility ratio (C:U ratio).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 is complex, and thus CUA can be limited in scope of application from a hospital or MCO perspective.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 is employed less frequently than other economic evaluation methods because of a lack of agreement on measuring utilities, difficulty comparing QALYs across patients and populations, and difficulty quantifying patient preferences.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CEA, the costs are measured in money and there is a defined outcome. But in CUA, the outcome is an unit of utility (e.g. a QALY).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838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Humanistic Evaluation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for evaluating the impact of disease and treatment of disease on a patient’s HRQOL, patient preferences, and patient satisfaction are all growing in popularity and application to pharmacotherapy decisions.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HRQOL has been defined as the assessment of the functional effects of illness and its consequent therapy as perceived by the patient.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effects often are displayed as physical, emotional, and social effects on the patient.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 of HRQOL usually is achieved through the use of patient-completed questionnaires.</a:t>
            </a:r>
          </a:p>
        </p:txBody>
      </p:sp>
    </p:spTree>
    <p:extLst>
      <p:ext uri="{BB962C8B-B14F-4D97-AF65-F5344CB8AC3E}">
        <p14:creationId xmlns:p14="http://schemas.microsoft.com/office/powerpoint/2010/main" val="469998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2144</Words>
  <Application>Microsoft Office PowerPoint</Application>
  <PresentationFormat>Widescreen</PresentationFormat>
  <Paragraphs>151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Unit II Pharmacoeconomics</vt:lpstr>
      <vt:lpstr>Introduction</vt:lpstr>
      <vt:lpstr>PowerPoint Presentation</vt:lpstr>
      <vt:lpstr>PowerPoint Presentation</vt:lpstr>
      <vt:lpstr>Features</vt:lpstr>
      <vt:lpstr>PowerPoint Presentation</vt:lpstr>
      <vt:lpstr>Key Aspects of Pharmacoeconomics</vt:lpstr>
      <vt:lpstr>PowerPoint Presentation</vt:lpstr>
      <vt:lpstr>Applications</vt:lpstr>
      <vt:lpstr>PowerPoint Presentation</vt:lpstr>
      <vt:lpstr>Importance</vt:lpstr>
      <vt:lpstr>PowerPoint Presentation</vt:lpstr>
      <vt:lpstr>Limitations</vt:lpstr>
      <vt:lpstr>PowerPoint Presentation</vt:lpstr>
      <vt:lpstr>Pharmacoeconomics Analysis</vt:lpstr>
      <vt:lpstr>Perspectives of Evaluation</vt:lpstr>
      <vt:lpstr>Costs</vt:lpstr>
      <vt:lpstr>PowerPoint Presentation</vt:lpstr>
      <vt:lpstr>Consequences (Outcomes)</vt:lpstr>
      <vt:lpstr>PowerPoint Presentation</vt:lpstr>
      <vt:lpstr>Pharmacoeconomics Methodologies</vt:lpstr>
      <vt:lpstr>Cost-Consequence Analysis (CCA)</vt:lpstr>
      <vt:lpstr>Cost of Illness (COI) evaluation</vt:lpstr>
      <vt:lpstr>Cost Minimization Analysis (CMA)</vt:lpstr>
      <vt:lpstr>Cost Benefit Analysis (CBA)</vt:lpstr>
      <vt:lpstr>Cost Effectiveness Analysis (CEA)</vt:lpstr>
      <vt:lpstr>PowerPoint Presentation</vt:lpstr>
      <vt:lpstr>PowerPoint Presentation</vt:lpstr>
      <vt:lpstr>PowerPoint Presentation</vt:lpstr>
      <vt:lpstr>PowerPoint Presentation</vt:lpstr>
      <vt:lpstr>Cost Utility Analysis (CUA)</vt:lpstr>
      <vt:lpstr>PowerPoint Presentation</vt:lpstr>
      <vt:lpstr>PowerPoint Presentation</vt:lpstr>
      <vt:lpstr>Humanistic Evaluation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II Pharmacoeconomics</dc:title>
  <dc:creator>De</dc:creator>
  <cp:lastModifiedBy>De</cp:lastModifiedBy>
  <cp:revision>61</cp:revision>
  <dcterms:created xsi:type="dcterms:W3CDTF">2025-05-26T04:19:32Z</dcterms:created>
  <dcterms:modified xsi:type="dcterms:W3CDTF">2025-05-28T04:40:20Z</dcterms:modified>
</cp:coreProperties>
</file>