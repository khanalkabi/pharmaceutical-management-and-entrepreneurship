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06"/>
  </p:notesMasterIdLst>
  <p:sldIdLst>
    <p:sldId id="370" r:id="rId2"/>
    <p:sldId id="368" r:id="rId3"/>
    <p:sldId id="369" r:id="rId4"/>
    <p:sldId id="371" r:id="rId5"/>
    <p:sldId id="372" r:id="rId6"/>
    <p:sldId id="373" r:id="rId7"/>
    <p:sldId id="374" r:id="rId8"/>
    <p:sldId id="375" r:id="rId9"/>
    <p:sldId id="376" r:id="rId10"/>
    <p:sldId id="377" r:id="rId11"/>
    <p:sldId id="382" r:id="rId12"/>
    <p:sldId id="383" r:id="rId13"/>
    <p:sldId id="378" r:id="rId14"/>
    <p:sldId id="379" r:id="rId15"/>
    <p:sldId id="384" r:id="rId16"/>
    <p:sldId id="385" r:id="rId17"/>
    <p:sldId id="387" r:id="rId18"/>
    <p:sldId id="256" r:id="rId19"/>
    <p:sldId id="257" r:id="rId20"/>
    <p:sldId id="258" r:id="rId21"/>
    <p:sldId id="259" r:id="rId22"/>
    <p:sldId id="260" r:id="rId23"/>
    <p:sldId id="261" r:id="rId24"/>
    <p:sldId id="262" r:id="rId25"/>
    <p:sldId id="263" r:id="rId26"/>
    <p:sldId id="264" r:id="rId27"/>
    <p:sldId id="265" r:id="rId28"/>
    <p:sldId id="266" r:id="rId29"/>
    <p:sldId id="267" r:id="rId30"/>
    <p:sldId id="268" r:id="rId31"/>
    <p:sldId id="269" r:id="rId32"/>
    <p:sldId id="270" r:id="rId33"/>
    <p:sldId id="271" r:id="rId34"/>
    <p:sldId id="272" r:id="rId35"/>
    <p:sldId id="273" r:id="rId36"/>
    <p:sldId id="274" r:id="rId37"/>
    <p:sldId id="275" r:id="rId38"/>
    <p:sldId id="281" r:id="rId39"/>
    <p:sldId id="282" r:id="rId40"/>
    <p:sldId id="283" r:id="rId41"/>
    <p:sldId id="284" r:id="rId42"/>
    <p:sldId id="291" r:id="rId43"/>
    <p:sldId id="292" r:id="rId44"/>
    <p:sldId id="287" r:id="rId45"/>
    <p:sldId id="288" r:id="rId46"/>
    <p:sldId id="289"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7" r:id="rId78"/>
    <p:sldId id="328" r:id="rId79"/>
    <p:sldId id="329" r:id="rId80"/>
    <p:sldId id="330" r:id="rId81"/>
    <p:sldId id="331" r:id="rId82"/>
    <p:sldId id="332" r:id="rId83"/>
    <p:sldId id="336" r:id="rId84"/>
    <p:sldId id="337" r:id="rId85"/>
    <p:sldId id="338" r:id="rId86"/>
    <p:sldId id="339" r:id="rId87"/>
    <p:sldId id="340" r:id="rId88"/>
    <p:sldId id="341" r:id="rId89"/>
    <p:sldId id="343" r:id="rId90"/>
    <p:sldId id="344" r:id="rId91"/>
    <p:sldId id="345" r:id="rId92"/>
    <p:sldId id="346" r:id="rId93"/>
    <p:sldId id="347" r:id="rId94"/>
    <p:sldId id="348" r:id="rId95"/>
    <p:sldId id="349" r:id="rId96"/>
    <p:sldId id="360" r:id="rId97"/>
    <p:sldId id="359" r:id="rId98"/>
    <p:sldId id="361" r:id="rId99"/>
    <p:sldId id="362" r:id="rId100"/>
    <p:sldId id="363" r:id="rId101"/>
    <p:sldId id="364" r:id="rId102"/>
    <p:sldId id="365" r:id="rId103"/>
    <p:sldId id="366" r:id="rId104"/>
    <p:sldId id="367" r:id="rId10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68" roundtripDataSignature="AMtx7mjcwZSvjUJoY0vfJfCYmX8zPcZ2q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B8B895-F05D-E29D-3C52-ACC85CE9C579}" v="135" dt="2025-05-20T04:38:02.328"/>
    <p1510:client id="{CB8A975B-615D-193E-EE89-14695A851A8A}" v="21" dt="2025-05-21T04:42:10.9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636"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70"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71"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6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73"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68" Type="http://customschemas.google.com/relationships/presentationmetadata" Target="meta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D720861-29D6-4EA8-A728-B78645DA8F8D}" type="doc">
      <dgm:prSet loTypeId="urn:microsoft.com/office/officeart/2005/8/layout/pyramid1" loCatId="pyramid" qsTypeId="urn:microsoft.com/office/officeart/2005/8/quickstyle/simple1" qsCatId="simple" csTypeId="urn:microsoft.com/office/officeart/2005/8/colors/accent1_2" csCatId="accent1" phldr="1"/>
      <dgm:spPr/>
    </dgm:pt>
    <dgm:pt modelId="{0537A160-272A-492A-BA4C-F58650ECC883}">
      <dgm:prSet phldrT="[Text]" custT="1"/>
      <dgm:spPr>
        <a:solidFill>
          <a:schemeClr val="bg1"/>
        </a:solidFill>
        <a:ln>
          <a:solidFill>
            <a:schemeClr val="tx1"/>
          </a:solidFill>
        </a:ln>
      </dgm:spPr>
      <dgm:t>
        <a:bodyPr/>
        <a:lstStyle/>
        <a:p>
          <a:r>
            <a:rPr lang="en-US" sz="900" dirty="0">
              <a:solidFill>
                <a:schemeClr val="tx1"/>
              </a:solidFill>
              <a:latin typeface="Times New Roman" panose="02020603050405020304" pitchFamily="18" charset="0"/>
              <a:cs typeface="Times New Roman" panose="02020603050405020304" pitchFamily="18" charset="0"/>
            </a:rPr>
            <a:t>Top Level Management </a:t>
          </a:r>
        </a:p>
      </dgm:t>
    </dgm:pt>
    <dgm:pt modelId="{8C8D8A19-09AF-42EE-B09F-C1777E070627}" type="parTrans" cxnId="{DF168639-6300-46BE-AB69-16659EF4AC7D}">
      <dgm:prSet/>
      <dgm:spPr/>
      <dgm:t>
        <a:bodyPr/>
        <a:lstStyle/>
        <a:p>
          <a:endParaRPr lang="en-US"/>
        </a:p>
      </dgm:t>
    </dgm:pt>
    <dgm:pt modelId="{91FFA3DD-D7A8-48EC-A9FA-1C48BFA8CBDB}" type="sibTrans" cxnId="{DF168639-6300-46BE-AB69-16659EF4AC7D}">
      <dgm:prSet/>
      <dgm:spPr/>
      <dgm:t>
        <a:bodyPr/>
        <a:lstStyle/>
        <a:p>
          <a:endParaRPr lang="en-US"/>
        </a:p>
      </dgm:t>
    </dgm:pt>
    <dgm:pt modelId="{62E0A829-D08D-4B5D-8A2C-107FE8365EA6}">
      <dgm:prSet phldrT="[Text]" custT="1"/>
      <dgm:spPr>
        <a:solidFill>
          <a:schemeClr val="bg1"/>
        </a:solidFill>
        <a:ln>
          <a:solidFill>
            <a:schemeClr val="tx1"/>
          </a:solidFill>
        </a:ln>
      </dgm:spPr>
      <dgm:t>
        <a:bodyPr/>
        <a:lstStyle/>
        <a:p>
          <a:r>
            <a:rPr lang="en-US" sz="900" dirty="0">
              <a:solidFill>
                <a:schemeClr val="tx1"/>
              </a:solidFill>
              <a:latin typeface="Times New Roman" panose="02020603050405020304" pitchFamily="18" charset="0"/>
              <a:cs typeface="Times New Roman" panose="02020603050405020304" pitchFamily="18" charset="0"/>
            </a:rPr>
            <a:t>Middle Level Management </a:t>
          </a:r>
        </a:p>
      </dgm:t>
    </dgm:pt>
    <dgm:pt modelId="{CD2F5E07-BDDE-4F8A-807B-64AD5E181A29}" type="parTrans" cxnId="{D0918EBE-69E5-4E6B-B554-8FCDAF3D4CAC}">
      <dgm:prSet/>
      <dgm:spPr/>
      <dgm:t>
        <a:bodyPr/>
        <a:lstStyle/>
        <a:p>
          <a:endParaRPr lang="en-US"/>
        </a:p>
      </dgm:t>
    </dgm:pt>
    <dgm:pt modelId="{672DDB83-E101-4860-B397-E5C893ECAA67}" type="sibTrans" cxnId="{D0918EBE-69E5-4E6B-B554-8FCDAF3D4CAC}">
      <dgm:prSet/>
      <dgm:spPr/>
      <dgm:t>
        <a:bodyPr/>
        <a:lstStyle/>
        <a:p>
          <a:endParaRPr lang="en-US"/>
        </a:p>
      </dgm:t>
    </dgm:pt>
    <dgm:pt modelId="{3FC521B5-2A31-457B-896D-E6240E4B0930}">
      <dgm:prSet phldrT="[Text]" custT="1"/>
      <dgm:spPr>
        <a:solidFill>
          <a:schemeClr val="bg1"/>
        </a:solidFill>
        <a:ln>
          <a:solidFill>
            <a:schemeClr val="tx1"/>
          </a:solidFill>
        </a:ln>
      </dgm:spPr>
      <dgm:t>
        <a:bodyPr/>
        <a:lstStyle/>
        <a:p>
          <a:r>
            <a:rPr lang="en-US" sz="900" dirty="0">
              <a:solidFill>
                <a:schemeClr val="tx1"/>
              </a:solidFill>
              <a:latin typeface="Times New Roman" panose="02020603050405020304" pitchFamily="18" charset="0"/>
              <a:cs typeface="Times New Roman" panose="02020603050405020304" pitchFamily="18" charset="0"/>
            </a:rPr>
            <a:t>Lower Level Management </a:t>
          </a:r>
        </a:p>
      </dgm:t>
    </dgm:pt>
    <dgm:pt modelId="{6E3BCDEA-C92C-4072-B74A-FCE341838674}" type="parTrans" cxnId="{362D5A0F-6116-4F05-BF6D-65D3AC34F9FC}">
      <dgm:prSet/>
      <dgm:spPr/>
      <dgm:t>
        <a:bodyPr/>
        <a:lstStyle/>
        <a:p>
          <a:endParaRPr lang="en-US"/>
        </a:p>
      </dgm:t>
    </dgm:pt>
    <dgm:pt modelId="{DA1E4320-F332-41B2-8689-76206DFFA8AE}" type="sibTrans" cxnId="{362D5A0F-6116-4F05-BF6D-65D3AC34F9FC}">
      <dgm:prSet/>
      <dgm:spPr/>
      <dgm:t>
        <a:bodyPr/>
        <a:lstStyle/>
        <a:p>
          <a:endParaRPr lang="en-US"/>
        </a:p>
      </dgm:t>
    </dgm:pt>
    <dgm:pt modelId="{B0F0982A-A5D6-46EC-B6FF-B4A60BD59D26}" type="pres">
      <dgm:prSet presAssocID="{ED720861-29D6-4EA8-A728-B78645DA8F8D}" presName="Name0" presStyleCnt="0">
        <dgm:presLayoutVars>
          <dgm:dir/>
          <dgm:animLvl val="lvl"/>
          <dgm:resizeHandles val="exact"/>
        </dgm:presLayoutVars>
      </dgm:prSet>
      <dgm:spPr/>
    </dgm:pt>
    <dgm:pt modelId="{DB3C24FC-54DB-491E-A046-2407BAC6404F}" type="pres">
      <dgm:prSet presAssocID="{0537A160-272A-492A-BA4C-F58650ECC883}" presName="Name8" presStyleCnt="0"/>
      <dgm:spPr/>
    </dgm:pt>
    <dgm:pt modelId="{46AAE8F9-2278-4FBF-BCE5-0226EBB7EAED}" type="pres">
      <dgm:prSet presAssocID="{0537A160-272A-492A-BA4C-F58650ECC883}" presName="level" presStyleLbl="node1" presStyleIdx="0" presStyleCnt="3">
        <dgm:presLayoutVars>
          <dgm:chMax val="1"/>
          <dgm:bulletEnabled val="1"/>
        </dgm:presLayoutVars>
      </dgm:prSet>
      <dgm:spPr/>
      <dgm:t>
        <a:bodyPr/>
        <a:lstStyle/>
        <a:p>
          <a:endParaRPr lang="en-US"/>
        </a:p>
      </dgm:t>
    </dgm:pt>
    <dgm:pt modelId="{A6361C90-1E97-45B1-94A4-55546B23BAA7}" type="pres">
      <dgm:prSet presAssocID="{0537A160-272A-492A-BA4C-F58650ECC883}" presName="levelTx" presStyleLbl="revTx" presStyleIdx="0" presStyleCnt="0">
        <dgm:presLayoutVars>
          <dgm:chMax val="1"/>
          <dgm:bulletEnabled val="1"/>
        </dgm:presLayoutVars>
      </dgm:prSet>
      <dgm:spPr/>
      <dgm:t>
        <a:bodyPr/>
        <a:lstStyle/>
        <a:p>
          <a:endParaRPr lang="en-US"/>
        </a:p>
      </dgm:t>
    </dgm:pt>
    <dgm:pt modelId="{24F0408E-A5FC-45AE-B02F-66CC095AA532}" type="pres">
      <dgm:prSet presAssocID="{62E0A829-D08D-4B5D-8A2C-107FE8365EA6}" presName="Name8" presStyleCnt="0"/>
      <dgm:spPr/>
    </dgm:pt>
    <dgm:pt modelId="{1BDC2B78-4572-420F-95BE-03B9F727A4DB}" type="pres">
      <dgm:prSet presAssocID="{62E0A829-D08D-4B5D-8A2C-107FE8365EA6}" presName="level" presStyleLbl="node1" presStyleIdx="1" presStyleCnt="3">
        <dgm:presLayoutVars>
          <dgm:chMax val="1"/>
          <dgm:bulletEnabled val="1"/>
        </dgm:presLayoutVars>
      </dgm:prSet>
      <dgm:spPr/>
      <dgm:t>
        <a:bodyPr/>
        <a:lstStyle/>
        <a:p>
          <a:endParaRPr lang="en-US"/>
        </a:p>
      </dgm:t>
    </dgm:pt>
    <dgm:pt modelId="{C5E93048-85DB-4A92-B288-B5A3F52DEEBF}" type="pres">
      <dgm:prSet presAssocID="{62E0A829-D08D-4B5D-8A2C-107FE8365EA6}" presName="levelTx" presStyleLbl="revTx" presStyleIdx="0" presStyleCnt="0">
        <dgm:presLayoutVars>
          <dgm:chMax val="1"/>
          <dgm:bulletEnabled val="1"/>
        </dgm:presLayoutVars>
      </dgm:prSet>
      <dgm:spPr/>
      <dgm:t>
        <a:bodyPr/>
        <a:lstStyle/>
        <a:p>
          <a:endParaRPr lang="en-US"/>
        </a:p>
      </dgm:t>
    </dgm:pt>
    <dgm:pt modelId="{6F615418-4FC9-4A58-A2A1-D643FF23A74F}" type="pres">
      <dgm:prSet presAssocID="{3FC521B5-2A31-457B-896D-E6240E4B0930}" presName="Name8" presStyleCnt="0"/>
      <dgm:spPr/>
    </dgm:pt>
    <dgm:pt modelId="{92D256F4-89CD-44DC-932B-33A02F487C98}" type="pres">
      <dgm:prSet presAssocID="{3FC521B5-2A31-457B-896D-E6240E4B0930}" presName="level" presStyleLbl="node1" presStyleIdx="2" presStyleCnt="3">
        <dgm:presLayoutVars>
          <dgm:chMax val="1"/>
          <dgm:bulletEnabled val="1"/>
        </dgm:presLayoutVars>
      </dgm:prSet>
      <dgm:spPr/>
      <dgm:t>
        <a:bodyPr/>
        <a:lstStyle/>
        <a:p>
          <a:endParaRPr lang="en-US"/>
        </a:p>
      </dgm:t>
    </dgm:pt>
    <dgm:pt modelId="{54387BA9-5A5C-4673-A52A-F3F26725A30D}" type="pres">
      <dgm:prSet presAssocID="{3FC521B5-2A31-457B-896D-E6240E4B0930}" presName="levelTx" presStyleLbl="revTx" presStyleIdx="0" presStyleCnt="0">
        <dgm:presLayoutVars>
          <dgm:chMax val="1"/>
          <dgm:bulletEnabled val="1"/>
        </dgm:presLayoutVars>
      </dgm:prSet>
      <dgm:spPr/>
      <dgm:t>
        <a:bodyPr/>
        <a:lstStyle/>
        <a:p>
          <a:endParaRPr lang="en-US"/>
        </a:p>
      </dgm:t>
    </dgm:pt>
  </dgm:ptLst>
  <dgm:cxnLst>
    <dgm:cxn modelId="{6CDEA260-91BE-4106-BBA6-F6D126B82431}" type="presOf" srcId="{62E0A829-D08D-4B5D-8A2C-107FE8365EA6}" destId="{C5E93048-85DB-4A92-B288-B5A3F52DEEBF}" srcOrd="1" destOrd="0" presId="urn:microsoft.com/office/officeart/2005/8/layout/pyramid1"/>
    <dgm:cxn modelId="{035EB79A-691B-4430-A6EF-C1BDBD0343D8}" type="presOf" srcId="{ED720861-29D6-4EA8-A728-B78645DA8F8D}" destId="{B0F0982A-A5D6-46EC-B6FF-B4A60BD59D26}" srcOrd="0" destOrd="0" presId="urn:microsoft.com/office/officeart/2005/8/layout/pyramid1"/>
    <dgm:cxn modelId="{02638F2E-450B-45BE-912F-E5B0B38DBA7E}" type="presOf" srcId="{3FC521B5-2A31-457B-896D-E6240E4B0930}" destId="{92D256F4-89CD-44DC-932B-33A02F487C98}" srcOrd="0" destOrd="0" presId="urn:microsoft.com/office/officeart/2005/8/layout/pyramid1"/>
    <dgm:cxn modelId="{362D5A0F-6116-4F05-BF6D-65D3AC34F9FC}" srcId="{ED720861-29D6-4EA8-A728-B78645DA8F8D}" destId="{3FC521B5-2A31-457B-896D-E6240E4B0930}" srcOrd="2" destOrd="0" parTransId="{6E3BCDEA-C92C-4072-B74A-FCE341838674}" sibTransId="{DA1E4320-F332-41B2-8689-76206DFFA8AE}"/>
    <dgm:cxn modelId="{8EC85256-ADF5-43BC-8715-96B5C0F7957D}" type="presOf" srcId="{3FC521B5-2A31-457B-896D-E6240E4B0930}" destId="{54387BA9-5A5C-4673-A52A-F3F26725A30D}" srcOrd="1" destOrd="0" presId="urn:microsoft.com/office/officeart/2005/8/layout/pyramid1"/>
    <dgm:cxn modelId="{D6AA9696-2F3B-4F51-A023-58FE4B361F45}" type="presOf" srcId="{0537A160-272A-492A-BA4C-F58650ECC883}" destId="{A6361C90-1E97-45B1-94A4-55546B23BAA7}" srcOrd="1" destOrd="0" presId="urn:microsoft.com/office/officeart/2005/8/layout/pyramid1"/>
    <dgm:cxn modelId="{D0918EBE-69E5-4E6B-B554-8FCDAF3D4CAC}" srcId="{ED720861-29D6-4EA8-A728-B78645DA8F8D}" destId="{62E0A829-D08D-4B5D-8A2C-107FE8365EA6}" srcOrd="1" destOrd="0" parTransId="{CD2F5E07-BDDE-4F8A-807B-64AD5E181A29}" sibTransId="{672DDB83-E101-4860-B397-E5C893ECAA67}"/>
    <dgm:cxn modelId="{DF168639-6300-46BE-AB69-16659EF4AC7D}" srcId="{ED720861-29D6-4EA8-A728-B78645DA8F8D}" destId="{0537A160-272A-492A-BA4C-F58650ECC883}" srcOrd="0" destOrd="0" parTransId="{8C8D8A19-09AF-42EE-B09F-C1777E070627}" sibTransId="{91FFA3DD-D7A8-48EC-A9FA-1C48BFA8CBDB}"/>
    <dgm:cxn modelId="{A5A998A4-C78F-4CCF-93C4-667380CBCFBF}" type="presOf" srcId="{0537A160-272A-492A-BA4C-F58650ECC883}" destId="{46AAE8F9-2278-4FBF-BCE5-0226EBB7EAED}" srcOrd="0" destOrd="0" presId="urn:microsoft.com/office/officeart/2005/8/layout/pyramid1"/>
    <dgm:cxn modelId="{D9DEE409-781E-40A7-9AD8-B59296121DD0}" type="presOf" srcId="{62E0A829-D08D-4B5D-8A2C-107FE8365EA6}" destId="{1BDC2B78-4572-420F-95BE-03B9F727A4DB}" srcOrd="0" destOrd="0" presId="urn:microsoft.com/office/officeart/2005/8/layout/pyramid1"/>
    <dgm:cxn modelId="{EFCB00BE-4EBD-49B2-BE42-0DC9E0C077B8}" type="presParOf" srcId="{B0F0982A-A5D6-46EC-B6FF-B4A60BD59D26}" destId="{DB3C24FC-54DB-491E-A046-2407BAC6404F}" srcOrd="0" destOrd="0" presId="urn:microsoft.com/office/officeart/2005/8/layout/pyramid1"/>
    <dgm:cxn modelId="{65CFECC2-E76F-4EE8-B6EE-A07FBDDF8C12}" type="presParOf" srcId="{DB3C24FC-54DB-491E-A046-2407BAC6404F}" destId="{46AAE8F9-2278-4FBF-BCE5-0226EBB7EAED}" srcOrd="0" destOrd="0" presId="urn:microsoft.com/office/officeart/2005/8/layout/pyramid1"/>
    <dgm:cxn modelId="{67762B14-4786-4A2C-B56B-3AA6261E8B80}" type="presParOf" srcId="{DB3C24FC-54DB-491E-A046-2407BAC6404F}" destId="{A6361C90-1E97-45B1-94A4-55546B23BAA7}" srcOrd="1" destOrd="0" presId="urn:microsoft.com/office/officeart/2005/8/layout/pyramid1"/>
    <dgm:cxn modelId="{63A3F327-AF00-4AAD-AD2C-1DA5738A1FE8}" type="presParOf" srcId="{B0F0982A-A5D6-46EC-B6FF-B4A60BD59D26}" destId="{24F0408E-A5FC-45AE-B02F-66CC095AA532}" srcOrd="1" destOrd="0" presId="urn:microsoft.com/office/officeart/2005/8/layout/pyramid1"/>
    <dgm:cxn modelId="{30EFAEF3-54B6-4DA3-8DC0-BE5A73954CCA}" type="presParOf" srcId="{24F0408E-A5FC-45AE-B02F-66CC095AA532}" destId="{1BDC2B78-4572-420F-95BE-03B9F727A4DB}" srcOrd="0" destOrd="0" presId="urn:microsoft.com/office/officeart/2005/8/layout/pyramid1"/>
    <dgm:cxn modelId="{E5BD5E84-1C8E-4560-89F9-E5354A75E268}" type="presParOf" srcId="{24F0408E-A5FC-45AE-B02F-66CC095AA532}" destId="{C5E93048-85DB-4A92-B288-B5A3F52DEEBF}" srcOrd="1" destOrd="0" presId="urn:microsoft.com/office/officeart/2005/8/layout/pyramid1"/>
    <dgm:cxn modelId="{65A62B67-345B-461D-BBBA-CB78C7D3B7FC}" type="presParOf" srcId="{B0F0982A-A5D6-46EC-B6FF-B4A60BD59D26}" destId="{6F615418-4FC9-4A58-A2A1-D643FF23A74F}" srcOrd="2" destOrd="0" presId="urn:microsoft.com/office/officeart/2005/8/layout/pyramid1"/>
    <dgm:cxn modelId="{49B4F4F9-5FAE-4EA4-BAAD-88792EE849BC}" type="presParOf" srcId="{6F615418-4FC9-4A58-A2A1-D643FF23A74F}" destId="{92D256F4-89CD-44DC-932B-33A02F487C98}" srcOrd="0" destOrd="0" presId="urn:microsoft.com/office/officeart/2005/8/layout/pyramid1"/>
    <dgm:cxn modelId="{133B944D-ACB3-4321-8692-6C1E83859843}" type="presParOf" srcId="{6F615418-4FC9-4A58-A2A1-D643FF23A74F}" destId="{54387BA9-5A5C-4673-A52A-F3F26725A30D}" srcOrd="1" destOrd="0" presId="urn:microsoft.com/office/officeart/2005/8/layout/pyrami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AAE8F9-2278-4FBF-BCE5-0226EBB7EAED}">
      <dsp:nvSpPr>
        <dsp:cNvPr id="0" name=""/>
        <dsp:cNvSpPr/>
      </dsp:nvSpPr>
      <dsp:spPr>
        <a:xfrm>
          <a:off x="2709333" y="0"/>
          <a:ext cx="2709333" cy="1096541"/>
        </a:xfrm>
        <a:prstGeom prst="trapezoid">
          <a:avLst>
            <a:gd name="adj" fmla="val 12354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dirty="0">
              <a:solidFill>
                <a:schemeClr val="tx1"/>
              </a:solidFill>
              <a:latin typeface="Times New Roman" panose="02020603050405020304" pitchFamily="18" charset="0"/>
              <a:cs typeface="Times New Roman" panose="02020603050405020304" pitchFamily="18" charset="0"/>
            </a:rPr>
            <a:t>Top Level Management </a:t>
          </a:r>
        </a:p>
      </dsp:txBody>
      <dsp:txXfrm>
        <a:off x="2709333" y="0"/>
        <a:ext cx="2709333" cy="1096541"/>
      </dsp:txXfrm>
    </dsp:sp>
    <dsp:sp modelId="{1BDC2B78-4572-420F-95BE-03B9F727A4DB}">
      <dsp:nvSpPr>
        <dsp:cNvPr id="0" name=""/>
        <dsp:cNvSpPr/>
      </dsp:nvSpPr>
      <dsp:spPr>
        <a:xfrm>
          <a:off x="1354666" y="1096541"/>
          <a:ext cx="5418666" cy="1096541"/>
        </a:xfrm>
        <a:prstGeom prst="trapezoid">
          <a:avLst>
            <a:gd name="adj" fmla="val 12354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dirty="0">
              <a:solidFill>
                <a:schemeClr val="tx1"/>
              </a:solidFill>
              <a:latin typeface="Times New Roman" panose="02020603050405020304" pitchFamily="18" charset="0"/>
              <a:cs typeface="Times New Roman" panose="02020603050405020304" pitchFamily="18" charset="0"/>
            </a:rPr>
            <a:t>Middle Level Management </a:t>
          </a:r>
        </a:p>
      </dsp:txBody>
      <dsp:txXfrm>
        <a:off x="2302933" y="1096541"/>
        <a:ext cx="3522133" cy="1096541"/>
      </dsp:txXfrm>
    </dsp:sp>
    <dsp:sp modelId="{92D256F4-89CD-44DC-932B-33A02F487C98}">
      <dsp:nvSpPr>
        <dsp:cNvPr id="0" name=""/>
        <dsp:cNvSpPr/>
      </dsp:nvSpPr>
      <dsp:spPr>
        <a:xfrm>
          <a:off x="0" y="2193083"/>
          <a:ext cx="8128000" cy="1096541"/>
        </a:xfrm>
        <a:prstGeom prst="trapezoid">
          <a:avLst>
            <a:gd name="adj" fmla="val 12354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dirty="0">
              <a:solidFill>
                <a:schemeClr val="tx1"/>
              </a:solidFill>
              <a:latin typeface="Times New Roman" panose="02020603050405020304" pitchFamily="18" charset="0"/>
              <a:cs typeface="Times New Roman" panose="02020603050405020304" pitchFamily="18" charset="0"/>
            </a:rPr>
            <a:t>Lower Level Management </a:t>
          </a:r>
        </a:p>
      </dsp:txBody>
      <dsp:txXfrm>
        <a:off x="1422399" y="2193083"/>
        <a:ext cx="5283200" cy="1096541"/>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 name="Google Shape;8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xfrm>
            <a:off x="393700" y="692150"/>
            <a:ext cx="6070600" cy="3416300"/>
          </a:xfrm>
          <a:ln/>
        </p:spPr>
      </p:sp>
      <p:sp>
        <p:nvSpPr>
          <p:cNvPr id="34819"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271988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xfrm>
            <a:off x="393700" y="692150"/>
            <a:ext cx="6070600" cy="3416300"/>
          </a:xfrm>
          <a:ln/>
        </p:spPr>
      </p:sp>
      <p:sp>
        <p:nvSpPr>
          <p:cNvPr id="3584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27894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4294967295"/>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37931725" indent="-37474525">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0DDF557D-B974-45FE-BE85-A9A1138E70F7}" type="slidenum">
              <a:rPr lang="en-US" altLang="en-US" sz="1200">
                <a:latin typeface="Times" panose="02020603050405020304" pitchFamily="18" charset="0"/>
                <a:ea typeface="MS PGothic" panose="020B0600070205080204" pitchFamily="34" charset="-128"/>
              </a:rPr>
              <a:pPr/>
              <a:t>50</a:t>
            </a:fld>
            <a:endParaRPr lang="en-US" altLang="en-US" sz="1200">
              <a:latin typeface="Times" panose="02020603050405020304" pitchFamily="18" charset="0"/>
              <a:ea typeface="MS PGothic" panose="020B0600070205080204" pitchFamily="34" charset="-128"/>
            </a:endParaRPr>
          </a:p>
        </p:txBody>
      </p:sp>
      <p:sp>
        <p:nvSpPr>
          <p:cNvPr id="36867" name="Rectangle 2"/>
          <p:cNvSpPr>
            <a:spLocks noGrp="1" noRot="1" noChangeAspect="1" noChangeArrowheads="1" noTextEdit="1"/>
          </p:cNvSpPr>
          <p:nvPr>
            <p:ph type="sldImg"/>
          </p:nvPr>
        </p:nvSpPr>
        <p:spPr>
          <a:xfrm>
            <a:off x="393700" y="692150"/>
            <a:ext cx="6070600" cy="3416300"/>
          </a:xfrm>
          <a:ln/>
        </p:spPr>
      </p:sp>
      <p:sp>
        <p:nvSpPr>
          <p:cNvPr id="3686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extLst>
      <p:ext uri="{BB962C8B-B14F-4D97-AF65-F5344CB8AC3E}">
        <p14:creationId xmlns:p14="http://schemas.microsoft.com/office/powerpoint/2010/main" val="36460897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4294967295"/>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37931725" indent="-37474525">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A53FD13C-A77B-4C37-94BC-87D115FE52CF}" type="slidenum">
              <a:rPr lang="en-US" altLang="en-US" sz="1200">
                <a:latin typeface="Times" panose="02020603050405020304" pitchFamily="18" charset="0"/>
                <a:ea typeface="MS PGothic" panose="020B0600070205080204" pitchFamily="34" charset="-128"/>
              </a:rPr>
              <a:pPr/>
              <a:t>51</a:t>
            </a:fld>
            <a:endParaRPr lang="en-US" altLang="en-US" sz="1200">
              <a:latin typeface="Times" panose="02020603050405020304" pitchFamily="18" charset="0"/>
              <a:ea typeface="MS PGothic" panose="020B0600070205080204" pitchFamily="34" charset="-128"/>
            </a:endParaRPr>
          </a:p>
        </p:txBody>
      </p:sp>
      <p:sp>
        <p:nvSpPr>
          <p:cNvPr id="37891" name="Rectangle 2"/>
          <p:cNvSpPr>
            <a:spLocks noGrp="1" noRot="1" noChangeAspect="1" noChangeArrowheads="1" noTextEdit="1"/>
          </p:cNvSpPr>
          <p:nvPr>
            <p:ph type="sldImg"/>
          </p:nvPr>
        </p:nvSpPr>
        <p:spPr>
          <a:xfrm>
            <a:off x="393700" y="692150"/>
            <a:ext cx="6070600" cy="3416300"/>
          </a:xfrm>
          <a:ln/>
        </p:spPr>
      </p:sp>
      <p:sp>
        <p:nvSpPr>
          <p:cNvPr id="3789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extLst>
      <p:ext uri="{BB962C8B-B14F-4D97-AF65-F5344CB8AC3E}">
        <p14:creationId xmlns:p14="http://schemas.microsoft.com/office/powerpoint/2010/main" val="5048776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4294967295"/>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37931725" indent="-37474525">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A2541593-7A95-401C-B963-17975F7EA410}" type="slidenum">
              <a:rPr lang="en-US" altLang="en-US" sz="1200">
                <a:latin typeface="Times" panose="02020603050405020304" pitchFamily="18" charset="0"/>
                <a:ea typeface="MS PGothic" panose="020B0600070205080204" pitchFamily="34" charset="-128"/>
              </a:rPr>
              <a:pPr/>
              <a:t>52</a:t>
            </a:fld>
            <a:endParaRPr lang="en-US" altLang="en-US" sz="1200">
              <a:latin typeface="Times" panose="02020603050405020304" pitchFamily="18" charset="0"/>
              <a:ea typeface="MS PGothic" panose="020B0600070205080204" pitchFamily="34" charset="-128"/>
            </a:endParaRPr>
          </a:p>
        </p:txBody>
      </p:sp>
      <p:sp>
        <p:nvSpPr>
          <p:cNvPr id="38915" name="Rectangle 2"/>
          <p:cNvSpPr>
            <a:spLocks noGrp="1" noRot="1" noChangeAspect="1" noChangeArrowheads="1" noTextEdit="1"/>
          </p:cNvSpPr>
          <p:nvPr>
            <p:ph type="sldImg"/>
          </p:nvPr>
        </p:nvSpPr>
        <p:spPr>
          <a:xfrm>
            <a:off x="393700" y="692150"/>
            <a:ext cx="6070600" cy="3416300"/>
          </a:xfrm>
          <a:ln/>
        </p:spPr>
      </p:sp>
      <p:sp>
        <p:nvSpPr>
          <p:cNvPr id="38916"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extLst>
      <p:ext uri="{BB962C8B-B14F-4D97-AF65-F5344CB8AC3E}">
        <p14:creationId xmlns:p14="http://schemas.microsoft.com/office/powerpoint/2010/main" val="22427569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a:xfrm>
            <a:off x="393700" y="692150"/>
            <a:ext cx="6070600" cy="3416300"/>
          </a:xfrm>
          <a:ln/>
        </p:spPr>
      </p:sp>
      <p:sp>
        <p:nvSpPr>
          <p:cNvPr id="3993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943160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a:xfrm>
            <a:off x="393700" y="692150"/>
            <a:ext cx="6070600" cy="3416300"/>
          </a:xfrm>
          <a:ln/>
        </p:spPr>
      </p:sp>
      <p:sp>
        <p:nvSpPr>
          <p:cNvPr id="4096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138374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4294967295"/>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6DF594BB-0F49-4171-A69C-1EF8A5676B9D}" type="slidenum">
              <a:rPr lang="en-US" altLang="en-US"/>
              <a:pPr/>
              <a:t>56</a:t>
            </a:fld>
            <a:endParaRPr lang="en-US" altLang="en-US"/>
          </a:p>
        </p:txBody>
      </p:sp>
      <p:sp>
        <p:nvSpPr>
          <p:cNvPr id="41987" name="Rectangle 2"/>
          <p:cNvSpPr>
            <a:spLocks noGrp="1" noRot="1" noChangeAspect="1" noChangeArrowheads="1" noTextEdit="1"/>
          </p:cNvSpPr>
          <p:nvPr>
            <p:ph type="sldImg"/>
          </p:nvPr>
        </p:nvSpPr>
        <p:spPr>
          <a:xfrm>
            <a:off x="393700" y="692150"/>
            <a:ext cx="6070600" cy="3416300"/>
          </a:xfrm>
          <a:ln/>
        </p:spPr>
      </p:sp>
      <p:sp>
        <p:nvSpPr>
          <p:cNvPr id="4198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027321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a:xfrm>
            <a:off x="393700" y="692150"/>
            <a:ext cx="6070600" cy="3416300"/>
          </a:xfrm>
          <a:ln/>
        </p:spPr>
      </p:sp>
      <p:sp>
        <p:nvSpPr>
          <p:cNvPr id="4301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buFontTx/>
              <a:buChar char="•"/>
            </a:pPr>
            <a:r>
              <a:rPr lang="en-US" altLang="en-US" sz="1000">
                <a:latin typeface="Times New Roman" panose="02020603050405020304" pitchFamily="18" charset="0"/>
              </a:rPr>
              <a:t>Fredrick Winslow Taylor (1856-1915)</a:t>
            </a:r>
          </a:p>
        </p:txBody>
      </p:sp>
    </p:spTree>
    <p:extLst>
      <p:ext uri="{BB962C8B-B14F-4D97-AF65-F5344CB8AC3E}">
        <p14:creationId xmlns:p14="http://schemas.microsoft.com/office/powerpoint/2010/main" val="13702360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xfrm>
            <a:off x="393700" y="692150"/>
            <a:ext cx="6070600" cy="3416300"/>
          </a:xfrm>
          <a:ln cap="flat"/>
        </p:spPr>
      </p:sp>
      <p:sp>
        <p:nvSpPr>
          <p:cNvPr id="4403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0532533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p:nvPr>
        </p:nvSpPr>
        <p:spPr>
          <a:xfrm>
            <a:off x="393700" y="692150"/>
            <a:ext cx="6070600" cy="3416300"/>
          </a:xfrm>
          <a:ln cap="flat"/>
        </p:spPr>
      </p:sp>
      <p:sp>
        <p:nvSpPr>
          <p:cNvPr id="4505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6737840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xfrm>
            <a:off x="393700" y="692150"/>
            <a:ext cx="6070600" cy="3416300"/>
          </a:xfrm>
          <a:ln/>
        </p:spPr>
      </p:sp>
      <p:sp>
        <p:nvSpPr>
          <p:cNvPr id="4608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5657547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xfrm>
            <a:off x="393700" y="692150"/>
            <a:ext cx="6070600" cy="3416300"/>
          </a:xfrm>
          <a:ln/>
        </p:spPr>
      </p:sp>
      <p:sp>
        <p:nvSpPr>
          <p:cNvPr id="4710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843201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xfrm>
            <a:off x="393700" y="692150"/>
            <a:ext cx="6070600" cy="3416300"/>
          </a:xfrm>
          <a:ln cap="flat"/>
        </p:spPr>
      </p:sp>
      <p:sp>
        <p:nvSpPr>
          <p:cNvPr id="4813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844004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393700" y="692150"/>
            <a:ext cx="6070600" cy="3416300"/>
          </a:xfrm>
          <a:ln cap="flat"/>
        </p:spPr>
      </p:sp>
      <p:sp>
        <p:nvSpPr>
          <p:cNvPr id="4915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702242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p:nvPr>
        </p:nvSpPr>
        <p:spPr>
          <a:xfrm>
            <a:off x="393700" y="692150"/>
            <a:ext cx="6070600" cy="3416300"/>
          </a:xfrm>
          <a:ln cap="flat"/>
        </p:spPr>
      </p:sp>
      <p:sp>
        <p:nvSpPr>
          <p:cNvPr id="5017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408057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xfrm>
            <a:off x="393700" y="692150"/>
            <a:ext cx="6070600" cy="3416300"/>
          </a:xfrm>
          <a:ln cap="flat"/>
        </p:spPr>
      </p:sp>
      <p:sp>
        <p:nvSpPr>
          <p:cNvPr id="5120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772143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a:xfrm>
            <a:off x="393700" y="692150"/>
            <a:ext cx="6070600" cy="3416300"/>
          </a:xfrm>
          <a:ln cap="flat"/>
        </p:spPr>
      </p:sp>
      <p:sp>
        <p:nvSpPr>
          <p:cNvPr id="5222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266312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xfrm>
            <a:off x="393700" y="692150"/>
            <a:ext cx="6070600" cy="3416300"/>
          </a:xfrm>
          <a:ln cap="flat"/>
        </p:spPr>
      </p:sp>
      <p:sp>
        <p:nvSpPr>
          <p:cNvPr id="5325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6664846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xfrm>
            <a:off x="393700" y="692150"/>
            <a:ext cx="6070600" cy="3416300"/>
          </a:xfrm>
          <a:ln/>
        </p:spPr>
      </p:sp>
      <p:sp>
        <p:nvSpPr>
          <p:cNvPr id="54275"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8513139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3"/>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3"/>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3"/>
        <p:cNvGrpSpPr/>
        <p:nvPr/>
      </p:nvGrpSpPr>
      <p:grpSpPr>
        <a:xfrm>
          <a:off x="0" y="0"/>
          <a:ext cx="0" cy="0"/>
          <a:chOff x="0" y="0"/>
          <a:chExt cx="0" cy="0"/>
        </a:xfrm>
      </p:grpSpPr>
      <p:sp>
        <p:nvSpPr>
          <p:cNvPr id="24" name="Google Shape;24;p1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1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9"/>
        <p:cNvGrpSpPr/>
        <p:nvPr/>
      </p:nvGrpSpPr>
      <p:grpSpPr>
        <a:xfrm>
          <a:off x="0" y="0"/>
          <a:ext cx="0" cy="0"/>
          <a:chOff x="0" y="0"/>
          <a:chExt cx="0" cy="0"/>
        </a:xfrm>
      </p:grpSpPr>
      <p:sp>
        <p:nvSpPr>
          <p:cNvPr id="30" name="Google Shape;30;p15"/>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5"/>
          <p:cNvSpPr txBox="1">
            <a:spLocks noGrp="1"/>
          </p:cNvSpPr>
          <p:nvPr>
            <p:ph type="body" idx="1"/>
          </p:nvPr>
        </p:nvSpPr>
        <p:spPr>
          <a:xfrm rot="5400000">
            <a:off x="3920332" y="-1256507"/>
            <a:ext cx="4351337"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5"/>
        <p:cNvGrpSpPr/>
        <p:nvPr/>
      </p:nvGrpSpPr>
      <p:grpSpPr>
        <a:xfrm>
          <a:off x="0" y="0"/>
          <a:ext cx="0" cy="0"/>
          <a:chOff x="0" y="0"/>
          <a:chExt cx="0" cy="0"/>
        </a:xfrm>
      </p:grpSpPr>
      <p:sp>
        <p:nvSpPr>
          <p:cNvPr id="36" name="Google Shape;36;p1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16"/>
          <p:cNvSpPr>
            <a:spLocks noGrp="1"/>
          </p:cNvSpPr>
          <p:nvPr>
            <p:ph type="pic" idx="2"/>
          </p:nvPr>
        </p:nvSpPr>
        <p:spPr>
          <a:xfrm>
            <a:off x="5183188" y="987425"/>
            <a:ext cx="6172200" cy="4873625"/>
          </a:xfrm>
          <a:prstGeom prst="rect">
            <a:avLst/>
          </a:prstGeom>
          <a:noFill/>
          <a:ln>
            <a:noFill/>
          </a:ln>
        </p:spPr>
      </p:sp>
      <p:sp>
        <p:nvSpPr>
          <p:cNvPr id="38" name="Google Shape;38;p1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39" name="Google Shape;39;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2"/>
        <p:cNvGrpSpPr/>
        <p:nvPr/>
      </p:nvGrpSpPr>
      <p:grpSpPr>
        <a:xfrm>
          <a:off x="0" y="0"/>
          <a:ext cx="0" cy="0"/>
          <a:chOff x="0" y="0"/>
          <a:chExt cx="0" cy="0"/>
        </a:xfrm>
      </p:grpSpPr>
      <p:sp>
        <p:nvSpPr>
          <p:cNvPr id="43" name="Google Shape;43;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1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45" name="Google Shape;45;p1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46" name="Google Shape;46;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19"/>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8"/>
        <p:cNvGrpSpPr/>
        <p:nvPr/>
      </p:nvGrpSpPr>
      <p:grpSpPr>
        <a:xfrm>
          <a:off x="0" y="0"/>
          <a:ext cx="0" cy="0"/>
          <a:chOff x="0" y="0"/>
          <a:chExt cx="0" cy="0"/>
        </a:xfrm>
      </p:grpSpPr>
      <p:sp>
        <p:nvSpPr>
          <p:cNvPr id="59" name="Google Shape;59;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1" name="Google Shape;61;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2" name="Google Shape;62;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3" name="Google Shape;63;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7"/>
        <p:cNvGrpSpPr/>
        <p:nvPr/>
      </p:nvGrpSpPr>
      <p:grpSpPr>
        <a:xfrm>
          <a:off x="0" y="0"/>
          <a:ext cx="0" cy="0"/>
          <a:chOff x="0" y="0"/>
          <a:chExt cx="0" cy="0"/>
        </a:xfrm>
      </p:grpSpPr>
      <p:sp>
        <p:nvSpPr>
          <p:cNvPr id="68" name="Google Shape;68;p21"/>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2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2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4"/>
        <p:cNvGrpSpPr/>
        <p:nvPr/>
      </p:nvGrpSpPr>
      <p:grpSpPr>
        <a:xfrm>
          <a:off x="0" y="0"/>
          <a:ext cx="0" cy="0"/>
          <a:chOff x="0" y="0"/>
          <a:chExt cx="0" cy="0"/>
        </a:xfrm>
      </p:grpSpPr>
      <p:sp>
        <p:nvSpPr>
          <p:cNvPr id="75" name="Google Shape;75;p2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77" name="Google Shape;77;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422400" y="609600"/>
            <a:ext cx="9347200" cy="1143000"/>
          </a:xfrm>
        </p:spPr>
        <p:txBody>
          <a:bodyPr/>
          <a:lstStyle/>
          <a:p>
            <a:r>
              <a:rPr lang="en-US"/>
              <a:t>Click to edit Master title style</a:t>
            </a:r>
          </a:p>
        </p:txBody>
      </p:sp>
      <p:sp>
        <p:nvSpPr>
          <p:cNvPr id="3" name="Content Placeholder 2"/>
          <p:cNvSpPr>
            <a:spLocks noGrp="1"/>
          </p:cNvSpPr>
          <p:nvPr>
            <p:ph sz="quarter" idx="1"/>
          </p:nvPr>
        </p:nvSpPr>
        <p:spPr>
          <a:xfrm>
            <a:off x="914400" y="1981200"/>
            <a:ext cx="5080000" cy="1943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981200"/>
            <a:ext cx="5080000" cy="1943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914400" y="4076700"/>
            <a:ext cx="5080000" cy="1943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7600" y="4076700"/>
            <a:ext cx="5080000" cy="1943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dt" sz="half" idx="10"/>
          </p:nvPr>
        </p:nvSpPr>
        <p:spPr/>
        <p:txBody>
          <a:bodyPr/>
          <a:lstStyle>
            <a:lvl1pPr>
              <a:defRPr/>
            </a:lvl1pPr>
          </a:lstStyle>
          <a:p>
            <a:pPr>
              <a:defRPr/>
            </a:pPr>
            <a:endParaRPr lang="en-US" altLang="en-US"/>
          </a:p>
        </p:txBody>
      </p:sp>
      <p:sp>
        <p:nvSpPr>
          <p:cNvPr id="8" name="Rectangle 6"/>
          <p:cNvSpPr>
            <a:spLocks noGrp="1" noChangeArrowheads="1"/>
          </p:cNvSpPr>
          <p:nvPr>
            <p:ph type="ftr" sz="quarter" idx="11"/>
          </p:nvPr>
        </p:nvSpPr>
        <p:spPr/>
        <p:txBody>
          <a:bodyPr/>
          <a:lstStyle>
            <a:lvl1pPr>
              <a:defRPr/>
            </a:lvl1pPr>
          </a:lstStyle>
          <a:p>
            <a:pPr>
              <a:defRPr/>
            </a:pPr>
            <a:endParaRPr lang="en-US" altLang="en-US"/>
          </a:p>
        </p:txBody>
      </p:sp>
      <p:sp>
        <p:nvSpPr>
          <p:cNvPr id="9" name="Rectangle 7"/>
          <p:cNvSpPr>
            <a:spLocks noGrp="1" noChangeArrowheads="1"/>
          </p:cNvSpPr>
          <p:nvPr>
            <p:ph type="sldNum" sz="quarter" idx="12"/>
          </p:nvPr>
        </p:nvSpPr>
        <p:spPr/>
        <p:txBody>
          <a:bodyPr/>
          <a:lstStyle>
            <a:lvl1pPr>
              <a:defRPr/>
            </a:lvl1pPr>
          </a:lstStyle>
          <a:p>
            <a:fld id="{2B302C8C-804E-4D7F-A8D7-8EB0A496CA5C}" type="slidenum">
              <a:rPr lang="en-US" altLang="en-US"/>
              <a:pPr/>
              <a:t>‹#›</a:t>
            </a:fld>
            <a:endParaRPr lang="en-US" altLang="en-US"/>
          </a:p>
        </p:txBody>
      </p:sp>
    </p:spTree>
    <p:extLst>
      <p:ext uri="{BB962C8B-B14F-4D97-AF65-F5344CB8AC3E}">
        <p14:creationId xmlns:p14="http://schemas.microsoft.com/office/powerpoint/2010/main" val="2169628424"/>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1"/>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1"/>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 id="214748366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11.xml"/><Relationship Id="rId5" Type="http://schemas.openxmlformats.org/officeDocument/2006/relationships/image" Target="../media/image5.jpeg"/><Relationship Id="rId4" Type="http://schemas.openxmlformats.org/officeDocument/2006/relationships/image" Target="../media/image4.jpe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Pharmaceutical Management</a:t>
            </a:r>
            <a:endParaRPr lang="en-US" dirty="0"/>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99193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Management</a:t>
            </a:r>
            <a:endParaRPr lang="en-US" b="1"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indent="-4572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“Management is a set of activities (including planning and decision making, organizing, leading, and controlling) directed at an organization’s resources, with the aim of achieving organizational goals in an efficient and effective manner.”</a:t>
            </a:r>
            <a:endParaRPr lang="en-US" sz="2400" b="1" dirty="0" smtClean="0">
              <a:latin typeface="Times New Roman" panose="02020603050405020304" pitchFamily="18" charset="0"/>
              <a:cs typeface="Times New Roman" panose="02020603050405020304" pitchFamily="18" charset="0"/>
            </a:endParaRPr>
          </a:p>
          <a:p>
            <a:pPr indent="-457200">
              <a:buFont typeface="Wingdings" panose="05000000000000000000" pitchFamily="2" charset="2"/>
              <a:buChar char="Ø"/>
            </a:pPr>
            <a:r>
              <a:rPr lang="en-US" sz="2400" b="1" dirty="0" smtClean="0">
                <a:latin typeface="Times New Roman" panose="02020603050405020304" pitchFamily="18" charset="0"/>
                <a:cs typeface="Times New Roman" panose="02020603050405020304" pitchFamily="18" charset="0"/>
              </a:rPr>
              <a:t>Management</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is the process of </a:t>
            </a:r>
            <a:r>
              <a:rPr lang="en-US" sz="2400" b="1" dirty="0">
                <a:latin typeface="Times New Roman" panose="02020603050405020304" pitchFamily="18" charset="0"/>
                <a:cs typeface="Times New Roman" panose="02020603050405020304" pitchFamily="18" charset="0"/>
              </a:rPr>
              <a:t>planning, organizing, leading, and controlling</a:t>
            </a:r>
            <a:r>
              <a:rPr lang="en-US" sz="2400" dirty="0">
                <a:latin typeface="Times New Roman" panose="02020603050405020304" pitchFamily="18" charset="0"/>
                <a:cs typeface="Times New Roman" panose="02020603050405020304" pitchFamily="18" charset="0"/>
              </a:rPr>
              <a:t> resources — such as people, money, materials, and time — to achieve organizational goals efficiently and effectively</a:t>
            </a:r>
            <a:r>
              <a:rPr lang="en-US" sz="2400" dirty="0" smtClean="0">
                <a:latin typeface="Times New Roman" panose="02020603050405020304" pitchFamily="18" charset="0"/>
                <a:cs typeface="Times New Roman" panose="02020603050405020304" pitchFamily="18" charset="0"/>
              </a:rPr>
              <a:t>.</a:t>
            </a:r>
          </a:p>
          <a:p>
            <a:pPr indent="-4572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Management means </a:t>
            </a:r>
            <a:r>
              <a:rPr lang="en-US" sz="2400" b="1" dirty="0">
                <a:latin typeface="Times New Roman" panose="02020603050405020304" pitchFamily="18" charset="0"/>
                <a:cs typeface="Times New Roman" panose="02020603050405020304" pitchFamily="18" charset="0"/>
              </a:rPr>
              <a:t>getting things done through people</a:t>
            </a:r>
            <a:r>
              <a:rPr lang="en-US" sz="2400" dirty="0">
                <a:latin typeface="Times New Roman" panose="02020603050405020304" pitchFamily="18" charset="0"/>
                <a:cs typeface="Times New Roman" panose="02020603050405020304" pitchFamily="18" charset="0"/>
              </a:rPr>
              <a:t> in a way that achieves the desired results</a:t>
            </a:r>
            <a:r>
              <a:rPr lang="en-US" sz="2400" dirty="0" smtClean="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69997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Harold Koontz:</a:t>
            </a:r>
            <a:r>
              <a:rPr lang="en-US" dirty="0">
                <a:latin typeface="Times New Roman" panose="02020603050405020304" pitchFamily="18" charset="0"/>
                <a:cs typeface="Times New Roman" panose="02020603050405020304" pitchFamily="18" charset="0"/>
              </a:rPr>
              <a:t> “Management is the art of getting things done through and with people in formally organized groups.”</a:t>
            </a:r>
          </a:p>
          <a:p>
            <a:pPr marL="0" indent="0">
              <a:buNone/>
            </a:pPr>
            <a:r>
              <a:rPr lang="en-US" b="1" dirty="0">
                <a:latin typeface="Times New Roman" panose="02020603050405020304" pitchFamily="18" charset="0"/>
                <a:cs typeface="Times New Roman" panose="02020603050405020304" pitchFamily="18" charset="0"/>
              </a:rPr>
              <a:t>Mary Parker Follett:</a:t>
            </a:r>
            <a:r>
              <a:rPr lang="en-US" dirty="0">
                <a:latin typeface="Times New Roman" panose="02020603050405020304" pitchFamily="18" charset="0"/>
                <a:cs typeface="Times New Roman" panose="02020603050405020304" pitchFamily="18" charset="0"/>
              </a:rPr>
              <a:t> “Management is the art of getting things done through people.”</a:t>
            </a:r>
          </a:p>
          <a:p>
            <a:pPr marL="0" indent="0">
              <a:buNone/>
            </a:pPr>
            <a:r>
              <a:rPr lang="en-US" b="1" dirty="0">
                <a:latin typeface="Times New Roman" panose="02020603050405020304" pitchFamily="18" charset="0"/>
                <a:cs typeface="Times New Roman" panose="02020603050405020304" pitchFamily="18" charset="0"/>
              </a:rPr>
              <a:t>Peter Drucker:</a:t>
            </a:r>
            <a:r>
              <a:rPr lang="en-US" dirty="0">
                <a:latin typeface="Times New Roman" panose="02020603050405020304" pitchFamily="18" charset="0"/>
                <a:cs typeface="Times New Roman" panose="02020603050405020304" pitchFamily="18" charset="0"/>
              </a:rPr>
              <a:t> “Management is doing things right; leadership is doing the right things.”</a:t>
            </a:r>
          </a:p>
          <a:p>
            <a:endParaRPr lang="en-US" dirty="0"/>
          </a:p>
        </p:txBody>
      </p:sp>
    </p:spTree>
    <p:extLst>
      <p:ext uri="{BB962C8B-B14F-4D97-AF65-F5344CB8AC3E}">
        <p14:creationId xmlns:p14="http://schemas.microsoft.com/office/powerpoint/2010/main" val="2951503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Nature of Management</a:t>
            </a:r>
            <a:endParaRPr lang="en-US" b="1"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Management has several key characteristics that define its nature and role in organizations. Here are the main ones</a:t>
            </a:r>
            <a:r>
              <a:rPr lang="en-US" dirty="0" smtClean="0">
                <a:latin typeface="Times New Roman" panose="02020603050405020304" pitchFamily="18" charset="0"/>
                <a:cs typeface="Times New Roman" panose="02020603050405020304" pitchFamily="18" charset="0"/>
              </a:rPr>
              <a:t>:</a:t>
            </a:r>
          </a:p>
          <a:p>
            <a:pPr marL="114300" indent="0">
              <a:buNone/>
            </a:pPr>
            <a:r>
              <a:rPr lang="en-US" b="1" dirty="0">
                <a:latin typeface="Times New Roman" panose="02020603050405020304" pitchFamily="18" charset="0"/>
                <a:cs typeface="Times New Roman" panose="02020603050405020304" pitchFamily="18" charset="0"/>
              </a:rPr>
              <a:t>1. Goal-Oriented</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Management always aims to achieve </a:t>
            </a:r>
            <a:r>
              <a:rPr lang="en-US" b="1" dirty="0">
                <a:latin typeface="Times New Roman" panose="02020603050405020304" pitchFamily="18" charset="0"/>
                <a:cs typeface="Times New Roman" panose="02020603050405020304" pitchFamily="18" charset="0"/>
              </a:rPr>
              <a:t>specific organizational goals</a:t>
            </a:r>
            <a:r>
              <a:rPr lang="en-US" dirty="0">
                <a:latin typeface="Times New Roman" panose="02020603050405020304" pitchFamily="18" charset="0"/>
                <a:cs typeface="Times New Roman" panose="02020603050405020304" pitchFamily="18" charset="0"/>
              </a:rPr>
              <a:t> effectively and efficiently.</a:t>
            </a:r>
          </a:p>
          <a:p>
            <a:pPr marL="114300" indent="0">
              <a:buNone/>
            </a:pPr>
            <a:r>
              <a:rPr lang="en-US" b="1" dirty="0">
                <a:latin typeface="Times New Roman" panose="02020603050405020304" pitchFamily="18" charset="0"/>
                <a:cs typeface="Times New Roman" panose="02020603050405020304" pitchFamily="18" charset="0"/>
              </a:rPr>
              <a:t>2. Universal</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Management principles apply to </a:t>
            </a:r>
            <a:r>
              <a:rPr lang="en-US" b="1" dirty="0">
                <a:latin typeface="Times New Roman" panose="02020603050405020304" pitchFamily="18" charset="0"/>
                <a:cs typeface="Times New Roman" panose="02020603050405020304" pitchFamily="18" charset="0"/>
              </a:rPr>
              <a:t>all types of organizations</a:t>
            </a:r>
            <a:r>
              <a:rPr lang="en-US" dirty="0">
                <a:latin typeface="Times New Roman" panose="02020603050405020304" pitchFamily="18" charset="0"/>
                <a:cs typeface="Times New Roman" panose="02020603050405020304" pitchFamily="18" charset="0"/>
              </a:rPr>
              <a:t> — business, government, or non-profit — and at all levels</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787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114300" indent="0">
              <a:buNone/>
            </a:pPr>
            <a:r>
              <a:rPr lang="en-US" b="1" dirty="0">
                <a:latin typeface="Times New Roman" panose="02020603050405020304" pitchFamily="18" charset="0"/>
                <a:cs typeface="Times New Roman" panose="02020603050405020304" pitchFamily="18" charset="0"/>
              </a:rPr>
              <a:t>3. Continuous Process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Management is a </a:t>
            </a:r>
            <a:r>
              <a:rPr lang="en-US" b="1" dirty="0">
                <a:latin typeface="Times New Roman" panose="02020603050405020304" pitchFamily="18" charset="0"/>
                <a:cs typeface="Times New Roman" panose="02020603050405020304" pitchFamily="18" charset="0"/>
              </a:rPr>
              <a:t>never-ending process</a:t>
            </a:r>
            <a:r>
              <a:rPr lang="en-US" dirty="0">
                <a:latin typeface="Times New Roman" panose="02020603050405020304" pitchFamily="18" charset="0"/>
                <a:cs typeface="Times New Roman" panose="02020603050405020304" pitchFamily="18" charset="0"/>
              </a:rPr>
              <a:t> that involves constant planning, organizing, leading, and controlling.</a:t>
            </a:r>
          </a:p>
          <a:p>
            <a:pPr marL="114300" indent="0">
              <a:buNone/>
            </a:pPr>
            <a:r>
              <a:rPr lang="en-US" b="1" dirty="0">
                <a:latin typeface="Times New Roman" panose="02020603050405020304" pitchFamily="18" charset="0"/>
                <a:cs typeface="Times New Roman" panose="02020603050405020304" pitchFamily="18" charset="0"/>
              </a:rPr>
              <a:t>4. Group Activity</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is a </a:t>
            </a:r>
            <a:r>
              <a:rPr lang="en-US" b="1" dirty="0">
                <a:latin typeface="Times New Roman" panose="02020603050405020304" pitchFamily="18" charset="0"/>
                <a:cs typeface="Times New Roman" panose="02020603050405020304" pitchFamily="18" charset="0"/>
              </a:rPr>
              <a:t>team effort</a:t>
            </a:r>
            <a:r>
              <a:rPr lang="en-US" dirty="0">
                <a:latin typeface="Times New Roman" panose="02020603050405020304" pitchFamily="18" charset="0"/>
                <a:cs typeface="Times New Roman" panose="02020603050405020304" pitchFamily="18" charset="0"/>
              </a:rPr>
              <a:t>; management involves coordinating the activities of people working together.</a:t>
            </a:r>
          </a:p>
          <a:p>
            <a:pPr marL="114300" indent="0">
              <a:buNone/>
            </a:pPr>
            <a:r>
              <a:rPr lang="en-US" b="1" dirty="0">
                <a:latin typeface="Times New Roman" panose="02020603050405020304" pitchFamily="18" charset="0"/>
                <a:cs typeface="Times New Roman" panose="02020603050405020304" pitchFamily="18" charset="0"/>
              </a:rPr>
              <a:t>5. Dynamic / Flexible</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Management adapts to </a:t>
            </a:r>
            <a:r>
              <a:rPr lang="en-US" b="1" dirty="0">
                <a:latin typeface="Times New Roman" panose="02020603050405020304" pitchFamily="18" charset="0"/>
                <a:cs typeface="Times New Roman" panose="02020603050405020304" pitchFamily="18" charset="0"/>
              </a:rPr>
              <a:t>changes in the environment</a:t>
            </a:r>
            <a:r>
              <a:rPr lang="en-US" dirty="0">
                <a:latin typeface="Times New Roman" panose="02020603050405020304" pitchFamily="18" charset="0"/>
                <a:cs typeface="Times New Roman" panose="02020603050405020304" pitchFamily="18" charset="0"/>
              </a:rPr>
              <a:t>, technology, and market conditions</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07436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114300" indent="0">
              <a:buNone/>
            </a:pPr>
            <a:r>
              <a:rPr lang="en-US" b="1" dirty="0">
                <a:latin typeface="Times New Roman" panose="02020603050405020304" pitchFamily="18" charset="0"/>
                <a:cs typeface="Times New Roman" panose="02020603050405020304" pitchFamily="18" charset="0"/>
              </a:rPr>
              <a:t>6. Intangible Force</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Management cannot be seen, but its </a:t>
            </a:r>
            <a:r>
              <a:rPr lang="en-US" b="1" dirty="0">
                <a:latin typeface="Times New Roman" panose="02020603050405020304" pitchFamily="18" charset="0"/>
                <a:cs typeface="Times New Roman" panose="02020603050405020304" pitchFamily="18" charset="0"/>
              </a:rPr>
              <a:t>effect is felt</a:t>
            </a:r>
            <a:r>
              <a:rPr lang="en-US" dirty="0">
                <a:latin typeface="Times New Roman" panose="02020603050405020304" pitchFamily="18" charset="0"/>
                <a:cs typeface="Times New Roman" panose="02020603050405020304" pitchFamily="18" charset="0"/>
              </a:rPr>
              <a:t> through the efficiency and success of the organization.</a:t>
            </a:r>
          </a:p>
          <a:p>
            <a:pPr marL="114300" indent="0">
              <a:buNone/>
            </a:pPr>
            <a:r>
              <a:rPr lang="en-US" b="1" dirty="0">
                <a:latin typeface="Times New Roman" panose="02020603050405020304" pitchFamily="18" charset="0"/>
                <a:cs typeface="Times New Roman" panose="02020603050405020304" pitchFamily="18" charset="0"/>
              </a:rPr>
              <a:t>7. Integrative Force</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brings together </a:t>
            </a:r>
            <a:r>
              <a:rPr lang="en-US" b="1" dirty="0">
                <a:latin typeface="Times New Roman" panose="02020603050405020304" pitchFamily="18" charset="0"/>
                <a:cs typeface="Times New Roman" panose="02020603050405020304" pitchFamily="18" charset="0"/>
              </a:rPr>
              <a:t>human, financial, and material resources</a:t>
            </a:r>
            <a:r>
              <a:rPr lang="en-US" dirty="0">
                <a:latin typeface="Times New Roman" panose="02020603050405020304" pitchFamily="18" charset="0"/>
                <a:cs typeface="Times New Roman" panose="02020603050405020304" pitchFamily="18" charset="0"/>
              </a:rPr>
              <a:t> to work harmoniously toward common objectives.</a:t>
            </a:r>
          </a:p>
          <a:p>
            <a:pPr marL="114300" indent="0">
              <a:buNone/>
            </a:pPr>
            <a:r>
              <a:rPr lang="en-US" b="1" dirty="0">
                <a:latin typeface="Times New Roman" panose="02020603050405020304" pitchFamily="18" charset="0"/>
                <a:cs typeface="Times New Roman" panose="02020603050405020304" pitchFamily="18" charset="0"/>
              </a:rPr>
              <a:t>8. Multi-Disciplinary</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Management draws knowledge from various fields such as </a:t>
            </a:r>
            <a:r>
              <a:rPr lang="en-US" b="1" dirty="0">
                <a:latin typeface="Times New Roman" panose="02020603050405020304" pitchFamily="18" charset="0"/>
                <a:cs typeface="Times New Roman" panose="02020603050405020304" pitchFamily="18" charset="0"/>
              </a:rPr>
              <a:t>economics, psychology, sociology, and mathematics</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81617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114300" indent="0">
              <a:buNone/>
            </a:pPr>
            <a:r>
              <a:rPr lang="en-US" b="1" dirty="0">
                <a:latin typeface="Times New Roman" panose="02020603050405020304" pitchFamily="18" charset="0"/>
                <a:cs typeface="Times New Roman" panose="02020603050405020304" pitchFamily="18" charset="0"/>
              </a:rPr>
              <a:t>9. Decision-Making Function</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Managers are responsible for making </a:t>
            </a:r>
            <a:r>
              <a:rPr lang="en-US" b="1" dirty="0">
                <a:latin typeface="Times New Roman" panose="02020603050405020304" pitchFamily="18" charset="0"/>
                <a:cs typeface="Times New Roman" panose="02020603050405020304" pitchFamily="18" charset="0"/>
              </a:rPr>
              <a:t>important decisions</a:t>
            </a:r>
            <a:r>
              <a:rPr lang="en-US" dirty="0">
                <a:latin typeface="Times New Roman" panose="02020603050405020304" pitchFamily="18" charset="0"/>
                <a:cs typeface="Times New Roman" panose="02020603050405020304" pitchFamily="18" charset="0"/>
              </a:rPr>
              <a:t> that guide the organization’s direction and performance.</a:t>
            </a:r>
          </a:p>
          <a:p>
            <a:pPr marL="114300" indent="0">
              <a:buNone/>
            </a:pPr>
            <a:r>
              <a:rPr lang="en-US" b="1" dirty="0">
                <a:latin typeface="Times New Roman" panose="02020603050405020304" pitchFamily="18" charset="0"/>
                <a:cs typeface="Times New Roman" panose="02020603050405020304" pitchFamily="18" charset="0"/>
              </a:rPr>
              <a:t>10. Both an Art and a Science</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is a </a:t>
            </a:r>
            <a:r>
              <a:rPr lang="en-US" b="1" dirty="0">
                <a:latin typeface="Times New Roman" panose="02020603050405020304" pitchFamily="18" charset="0"/>
                <a:cs typeface="Times New Roman" panose="02020603050405020304" pitchFamily="18" charset="0"/>
              </a:rPr>
              <a:t>science</a:t>
            </a:r>
            <a:r>
              <a:rPr lang="en-US" dirty="0">
                <a:latin typeface="Times New Roman" panose="02020603050405020304" pitchFamily="18" charset="0"/>
                <a:cs typeface="Times New Roman" panose="02020603050405020304" pitchFamily="18" charset="0"/>
              </a:rPr>
              <a:t> because it has principles and theories, and an </a:t>
            </a:r>
            <a:r>
              <a:rPr lang="en-US" b="1" dirty="0">
                <a:latin typeface="Times New Roman" panose="02020603050405020304" pitchFamily="18" charset="0"/>
                <a:cs typeface="Times New Roman" panose="02020603050405020304" pitchFamily="18" charset="0"/>
              </a:rPr>
              <a:t>art</a:t>
            </a:r>
            <a:r>
              <a:rPr lang="en-US" dirty="0">
                <a:latin typeface="Times New Roman" panose="02020603050405020304" pitchFamily="18" charset="0"/>
                <a:cs typeface="Times New Roman" panose="02020603050405020304" pitchFamily="18" charset="0"/>
              </a:rPr>
              <a:t> because it requires personal skills and judgment to apply them.</a:t>
            </a: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18548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Principles of Management</a:t>
            </a:r>
            <a:endParaRPr lang="en-US" b="1"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628650" indent="-514350">
              <a:buFont typeface="+mj-lt"/>
              <a:buAutoNum type="arabicPeriod"/>
            </a:pPr>
            <a:r>
              <a:rPr lang="en-US" dirty="0">
                <a:latin typeface="Times New Roman" panose="02020603050405020304" pitchFamily="18" charset="0"/>
                <a:cs typeface="Times New Roman" panose="02020603050405020304" pitchFamily="18" charset="0"/>
              </a:rPr>
              <a:t>Ethics and Social </a:t>
            </a:r>
            <a:r>
              <a:rPr lang="en-US" dirty="0" smtClean="0">
                <a:latin typeface="Times New Roman" panose="02020603050405020304" pitchFamily="18" charset="0"/>
                <a:cs typeface="Times New Roman" panose="02020603050405020304" pitchFamily="18" charset="0"/>
              </a:rPr>
              <a:t>Responsibility Adaptability </a:t>
            </a:r>
            <a:r>
              <a:rPr lang="en-US" dirty="0">
                <a:latin typeface="Times New Roman" panose="02020603050405020304" pitchFamily="18" charset="0"/>
                <a:cs typeface="Times New Roman" panose="02020603050405020304" pitchFamily="18" charset="0"/>
              </a:rPr>
              <a:t>and Change </a:t>
            </a:r>
            <a:r>
              <a:rPr lang="en-US" dirty="0" smtClean="0">
                <a:latin typeface="Times New Roman" panose="02020603050405020304" pitchFamily="18" charset="0"/>
                <a:cs typeface="Times New Roman" panose="02020603050405020304" pitchFamily="18" charset="0"/>
              </a:rPr>
              <a:t>Management</a:t>
            </a:r>
          </a:p>
          <a:p>
            <a:pPr marL="628650" indent="-514350">
              <a:buFont typeface="+mj-lt"/>
              <a:buAutoNum type="arabicPeriod"/>
            </a:pPr>
            <a:r>
              <a:rPr lang="en-US" dirty="0" smtClean="0">
                <a:latin typeface="Times New Roman" panose="02020603050405020304" pitchFamily="18" charset="0"/>
                <a:cs typeface="Times New Roman" panose="02020603050405020304" pitchFamily="18" charset="0"/>
              </a:rPr>
              <a:t>Employee Empowerment</a:t>
            </a:r>
            <a:endParaRPr lang="en-US" dirty="0">
              <a:latin typeface="Times New Roman" panose="02020603050405020304" pitchFamily="18" charset="0"/>
              <a:cs typeface="Times New Roman" panose="02020603050405020304" pitchFamily="18" charset="0"/>
            </a:endParaRPr>
          </a:p>
          <a:p>
            <a:pPr marL="628650" indent="-514350">
              <a:buFont typeface="+mj-lt"/>
              <a:buAutoNum type="arabicPeriod"/>
            </a:pPr>
            <a:r>
              <a:rPr lang="en-US" dirty="0">
                <a:latin typeface="Times New Roman" panose="02020603050405020304" pitchFamily="18" charset="0"/>
                <a:cs typeface="Times New Roman" panose="02020603050405020304" pitchFamily="18" charset="0"/>
              </a:rPr>
              <a:t>Diversity and </a:t>
            </a:r>
            <a:r>
              <a:rPr lang="en-US" dirty="0" smtClean="0">
                <a:latin typeface="Times New Roman" panose="02020603050405020304" pitchFamily="18" charset="0"/>
                <a:cs typeface="Times New Roman" panose="02020603050405020304" pitchFamily="18" charset="0"/>
              </a:rPr>
              <a:t>Inclusion</a:t>
            </a:r>
            <a:endParaRPr lang="en-US" dirty="0">
              <a:latin typeface="Times New Roman" panose="02020603050405020304" pitchFamily="18" charset="0"/>
              <a:cs typeface="Times New Roman" panose="02020603050405020304" pitchFamily="18" charset="0"/>
            </a:endParaRPr>
          </a:p>
          <a:p>
            <a:pPr marL="628650" indent="-514350">
              <a:buFont typeface="+mj-lt"/>
              <a:buAutoNum type="arabicPeriod"/>
            </a:pPr>
            <a:r>
              <a:rPr lang="en-US" dirty="0" smtClean="0">
                <a:latin typeface="Times New Roman" panose="02020603050405020304" pitchFamily="18" charset="0"/>
                <a:cs typeface="Times New Roman" panose="02020603050405020304" pitchFamily="18" charset="0"/>
              </a:rPr>
              <a:t>Customer-Centricity</a:t>
            </a:r>
            <a:endParaRPr lang="en-US" dirty="0">
              <a:latin typeface="Times New Roman" panose="02020603050405020304" pitchFamily="18" charset="0"/>
              <a:cs typeface="Times New Roman" panose="02020603050405020304" pitchFamily="18" charset="0"/>
            </a:endParaRPr>
          </a:p>
          <a:p>
            <a:pPr marL="628650" indent="-514350">
              <a:buFont typeface="+mj-lt"/>
              <a:buAutoNum type="arabicPeriod"/>
            </a:pPr>
            <a:r>
              <a:rPr lang="en-US" dirty="0">
                <a:latin typeface="Times New Roman" panose="02020603050405020304" pitchFamily="18" charset="0"/>
                <a:cs typeface="Times New Roman" panose="02020603050405020304" pitchFamily="18" charset="0"/>
              </a:rPr>
              <a:t>Continuous </a:t>
            </a:r>
            <a:r>
              <a:rPr lang="en-US" dirty="0" smtClean="0">
                <a:latin typeface="Times New Roman" panose="02020603050405020304" pitchFamily="18" charset="0"/>
                <a:cs typeface="Times New Roman" panose="02020603050405020304" pitchFamily="18" charset="0"/>
              </a:rPr>
              <a:t>Improvement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0055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Pharmaceutical Management </a:t>
            </a:r>
            <a:endParaRPr lang="en-US" b="1"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process of managing all functions related to the pharmaceutical sector — such as production, procurement, storage, distribution, and rational use of medicines — to ensure safe, effective, and affordable healthcare delivery.”</a:t>
            </a:r>
            <a:endParaRPr lang="en-US" b="1"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1" dirty="0" smtClean="0">
                <a:latin typeface="Times New Roman" panose="02020603050405020304" pitchFamily="18" charset="0"/>
                <a:cs typeface="Times New Roman" panose="02020603050405020304" pitchFamily="18" charset="0"/>
              </a:rPr>
              <a:t>Pharmaceutical </a:t>
            </a:r>
            <a:r>
              <a:rPr lang="en-US" b="1" dirty="0">
                <a:latin typeface="Times New Roman" panose="02020603050405020304" pitchFamily="18" charset="0"/>
                <a:cs typeface="Times New Roman" panose="02020603050405020304" pitchFamily="18" charset="0"/>
              </a:rPr>
              <a:t>Management</a:t>
            </a:r>
            <a:r>
              <a:rPr lang="en-US" dirty="0">
                <a:latin typeface="Times New Roman" panose="02020603050405020304" pitchFamily="18" charset="0"/>
                <a:cs typeface="Times New Roman" panose="02020603050405020304" pitchFamily="18" charset="0"/>
              </a:rPr>
              <a:t> is the branch of management that deals with the planning, organizing, directing, and controlling of activities related to the </a:t>
            </a:r>
            <a:r>
              <a:rPr lang="en-US" b="1" dirty="0">
                <a:latin typeface="Times New Roman" panose="02020603050405020304" pitchFamily="18" charset="0"/>
                <a:cs typeface="Times New Roman" panose="02020603050405020304" pitchFamily="18" charset="0"/>
              </a:rPr>
              <a:t>pharmaceutical industry</a:t>
            </a:r>
            <a:r>
              <a:rPr lang="en-US" dirty="0">
                <a:latin typeface="Times New Roman" panose="02020603050405020304" pitchFamily="18" charset="0"/>
                <a:cs typeface="Times New Roman" panose="02020603050405020304" pitchFamily="18" charset="0"/>
              </a:rPr>
              <a:t>, including the production, distribution, marketing, and use of medicines.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combines </a:t>
            </a:r>
            <a:r>
              <a:rPr lang="en-US" b="1" dirty="0">
                <a:latin typeface="Times New Roman" panose="02020603050405020304" pitchFamily="18" charset="0"/>
                <a:cs typeface="Times New Roman" panose="02020603050405020304" pitchFamily="18" charset="0"/>
              </a:rPr>
              <a:t>management principles</a:t>
            </a:r>
            <a:r>
              <a:rPr lang="en-US" dirty="0">
                <a:latin typeface="Times New Roman" panose="02020603050405020304" pitchFamily="18" charset="0"/>
                <a:cs typeface="Times New Roman" panose="02020603050405020304" pitchFamily="18" charset="0"/>
              </a:rPr>
              <a:t> with </a:t>
            </a:r>
            <a:r>
              <a:rPr lang="en-US" b="1" dirty="0">
                <a:latin typeface="Times New Roman" panose="02020603050405020304" pitchFamily="18" charset="0"/>
                <a:cs typeface="Times New Roman" panose="02020603050405020304" pitchFamily="18" charset="0"/>
              </a:rPr>
              <a:t>pharmacy and healthcare knowledge</a:t>
            </a:r>
            <a:r>
              <a:rPr lang="en-US" dirty="0">
                <a:latin typeface="Times New Roman" panose="02020603050405020304" pitchFamily="18" charset="0"/>
                <a:cs typeface="Times New Roman" panose="02020603050405020304" pitchFamily="18" charset="0"/>
              </a:rPr>
              <a:t> to ensure the effective and ethical delivery of pharmaceutical products and services</a:t>
            </a:r>
            <a:r>
              <a:rPr lang="en-US" dirty="0" smtClean="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51159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Pharmaceutical Management</a:t>
            </a:r>
            <a:r>
              <a:rPr lang="en-US" dirty="0">
                <a:latin typeface="Times New Roman" panose="02020603050405020304" pitchFamily="18" charset="0"/>
                <a:cs typeface="Times New Roman" panose="02020603050405020304" pitchFamily="18" charset="0"/>
              </a:rPr>
              <a:t> is a specialized field that applies the general principles of management to the unique, highly regulated, and research-intensive pharmaceutical industry.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sits at the intersection of science, business, and healthcare ethics.</a:t>
            </a:r>
          </a:p>
          <a:p>
            <a:endParaRPr lang="en-US" dirty="0"/>
          </a:p>
        </p:txBody>
      </p:sp>
    </p:spTree>
    <p:extLst>
      <p:ext uri="{BB962C8B-B14F-4D97-AF65-F5344CB8AC3E}">
        <p14:creationId xmlns:p14="http://schemas.microsoft.com/office/powerpoint/2010/main" val="2147419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Features </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Heavy Regulation:</a:t>
            </a:r>
            <a:r>
              <a:rPr lang="en-US" dirty="0">
                <a:latin typeface="Times New Roman" panose="02020603050405020304" pitchFamily="18" charset="0"/>
                <a:cs typeface="Times New Roman" panose="02020603050405020304" pitchFamily="18" charset="0"/>
              </a:rPr>
              <a:t> Governed by agencies like the FDA (US), EMA (Europe), and others globally. Every step, from lab to patient, is monitored.</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High R&amp;D Costs and Risk:</a:t>
            </a:r>
            <a:r>
              <a:rPr lang="en-US" dirty="0">
                <a:latin typeface="Times New Roman" panose="02020603050405020304" pitchFamily="18" charset="0"/>
                <a:cs typeface="Times New Roman" panose="02020603050405020304" pitchFamily="18" charset="0"/>
              </a:rPr>
              <a:t> Bringing a new drug to market can take 10-15 years and cost over $2 billion, with a high probability of failure.</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Long Product Development Cycles:</a:t>
            </a:r>
            <a:r>
              <a:rPr lang="en-US" dirty="0">
                <a:latin typeface="Times New Roman" panose="02020603050405020304" pitchFamily="18" charset="0"/>
                <a:cs typeface="Times New Roman" panose="02020603050405020304" pitchFamily="18" charset="0"/>
              </a:rPr>
              <a:t> The journey from discovery to commercial launch is extremely long and complex</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984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Intellectual Property (IP) Intensity:</a:t>
            </a:r>
            <a:r>
              <a:rPr lang="en-US" dirty="0">
                <a:latin typeface="Times New Roman" panose="02020603050405020304" pitchFamily="18" charset="0"/>
                <a:cs typeface="Times New Roman" panose="02020603050405020304" pitchFamily="18" charset="0"/>
              </a:rPr>
              <a:t> Patents are the lifeblood of the industry, providing a limited period of market exclusivity to recoup R&amp;D investments.</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Ethical Imperative:</a:t>
            </a:r>
            <a:r>
              <a:rPr lang="en-US" dirty="0">
                <a:latin typeface="Times New Roman" panose="02020603050405020304" pitchFamily="18" charset="0"/>
                <a:cs typeface="Times New Roman" panose="02020603050405020304" pitchFamily="18" charset="0"/>
              </a:rPr>
              <a:t> The end product directly impacts human life and health, demanding the highest standards of safety and integrity.</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Complex Stakeholder Landscape:</a:t>
            </a:r>
            <a:r>
              <a:rPr lang="en-US" dirty="0">
                <a:latin typeface="Times New Roman" panose="02020603050405020304" pitchFamily="18" charset="0"/>
                <a:cs typeface="Times New Roman" panose="02020603050405020304" pitchFamily="18" charset="0"/>
              </a:rPr>
              <a:t> Involves patients, physicians, regulators, payers (insurance companies, governments), investors, and advocacy groups</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3431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Objectives </a:t>
            </a:r>
          </a:p>
        </p:txBody>
      </p:sp>
      <p:sp>
        <p:nvSpPr>
          <p:cNvPr id="4" name="Rectangle 1"/>
          <p:cNvSpPr>
            <a:spLocks noGrp="1" noChangeArrowheads="1"/>
          </p:cNvSpPr>
          <p:nvPr>
            <p:ph type="body"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Ensure Quality Medicines:</a:t>
            </a: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r>
            <a:b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Maintain the quality, safety, and efficacy of drugs throughout their lifecycle.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Optimize Resources:</a:t>
            </a: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r>
            <a:b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Use financial, human, and material resources efficiently in pharmaceutical operations.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Regulatory Compliance:</a:t>
            </a: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r>
            <a:b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Adhere to national and international drug laws and standards (e.g., FDA, WHO, GMP).</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Improve Accessibility:</a:t>
            </a: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r>
            <a:b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Make essential medicines available and affordable to all sections of society.</a:t>
            </a:r>
          </a:p>
        </p:txBody>
      </p:sp>
    </p:spTree>
    <p:extLst>
      <p:ext uri="{BB962C8B-B14F-4D97-AF65-F5344CB8AC3E}">
        <p14:creationId xmlns:p14="http://schemas.microsoft.com/office/powerpoint/2010/main" val="16320997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pPr marL="0" lvl="0" indent="0" eaLnBrk="0" fontAlgn="base" hangingPunct="0">
              <a:lnSpc>
                <a:spcPct val="100000"/>
              </a:lnSpc>
              <a:spcBef>
                <a:spcPct val="0"/>
              </a:spcBef>
              <a:spcAft>
                <a:spcPct val="0"/>
              </a:spcAft>
              <a:buClrTx/>
              <a:buSzTx/>
              <a:buNone/>
            </a:pPr>
            <a:r>
              <a:rPr lang="en-US" altLang="en-US" b="1" dirty="0">
                <a:solidFill>
                  <a:schemeClr val="tx1"/>
                </a:solidFill>
                <a:latin typeface="Times New Roman" panose="02020603050405020304" pitchFamily="18" charset="0"/>
                <a:cs typeface="Times New Roman" panose="02020603050405020304" pitchFamily="18" charset="0"/>
              </a:rPr>
              <a:t>Ethical Marketing:</a:t>
            </a:r>
            <a:r>
              <a:rPr lang="en-US" altLang="en-US" dirty="0">
                <a:solidFill>
                  <a:schemeClr val="tx1"/>
                </a:solidFill>
                <a:latin typeface="Times New Roman" panose="02020603050405020304" pitchFamily="18" charset="0"/>
                <a:cs typeface="Times New Roman" panose="02020603050405020304" pitchFamily="18" charset="0"/>
              </a:rPr>
              <a:t/>
            </a:r>
            <a:br>
              <a:rPr lang="en-US" altLang="en-US" dirty="0">
                <a:solidFill>
                  <a:schemeClr val="tx1"/>
                </a:solidFill>
                <a:latin typeface="Times New Roman" panose="02020603050405020304" pitchFamily="18" charset="0"/>
                <a:cs typeface="Times New Roman" panose="02020603050405020304" pitchFamily="18" charset="0"/>
              </a:rPr>
            </a:br>
            <a:r>
              <a:rPr lang="en-US" altLang="en-US" dirty="0">
                <a:solidFill>
                  <a:schemeClr val="tx1"/>
                </a:solidFill>
                <a:latin typeface="Times New Roman" panose="02020603050405020304" pitchFamily="18" charset="0"/>
                <a:cs typeface="Times New Roman" panose="02020603050405020304" pitchFamily="18" charset="0"/>
              </a:rPr>
              <a:t>Promote drugs responsibly and ethically, avoiding misleading claims.</a:t>
            </a:r>
          </a:p>
          <a:p>
            <a:pPr marL="0" lvl="0" indent="0" eaLnBrk="0" fontAlgn="base" hangingPunct="0">
              <a:lnSpc>
                <a:spcPct val="100000"/>
              </a:lnSpc>
              <a:spcBef>
                <a:spcPct val="0"/>
              </a:spcBef>
              <a:spcAft>
                <a:spcPct val="0"/>
              </a:spcAft>
              <a:buClrTx/>
              <a:buSzTx/>
              <a:buNone/>
            </a:pPr>
            <a:r>
              <a:rPr lang="en-US" altLang="en-US" b="1" dirty="0">
                <a:solidFill>
                  <a:schemeClr val="tx1"/>
                </a:solidFill>
                <a:latin typeface="Times New Roman" panose="02020603050405020304" pitchFamily="18" charset="0"/>
                <a:cs typeface="Times New Roman" panose="02020603050405020304" pitchFamily="18" charset="0"/>
              </a:rPr>
              <a:t>Patient Safety and Satisfaction:</a:t>
            </a:r>
            <a:r>
              <a:rPr lang="en-US" altLang="en-US" dirty="0">
                <a:solidFill>
                  <a:schemeClr val="tx1"/>
                </a:solidFill>
                <a:latin typeface="Times New Roman" panose="02020603050405020304" pitchFamily="18" charset="0"/>
                <a:cs typeface="Times New Roman" panose="02020603050405020304" pitchFamily="18" charset="0"/>
              </a:rPr>
              <a:t/>
            </a:r>
            <a:br>
              <a:rPr lang="en-US" altLang="en-US" dirty="0">
                <a:solidFill>
                  <a:schemeClr val="tx1"/>
                </a:solidFill>
                <a:latin typeface="Times New Roman" panose="02020603050405020304" pitchFamily="18" charset="0"/>
                <a:cs typeface="Times New Roman" panose="02020603050405020304" pitchFamily="18" charset="0"/>
              </a:rPr>
            </a:br>
            <a:r>
              <a:rPr lang="en-US" altLang="en-US" dirty="0">
                <a:solidFill>
                  <a:schemeClr val="tx1"/>
                </a:solidFill>
                <a:latin typeface="Times New Roman" panose="02020603050405020304" pitchFamily="18" charset="0"/>
                <a:cs typeface="Times New Roman" panose="02020603050405020304" pitchFamily="18" charset="0"/>
              </a:rPr>
              <a:t>Ensure correct drug use and enhance patient care.</a:t>
            </a:r>
          </a:p>
          <a:p>
            <a:pPr marL="0" lvl="0" indent="0" eaLnBrk="0" fontAlgn="base" hangingPunct="0">
              <a:lnSpc>
                <a:spcPct val="100000"/>
              </a:lnSpc>
              <a:spcBef>
                <a:spcPct val="0"/>
              </a:spcBef>
              <a:spcAft>
                <a:spcPct val="0"/>
              </a:spcAft>
              <a:buClrTx/>
              <a:buSzTx/>
              <a:buNone/>
            </a:pPr>
            <a:r>
              <a:rPr lang="en-US" altLang="en-US" b="1" dirty="0">
                <a:solidFill>
                  <a:schemeClr val="tx1"/>
                </a:solidFill>
                <a:latin typeface="Times New Roman" panose="02020603050405020304" pitchFamily="18" charset="0"/>
                <a:cs typeface="Times New Roman" panose="02020603050405020304" pitchFamily="18" charset="0"/>
              </a:rPr>
              <a:t>Sustainability and Innovation:</a:t>
            </a:r>
            <a:r>
              <a:rPr lang="en-US" altLang="en-US" dirty="0">
                <a:solidFill>
                  <a:schemeClr val="tx1"/>
                </a:solidFill>
                <a:latin typeface="Times New Roman" panose="02020603050405020304" pitchFamily="18" charset="0"/>
                <a:cs typeface="Times New Roman" panose="02020603050405020304" pitchFamily="18" charset="0"/>
              </a:rPr>
              <a:t/>
            </a:r>
            <a:br>
              <a:rPr lang="en-US" altLang="en-US" dirty="0">
                <a:solidFill>
                  <a:schemeClr val="tx1"/>
                </a:solidFill>
                <a:latin typeface="Times New Roman" panose="02020603050405020304" pitchFamily="18" charset="0"/>
                <a:cs typeface="Times New Roman" panose="02020603050405020304" pitchFamily="18" charset="0"/>
              </a:rPr>
            </a:br>
            <a:r>
              <a:rPr lang="en-US" altLang="en-US" dirty="0">
                <a:solidFill>
                  <a:schemeClr val="tx1"/>
                </a:solidFill>
                <a:latin typeface="Times New Roman" panose="02020603050405020304" pitchFamily="18" charset="0"/>
                <a:cs typeface="Times New Roman" panose="02020603050405020304" pitchFamily="18" charset="0"/>
              </a:rPr>
              <a:t>Encourage research, innovation, and environmental responsibility in pharma operations.</a:t>
            </a:r>
          </a:p>
          <a:p>
            <a:endParaRPr lang="en-US" dirty="0"/>
          </a:p>
        </p:txBody>
      </p:sp>
    </p:spTree>
    <p:extLst>
      <p:ext uri="{BB962C8B-B14F-4D97-AF65-F5344CB8AC3E}">
        <p14:creationId xmlns:p14="http://schemas.microsoft.com/office/powerpoint/2010/main" val="38603581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tx1"/>
                </a:solidFill>
                <a:latin typeface="Times New Roman" panose="02020603050405020304" pitchFamily="18" charset="0"/>
                <a:cs typeface="Times New Roman" panose="02020603050405020304" pitchFamily="18" charset="0"/>
              </a:rPr>
              <a:t>Management Vs. Administration</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Management deals with managing people and their work to achieve a common goal.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is a process required at every level of the organization.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aim is to streamline processes, workflow, goals, and objectives</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also helps achieve the maximum result.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Managers supervise the entire management process.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They </a:t>
            </a:r>
            <a:r>
              <a:rPr lang="en-US" dirty="0">
                <a:latin typeface="Times New Roman" panose="02020603050405020304" pitchFamily="18" charset="0"/>
                <a:cs typeface="Times New Roman" panose="02020603050405020304" pitchFamily="18" charset="0"/>
              </a:rPr>
              <a:t>perform duties to manage processes properly, ensuring every process, team, and workflow syncs with changing economic, technological, and socio-political conditions. </a:t>
            </a:r>
          </a:p>
        </p:txBody>
      </p:sp>
    </p:spTree>
    <p:extLst>
      <p:ext uri="{BB962C8B-B14F-4D97-AF65-F5344CB8AC3E}">
        <p14:creationId xmlns:p14="http://schemas.microsoft.com/office/powerpoint/2010/main" val="18546612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Administration is a subset of management, a systematic process of administering management.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involves building plans, procedures, and policies and enforcing rules to achieve goals.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Administration </a:t>
            </a:r>
            <a:r>
              <a:rPr lang="en-US" dirty="0">
                <a:latin typeface="Times New Roman" panose="02020603050405020304" pitchFamily="18" charset="0"/>
                <a:cs typeface="Times New Roman" panose="02020603050405020304" pitchFamily="18" charset="0"/>
              </a:rPr>
              <a:t>sets up a framework for organizations on a fundamental level.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More </a:t>
            </a:r>
            <a:r>
              <a:rPr lang="en-US" dirty="0">
                <a:latin typeface="Times New Roman" panose="02020603050405020304" pitchFamily="18" charset="0"/>
                <a:cs typeface="Times New Roman" panose="02020603050405020304" pitchFamily="18" charset="0"/>
              </a:rPr>
              <a:t>precisely, it involves authorities like bureaucrats.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administration process involves top-level management</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Administrators </a:t>
            </a:r>
            <a:r>
              <a:rPr lang="en-US" dirty="0">
                <a:latin typeface="Times New Roman" panose="02020603050405020304" pitchFamily="18" charset="0"/>
                <a:cs typeface="Times New Roman" panose="02020603050405020304" pitchFamily="18" charset="0"/>
              </a:rPr>
              <a:t>deal with the processes to ensure proper administration.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77298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1190080" y="1825625"/>
          <a:ext cx="9811839" cy="4351338"/>
        </p:xfrm>
        <a:graphic>
          <a:graphicData uri="http://schemas.openxmlformats.org/drawingml/2006/table">
            <a:tbl>
              <a:tblPr/>
              <a:tblGrid>
                <a:gridCol w="3270613">
                  <a:extLst>
                    <a:ext uri="{9D8B030D-6E8A-4147-A177-3AD203B41FA5}">
                      <a16:colId xmlns:a16="http://schemas.microsoft.com/office/drawing/2014/main" val="1578318309"/>
                    </a:ext>
                  </a:extLst>
                </a:gridCol>
                <a:gridCol w="3270613">
                  <a:extLst>
                    <a:ext uri="{9D8B030D-6E8A-4147-A177-3AD203B41FA5}">
                      <a16:colId xmlns:a16="http://schemas.microsoft.com/office/drawing/2014/main" val="4035579623"/>
                    </a:ext>
                  </a:extLst>
                </a:gridCol>
                <a:gridCol w="3270613">
                  <a:extLst>
                    <a:ext uri="{9D8B030D-6E8A-4147-A177-3AD203B41FA5}">
                      <a16:colId xmlns:a16="http://schemas.microsoft.com/office/drawing/2014/main" val="8656911"/>
                    </a:ext>
                  </a:extLst>
                </a:gridCol>
              </a:tblGrid>
              <a:tr h="284401">
                <a:tc>
                  <a:txBody>
                    <a:bodyPr/>
                    <a:lstStyle/>
                    <a:p>
                      <a:r>
                        <a:rPr lang="en-US" sz="1300" b="1"/>
                        <a:t>Basis</a:t>
                      </a:r>
                      <a:endParaRPr lang="en-US" sz="1300"/>
                    </a:p>
                  </a:txBody>
                  <a:tcPr marL="85320" marR="85320" marT="42660" marB="42660" anchor="ctr">
                    <a:lnL>
                      <a:noFill/>
                    </a:lnL>
                    <a:lnR>
                      <a:noFill/>
                    </a:lnR>
                    <a:lnT>
                      <a:noFill/>
                    </a:lnT>
                    <a:lnB>
                      <a:noFill/>
                    </a:lnB>
                  </a:tcPr>
                </a:tc>
                <a:tc>
                  <a:txBody>
                    <a:bodyPr/>
                    <a:lstStyle/>
                    <a:p>
                      <a:r>
                        <a:rPr lang="en-US" sz="1300" b="1"/>
                        <a:t>Management</a:t>
                      </a:r>
                      <a:endParaRPr lang="en-US" sz="1300"/>
                    </a:p>
                  </a:txBody>
                  <a:tcPr marL="85320" marR="85320" marT="42660" marB="42660" anchor="ctr">
                    <a:lnL>
                      <a:noFill/>
                    </a:lnL>
                    <a:lnR>
                      <a:noFill/>
                    </a:lnR>
                    <a:lnT>
                      <a:noFill/>
                    </a:lnT>
                    <a:lnB>
                      <a:noFill/>
                    </a:lnB>
                  </a:tcPr>
                </a:tc>
                <a:tc>
                  <a:txBody>
                    <a:bodyPr/>
                    <a:lstStyle/>
                    <a:p>
                      <a:r>
                        <a:rPr lang="en-US" sz="1300" b="1"/>
                        <a:t>Administration</a:t>
                      </a:r>
                      <a:endParaRPr lang="en-US" sz="1300"/>
                    </a:p>
                  </a:txBody>
                  <a:tcPr marL="85320" marR="85320" marT="42660" marB="42660" anchor="ctr">
                    <a:lnL>
                      <a:noFill/>
                    </a:lnL>
                    <a:lnR>
                      <a:noFill/>
                    </a:lnR>
                    <a:lnT>
                      <a:noFill/>
                    </a:lnT>
                    <a:lnB>
                      <a:noFill/>
                    </a:lnB>
                  </a:tcPr>
                </a:tc>
                <a:extLst>
                  <a:ext uri="{0D108BD9-81ED-4DB2-BD59-A6C34878D82A}">
                    <a16:rowId xmlns:a16="http://schemas.microsoft.com/office/drawing/2014/main" val="439913884"/>
                  </a:ext>
                </a:extLst>
              </a:tr>
              <a:tr h="881644">
                <a:tc>
                  <a:txBody>
                    <a:bodyPr/>
                    <a:lstStyle/>
                    <a:p>
                      <a:r>
                        <a:rPr lang="en-US" sz="1300" b="1"/>
                        <a:t>Meaning</a:t>
                      </a:r>
                      <a:endParaRPr lang="en-US" sz="1300"/>
                    </a:p>
                  </a:txBody>
                  <a:tcPr marL="85320" marR="85320" marT="42660" marB="42660" anchor="ctr">
                    <a:lnL>
                      <a:noFill/>
                    </a:lnL>
                    <a:lnR>
                      <a:noFill/>
                    </a:lnR>
                    <a:lnT>
                      <a:noFill/>
                    </a:lnT>
                    <a:lnB>
                      <a:noFill/>
                    </a:lnB>
                  </a:tcPr>
                </a:tc>
                <a:tc>
                  <a:txBody>
                    <a:bodyPr/>
                    <a:lstStyle/>
                    <a:p>
                      <a:r>
                        <a:rPr lang="en-US" sz="1300"/>
                        <a:t>Management is the process of planning, organizing, leading, and controlling the efforts of people to achieve organizational goals.</a:t>
                      </a:r>
                    </a:p>
                  </a:txBody>
                  <a:tcPr marL="85320" marR="85320" marT="42660" marB="42660" anchor="ctr">
                    <a:lnL>
                      <a:noFill/>
                    </a:lnL>
                    <a:lnR>
                      <a:noFill/>
                    </a:lnR>
                    <a:lnT>
                      <a:noFill/>
                    </a:lnT>
                    <a:lnB>
                      <a:noFill/>
                    </a:lnB>
                  </a:tcPr>
                </a:tc>
                <a:tc>
                  <a:txBody>
                    <a:bodyPr/>
                    <a:lstStyle/>
                    <a:p>
                      <a:r>
                        <a:rPr lang="en-US" sz="1300"/>
                        <a:t>Administration is the process of determining the objectives, policies, and overall direction of an organization.</a:t>
                      </a:r>
                    </a:p>
                  </a:txBody>
                  <a:tcPr marL="85320" marR="85320" marT="42660" marB="42660" anchor="ctr">
                    <a:lnL>
                      <a:noFill/>
                    </a:lnL>
                    <a:lnR>
                      <a:noFill/>
                    </a:lnR>
                    <a:lnT>
                      <a:noFill/>
                    </a:lnT>
                    <a:lnB>
                      <a:noFill/>
                    </a:lnB>
                  </a:tcPr>
                </a:tc>
                <a:extLst>
                  <a:ext uri="{0D108BD9-81ED-4DB2-BD59-A6C34878D82A}">
                    <a16:rowId xmlns:a16="http://schemas.microsoft.com/office/drawing/2014/main" val="4202655415"/>
                  </a:ext>
                </a:extLst>
              </a:tr>
              <a:tr h="483482">
                <a:tc>
                  <a:txBody>
                    <a:bodyPr/>
                    <a:lstStyle/>
                    <a:p>
                      <a:r>
                        <a:rPr lang="en-US" sz="1300" b="1"/>
                        <a:t>Function</a:t>
                      </a:r>
                      <a:endParaRPr lang="en-US" sz="1300"/>
                    </a:p>
                  </a:txBody>
                  <a:tcPr marL="85320" marR="85320" marT="42660" marB="42660" anchor="ctr">
                    <a:lnL>
                      <a:noFill/>
                    </a:lnL>
                    <a:lnR>
                      <a:noFill/>
                    </a:lnR>
                    <a:lnT>
                      <a:noFill/>
                    </a:lnT>
                    <a:lnB>
                      <a:noFill/>
                    </a:lnB>
                  </a:tcPr>
                </a:tc>
                <a:tc>
                  <a:txBody>
                    <a:bodyPr/>
                    <a:lstStyle/>
                    <a:p>
                      <a:r>
                        <a:rPr lang="en-US" sz="1300"/>
                        <a:t>Executes the plans and policies made by the administration.</a:t>
                      </a:r>
                    </a:p>
                  </a:txBody>
                  <a:tcPr marL="85320" marR="85320" marT="42660" marB="42660" anchor="ctr">
                    <a:lnL>
                      <a:noFill/>
                    </a:lnL>
                    <a:lnR>
                      <a:noFill/>
                    </a:lnR>
                    <a:lnT>
                      <a:noFill/>
                    </a:lnT>
                    <a:lnB>
                      <a:noFill/>
                    </a:lnB>
                  </a:tcPr>
                </a:tc>
                <a:tc>
                  <a:txBody>
                    <a:bodyPr/>
                    <a:lstStyle/>
                    <a:p>
                      <a:r>
                        <a:rPr lang="en-US" sz="1300"/>
                        <a:t>Formulates plans, policies, and objectives for the organization.</a:t>
                      </a:r>
                    </a:p>
                  </a:txBody>
                  <a:tcPr marL="85320" marR="85320" marT="42660" marB="42660" anchor="ctr">
                    <a:lnL>
                      <a:noFill/>
                    </a:lnL>
                    <a:lnR>
                      <a:noFill/>
                    </a:lnR>
                    <a:lnT>
                      <a:noFill/>
                    </a:lnT>
                    <a:lnB>
                      <a:noFill/>
                    </a:lnB>
                  </a:tcPr>
                </a:tc>
                <a:extLst>
                  <a:ext uri="{0D108BD9-81ED-4DB2-BD59-A6C34878D82A}">
                    <a16:rowId xmlns:a16="http://schemas.microsoft.com/office/drawing/2014/main" val="298734803"/>
                  </a:ext>
                </a:extLst>
              </a:tr>
              <a:tr h="483482">
                <a:tc>
                  <a:txBody>
                    <a:bodyPr/>
                    <a:lstStyle/>
                    <a:p>
                      <a:r>
                        <a:rPr lang="en-US" sz="1300" b="1"/>
                        <a:t>Level of Authority</a:t>
                      </a:r>
                      <a:endParaRPr lang="en-US" sz="1300"/>
                    </a:p>
                  </a:txBody>
                  <a:tcPr marL="85320" marR="85320" marT="42660" marB="42660" anchor="ctr">
                    <a:lnL>
                      <a:noFill/>
                    </a:lnL>
                    <a:lnR>
                      <a:noFill/>
                    </a:lnR>
                    <a:lnT>
                      <a:noFill/>
                    </a:lnT>
                    <a:lnB>
                      <a:noFill/>
                    </a:lnB>
                  </a:tcPr>
                </a:tc>
                <a:tc>
                  <a:txBody>
                    <a:bodyPr/>
                    <a:lstStyle/>
                    <a:p>
                      <a:r>
                        <a:rPr lang="en-US" sz="1300"/>
                        <a:t>Middle and lower levels of the organization.</a:t>
                      </a:r>
                    </a:p>
                  </a:txBody>
                  <a:tcPr marL="85320" marR="85320" marT="42660" marB="42660" anchor="ctr">
                    <a:lnL>
                      <a:noFill/>
                    </a:lnL>
                    <a:lnR>
                      <a:noFill/>
                    </a:lnR>
                    <a:lnT>
                      <a:noFill/>
                    </a:lnT>
                    <a:lnB>
                      <a:noFill/>
                    </a:lnB>
                  </a:tcPr>
                </a:tc>
                <a:tc>
                  <a:txBody>
                    <a:bodyPr/>
                    <a:lstStyle/>
                    <a:p>
                      <a:r>
                        <a:rPr lang="en-US" sz="1300"/>
                        <a:t>Top level of the organization.</a:t>
                      </a:r>
                    </a:p>
                  </a:txBody>
                  <a:tcPr marL="85320" marR="85320" marT="42660" marB="42660" anchor="ctr">
                    <a:lnL>
                      <a:noFill/>
                    </a:lnL>
                    <a:lnR>
                      <a:noFill/>
                    </a:lnR>
                    <a:lnT>
                      <a:noFill/>
                    </a:lnT>
                    <a:lnB>
                      <a:noFill/>
                    </a:lnB>
                  </a:tcPr>
                </a:tc>
                <a:extLst>
                  <a:ext uri="{0D108BD9-81ED-4DB2-BD59-A6C34878D82A}">
                    <a16:rowId xmlns:a16="http://schemas.microsoft.com/office/drawing/2014/main" val="2929485239"/>
                  </a:ext>
                </a:extLst>
              </a:tr>
              <a:tr h="483482">
                <a:tc>
                  <a:txBody>
                    <a:bodyPr/>
                    <a:lstStyle/>
                    <a:p>
                      <a:r>
                        <a:rPr lang="en-US" sz="1300" b="1"/>
                        <a:t>Main Role</a:t>
                      </a:r>
                      <a:endParaRPr lang="en-US" sz="1300"/>
                    </a:p>
                  </a:txBody>
                  <a:tcPr marL="85320" marR="85320" marT="42660" marB="42660" anchor="ctr">
                    <a:lnL>
                      <a:noFill/>
                    </a:lnL>
                    <a:lnR>
                      <a:noFill/>
                    </a:lnR>
                    <a:lnT>
                      <a:noFill/>
                    </a:lnT>
                    <a:lnB>
                      <a:noFill/>
                    </a:lnB>
                  </a:tcPr>
                </a:tc>
                <a:tc>
                  <a:txBody>
                    <a:bodyPr/>
                    <a:lstStyle/>
                    <a:p>
                      <a:r>
                        <a:rPr lang="en-US" sz="1300"/>
                        <a:t>Concerned with </a:t>
                      </a:r>
                      <a:r>
                        <a:rPr lang="en-US" sz="1300" i="1"/>
                        <a:t>doing</a:t>
                      </a:r>
                      <a:r>
                        <a:rPr lang="en-US" sz="1300"/>
                        <a:t> the work — managing resources and operations.</a:t>
                      </a:r>
                    </a:p>
                  </a:txBody>
                  <a:tcPr marL="85320" marR="85320" marT="42660" marB="42660" anchor="ctr">
                    <a:lnL>
                      <a:noFill/>
                    </a:lnL>
                    <a:lnR>
                      <a:noFill/>
                    </a:lnR>
                    <a:lnT>
                      <a:noFill/>
                    </a:lnT>
                    <a:lnB>
                      <a:noFill/>
                    </a:lnB>
                  </a:tcPr>
                </a:tc>
                <a:tc>
                  <a:txBody>
                    <a:bodyPr/>
                    <a:lstStyle/>
                    <a:p>
                      <a:r>
                        <a:rPr lang="en-US" sz="1300"/>
                        <a:t>Concerned with </a:t>
                      </a:r>
                      <a:r>
                        <a:rPr lang="en-US" sz="1300" i="1"/>
                        <a:t>deciding</a:t>
                      </a:r>
                      <a:r>
                        <a:rPr lang="en-US" sz="1300"/>
                        <a:t> what should be done — setting goals and policies.</a:t>
                      </a:r>
                    </a:p>
                  </a:txBody>
                  <a:tcPr marL="85320" marR="85320" marT="42660" marB="42660" anchor="ctr">
                    <a:lnL>
                      <a:noFill/>
                    </a:lnL>
                    <a:lnR>
                      <a:noFill/>
                    </a:lnR>
                    <a:lnT>
                      <a:noFill/>
                    </a:lnT>
                    <a:lnB>
                      <a:noFill/>
                    </a:lnB>
                  </a:tcPr>
                </a:tc>
                <a:extLst>
                  <a:ext uri="{0D108BD9-81ED-4DB2-BD59-A6C34878D82A}">
                    <a16:rowId xmlns:a16="http://schemas.microsoft.com/office/drawing/2014/main" val="45117886"/>
                  </a:ext>
                </a:extLst>
              </a:tr>
              <a:tr h="284401">
                <a:tc>
                  <a:txBody>
                    <a:bodyPr/>
                    <a:lstStyle/>
                    <a:p>
                      <a:r>
                        <a:rPr lang="en-US" sz="1300" b="1"/>
                        <a:t>Nature of Work</a:t>
                      </a:r>
                      <a:endParaRPr lang="en-US" sz="1300"/>
                    </a:p>
                  </a:txBody>
                  <a:tcPr marL="85320" marR="85320" marT="42660" marB="42660" anchor="ctr">
                    <a:lnL>
                      <a:noFill/>
                    </a:lnL>
                    <a:lnR>
                      <a:noFill/>
                    </a:lnR>
                    <a:lnT>
                      <a:noFill/>
                    </a:lnT>
                    <a:lnB>
                      <a:noFill/>
                    </a:lnB>
                  </a:tcPr>
                </a:tc>
                <a:tc>
                  <a:txBody>
                    <a:bodyPr/>
                    <a:lstStyle/>
                    <a:p>
                      <a:r>
                        <a:rPr lang="en-US" sz="1300"/>
                        <a:t>Executive and operational.</a:t>
                      </a:r>
                    </a:p>
                  </a:txBody>
                  <a:tcPr marL="85320" marR="85320" marT="42660" marB="42660" anchor="ctr">
                    <a:lnL>
                      <a:noFill/>
                    </a:lnL>
                    <a:lnR>
                      <a:noFill/>
                    </a:lnR>
                    <a:lnT>
                      <a:noFill/>
                    </a:lnT>
                    <a:lnB>
                      <a:noFill/>
                    </a:lnB>
                  </a:tcPr>
                </a:tc>
                <a:tc>
                  <a:txBody>
                    <a:bodyPr/>
                    <a:lstStyle/>
                    <a:p>
                      <a:r>
                        <a:rPr lang="en-US" sz="1300"/>
                        <a:t>Decision-making and policy formulation.</a:t>
                      </a:r>
                    </a:p>
                  </a:txBody>
                  <a:tcPr marL="85320" marR="85320" marT="42660" marB="42660" anchor="ctr">
                    <a:lnL>
                      <a:noFill/>
                    </a:lnL>
                    <a:lnR>
                      <a:noFill/>
                    </a:lnR>
                    <a:lnT>
                      <a:noFill/>
                    </a:lnT>
                    <a:lnB>
                      <a:noFill/>
                    </a:lnB>
                  </a:tcPr>
                </a:tc>
                <a:extLst>
                  <a:ext uri="{0D108BD9-81ED-4DB2-BD59-A6C34878D82A}">
                    <a16:rowId xmlns:a16="http://schemas.microsoft.com/office/drawing/2014/main" val="1515076034"/>
                  </a:ext>
                </a:extLst>
              </a:tr>
              <a:tr h="483482">
                <a:tc>
                  <a:txBody>
                    <a:bodyPr/>
                    <a:lstStyle/>
                    <a:p>
                      <a:r>
                        <a:rPr lang="en-US" sz="1300" b="1"/>
                        <a:t>Focus</a:t>
                      </a:r>
                      <a:endParaRPr lang="en-US" sz="1300"/>
                    </a:p>
                  </a:txBody>
                  <a:tcPr marL="85320" marR="85320" marT="42660" marB="42660" anchor="ctr">
                    <a:lnL>
                      <a:noFill/>
                    </a:lnL>
                    <a:lnR>
                      <a:noFill/>
                    </a:lnR>
                    <a:lnT>
                      <a:noFill/>
                    </a:lnT>
                    <a:lnB>
                      <a:noFill/>
                    </a:lnB>
                  </a:tcPr>
                </a:tc>
                <a:tc>
                  <a:txBody>
                    <a:bodyPr/>
                    <a:lstStyle/>
                    <a:p>
                      <a:r>
                        <a:rPr lang="en-US" sz="1300"/>
                        <a:t>Focuses on managing work and people.</a:t>
                      </a:r>
                    </a:p>
                  </a:txBody>
                  <a:tcPr marL="85320" marR="85320" marT="42660" marB="42660" anchor="ctr">
                    <a:lnL>
                      <a:noFill/>
                    </a:lnL>
                    <a:lnR>
                      <a:noFill/>
                    </a:lnR>
                    <a:lnT>
                      <a:noFill/>
                    </a:lnT>
                    <a:lnB>
                      <a:noFill/>
                    </a:lnB>
                  </a:tcPr>
                </a:tc>
                <a:tc>
                  <a:txBody>
                    <a:bodyPr/>
                    <a:lstStyle/>
                    <a:p>
                      <a:r>
                        <a:rPr lang="en-US" sz="1300"/>
                        <a:t>Focuses on setting goals and making rules or policies.</a:t>
                      </a:r>
                    </a:p>
                  </a:txBody>
                  <a:tcPr marL="85320" marR="85320" marT="42660" marB="42660" anchor="ctr">
                    <a:lnL>
                      <a:noFill/>
                    </a:lnL>
                    <a:lnR>
                      <a:noFill/>
                    </a:lnR>
                    <a:lnT>
                      <a:noFill/>
                    </a:lnT>
                    <a:lnB>
                      <a:noFill/>
                    </a:lnB>
                  </a:tcPr>
                </a:tc>
                <a:extLst>
                  <a:ext uri="{0D108BD9-81ED-4DB2-BD59-A6C34878D82A}">
                    <a16:rowId xmlns:a16="http://schemas.microsoft.com/office/drawing/2014/main" val="2155899446"/>
                  </a:ext>
                </a:extLst>
              </a:tr>
              <a:tr h="483482">
                <a:tc>
                  <a:txBody>
                    <a:bodyPr/>
                    <a:lstStyle/>
                    <a:p>
                      <a:r>
                        <a:rPr lang="en-US" sz="1300" b="1"/>
                        <a:t>Example</a:t>
                      </a:r>
                      <a:endParaRPr lang="en-US" sz="1300"/>
                    </a:p>
                  </a:txBody>
                  <a:tcPr marL="85320" marR="85320" marT="42660" marB="42660" anchor="ctr">
                    <a:lnL>
                      <a:noFill/>
                    </a:lnL>
                    <a:lnR>
                      <a:noFill/>
                    </a:lnR>
                    <a:lnT>
                      <a:noFill/>
                    </a:lnT>
                    <a:lnB>
                      <a:noFill/>
                    </a:lnB>
                  </a:tcPr>
                </a:tc>
                <a:tc>
                  <a:txBody>
                    <a:bodyPr/>
                    <a:lstStyle/>
                    <a:p>
                      <a:r>
                        <a:rPr lang="en-US" sz="1300"/>
                        <a:t>A factory manager implementing production targets.</a:t>
                      </a:r>
                    </a:p>
                  </a:txBody>
                  <a:tcPr marL="85320" marR="85320" marT="42660" marB="42660" anchor="ctr">
                    <a:lnL>
                      <a:noFill/>
                    </a:lnL>
                    <a:lnR>
                      <a:noFill/>
                    </a:lnR>
                    <a:lnT>
                      <a:noFill/>
                    </a:lnT>
                    <a:lnB>
                      <a:noFill/>
                    </a:lnB>
                  </a:tcPr>
                </a:tc>
                <a:tc>
                  <a:txBody>
                    <a:bodyPr/>
                    <a:lstStyle/>
                    <a:p>
                      <a:r>
                        <a:rPr lang="en-US" sz="1300"/>
                        <a:t>A board of directors deciding to launch a new product line.</a:t>
                      </a:r>
                    </a:p>
                  </a:txBody>
                  <a:tcPr marL="85320" marR="85320" marT="42660" marB="42660" anchor="ctr">
                    <a:lnL>
                      <a:noFill/>
                    </a:lnL>
                    <a:lnR>
                      <a:noFill/>
                    </a:lnR>
                    <a:lnT>
                      <a:noFill/>
                    </a:lnT>
                    <a:lnB>
                      <a:noFill/>
                    </a:lnB>
                  </a:tcPr>
                </a:tc>
                <a:extLst>
                  <a:ext uri="{0D108BD9-81ED-4DB2-BD59-A6C34878D82A}">
                    <a16:rowId xmlns:a16="http://schemas.microsoft.com/office/drawing/2014/main" val="3575948818"/>
                  </a:ext>
                </a:extLst>
              </a:tr>
              <a:tr h="483482">
                <a:tc>
                  <a:txBody>
                    <a:bodyPr/>
                    <a:lstStyle/>
                    <a:p>
                      <a:r>
                        <a:rPr lang="en-US" sz="1300" b="1"/>
                        <a:t>Scope</a:t>
                      </a:r>
                      <a:endParaRPr lang="en-US" sz="1300"/>
                    </a:p>
                  </a:txBody>
                  <a:tcPr marL="85320" marR="85320" marT="42660" marB="42660" anchor="ctr">
                    <a:lnL>
                      <a:noFill/>
                    </a:lnL>
                    <a:lnR>
                      <a:noFill/>
                    </a:lnR>
                    <a:lnT>
                      <a:noFill/>
                    </a:lnT>
                    <a:lnB>
                      <a:noFill/>
                    </a:lnB>
                  </a:tcPr>
                </a:tc>
                <a:tc>
                  <a:txBody>
                    <a:bodyPr/>
                    <a:lstStyle/>
                    <a:p>
                      <a:r>
                        <a:rPr lang="en-US" sz="1300"/>
                        <a:t>Narrower — part of administration.</a:t>
                      </a:r>
                    </a:p>
                  </a:txBody>
                  <a:tcPr marL="85320" marR="85320" marT="42660" marB="42660" anchor="ctr">
                    <a:lnL>
                      <a:noFill/>
                    </a:lnL>
                    <a:lnR>
                      <a:noFill/>
                    </a:lnR>
                    <a:lnT>
                      <a:noFill/>
                    </a:lnT>
                    <a:lnB>
                      <a:noFill/>
                    </a:lnB>
                  </a:tcPr>
                </a:tc>
                <a:tc>
                  <a:txBody>
                    <a:bodyPr/>
                    <a:lstStyle/>
                    <a:p>
                      <a:r>
                        <a:rPr lang="en-US" sz="1300" dirty="0"/>
                        <a:t>Broader — includes management as one of its parts.</a:t>
                      </a:r>
                    </a:p>
                  </a:txBody>
                  <a:tcPr marL="85320" marR="85320" marT="42660" marB="42660" anchor="ctr">
                    <a:lnL>
                      <a:noFill/>
                    </a:lnL>
                    <a:lnR>
                      <a:noFill/>
                    </a:lnR>
                    <a:lnT>
                      <a:noFill/>
                    </a:lnT>
                    <a:lnB>
                      <a:noFill/>
                    </a:lnB>
                  </a:tcPr>
                </a:tc>
                <a:extLst>
                  <a:ext uri="{0D108BD9-81ED-4DB2-BD59-A6C34878D82A}">
                    <a16:rowId xmlns:a16="http://schemas.microsoft.com/office/drawing/2014/main" val="926231779"/>
                  </a:ext>
                </a:extLst>
              </a:tr>
            </a:tbl>
          </a:graphicData>
        </a:graphic>
      </p:graphicFrame>
    </p:spTree>
    <p:extLst>
      <p:ext uri="{BB962C8B-B14F-4D97-AF65-F5344CB8AC3E}">
        <p14:creationId xmlns:p14="http://schemas.microsoft.com/office/powerpoint/2010/main" val="32300095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524000" y="1122362"/>
            <a:ext cx="9144000" cy="23876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dk1"/>
              </a:buClr>
              <a:buSzPts val="6000"/>
              <a:buFont typeface="Times New Roman"/>
              <a:buNone/>
            </a:pPr>
            <a:r>
              <a:rPr lang="en-US" sz="6000" b="1" i="0" u="none">
                <a:solidFill>
                  <a:schemeClr val="dk1"/>
                </a:solidFill>
                <a:latin typeface="Times New Roman"/>
                <a:ea typeface="Times New Roman"/>
                <a:cs typeface="Times New Roman"/>
                <a:sym typeface="Times New Roman"/>
              </a:rPr>
              <a:t>Functions of Management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2"/>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Times New Roman"/>
              <a:buNone/>
            </a:pPr>
            <a:r>
              <a:rPr lang="en-US" sz="4400" b="1" i="0" u="none">
                <a:solidFill>
                  <a:schemeClr val="dk1"/>
                </a:solidFill>
                <a:latin typeface="Times New Roman"/>
                <a:ea typeface="Times New Roman"/>
                <a:cs typeface="Times New Roman"/>
                <a:sym typeface="Times New Roman"/>
              </a:rPr>
              <a:t>Planning</a:t>
            </a:r>
            <a:endParaRPr/>
          </a:p>
        </p:txBody>
      </p:sp>
      <p:sp>
        <p:nvSpPr>
          <p:cNvPr id="90" name="Google Shape;90;p2"/>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rmAutofit/>
          </a:bodyPr>
          <a:lstStyle/>
          <a:p>
            <a:pPr marL="457200" marR="0" lvl="0" indent="-457200" algn="l" rtl="0">
              <a:lnSpc>
                <a:spcPct val="90000"/>
              </a:lnSpc>
              <a:spcBef>
                <a:spcPts val="0"/>
              </a:spcBef>
              <a:spcAft>
                <a:spcPts val="0"/>
              </a:spcAft>
              <a:buClr>
                <a:schemeClr val="dk1"/>
              </a:buClr>
              <a:buSzPts val="2800"/>
              <a:buFont typeface="Noto Sans Symbols"/>
              <a:buChar char="⮚"/>
            </a:pPr>
            <a:r>
              <a:rPr lang="en-US" sz="2800" b="1" i="1" u="none" strike="noStrike" cap="none">
                <a:solidFill>
                  <a:schemeClr val="dk1"/>
                </a:solidFill>
                <a:latin typeface="Times New Roman"/>
                <a:ea typeface="Times New Roman"/>
                <a:cs typeface="Times New Roman"/>
                <a:sym typeface="Times New Roman"/>
              </a:rPr>
              <a:t>Planning is the process by which managers define goals and take necessary steps to ensure that these goals are achieved.</a:t>
            </a:r>
            <a:endParaRPr/>
          </a:p>
          <a:p>
            <a:pPr marL="457200" marR="0" lvl="0" indent="-457200" algn="l" rtl="0">
              <a:lnSpc>
                <a:spcPct val="90000"/>
              </a:lnSpc>
              <a:spcBef>
                <a:spcPts val="1000"/>
              </a:spcBef>
              <a:spcAft>
                <a:spcPts val="0"/>
              </a:spcAft>
              <a:buClr>
                <a:schemeClr val="dk1"/>
              </a:buClr>
              <a:buSzPts val="2800"/>
              <a:buFont typeface="Noto Sans Symbols"/>
              <a:buChar char="⮚"/>
            </a:pPr>
            <a:r>
              <a:rPr lang="en-US" sz="2800" b="0" i="0" u="none" strike="noStrike" cap="none">
                <a:solidFill>
                  <a:schemeClr val="dk1"/>
                </a:solidFill>
                <a:latin typeface="Times New Roman"/>
                <a:ea typeface="Times New Roman"/>
                <a:cs typeface="Times New Roman"/>
                <a:sym typeface="Times New Roman"/>
              </a:rPr>
              <a:t>It is the process of determining mission, goals and objectives necessary to achieve therm.</a:t>
            </a:r>
            <a:endParaRPr/>
          </a:p>
          <a:p>
            <a:pPr marL="457200" marR="0" lvl="0" indent="-457200" algn="l" rtl="0">
              <a:lnSpc>
                <a:spcPct val="90000"/>
              </a:lnSpc>
              <a:spcBef>
                <a:spcPts val="1000"/>
              </a:spcBef>
              <a:spcAft>
                <a:spcPts val="0"/>
              </a:spcAft>
              <a:buClr>
                <a:schemeClr val="dk1"/>
              </a:buClr>
              <a:buSzPts val="2800"/>
              <a:buFont typeface="Noto Sans Symbols"/>
              <a:buChar char="⮚"/>
            </a:pPr>
            <a:r>
              <a:rPr lang="en-US" sz="2800" b="0" i="0" u="none" strike="noStrike" cap="none">
                <a:solidFill>
                  <a:schemeClr val="dk1"/>
                </a:solidFill>
                <a:latin typeface="Times New Roman"/>
                <a:ea typeface="Times New Roman"/>
                <a:cs typeface="Times New Roman"/>
                <a:sym typeface="Times New Roman"/>
              </a:rPr>
              <a:t>The basic purpose of planning is to make best possible use of organizational resources to attain the goals.</a:t>
            </a:r>
            <a:endParaRPr/>
          </a:p>
          <a:p>
            <a:pPr marL="457200" marR="0" lvl="0" indent="-457200" algn="l" rtl="0">
              <a:lnSpc>
                <a:spcPct val="90000"/>
              </a:lnSpc>
              <a:spcBef>
                <a:spcPts val="1000"/>
              </a:spcBef>
              <a:spcAft>
                <a:spcPts val="0"/>
              </a:spcAft>
              <a:buClr>
                <a:schemeClr val="dk1"/>
              </a:buClr>
              <a:buSzPts val="2800"/>
              <a:buFont typeface="Noto Sans Symbols"/>
              <a:buChar char="⮚"/>
            </a:pPr>
            <a:r>
              <a:rPr lang="en-US" sz="2800" b="0" i="0" u="none" strike="noStrike" cap="none">
                <a:solidFill>
                  <a:schemeClr val="dk1"/>
                </a:solidFill>
                <a:latin typeface="Times New Roman"/>
                <a:ea typeface="Times New Roman"/>
                <a:cs typeface="Times New Roman"/>
                <a:sym typeface="Times New Roman"/>
              </a:rPr>
              <a:t>Strategic planning deals with the environment.</a:t>
            </a:r>
            <a:endParaRPr/>
          </a:p>
          <a:p>
            <a:pPr marL="457200" marR="0" lvl="0" indent="-457200" algn="l" rtl="0">
              <a:lnSpc>
                <a:spcPct val="90000"/>
              </a:lnSpc>
              <a:spcBef>
                <a:spcPts val="1000"/>
              </a:spcBef>
              <a:spcAft>
                <a:spcPts val="0"/>
              </a:spcAft>
              <a:buClr>
                <a:schemeClr val="dk1"/>
              </a:buClr>
              <a:buSzPts val="2800"/>
              <a:buFont typeface="Noto Sans Symbols"/>
              <a:buChar char="⮚"/>
            </a:pPr>
            <a:r>
              <a:rPr lang="en-US" sz="2800" b="0" i="0" u="none" strike="noStrike" cap="none">
                <a:solidFill>
                  <a:schemeClr val="dk1"/>
                </a:solidFill>
                <a:latin typeface="Times New Roman"/>
                <a:ea typeface="Times New Roman"/>
                <a:cs typeface="Times New Roman"/>
                <a:sym typeface="Times New Roman"/>
              </a:rPr>
              <a:t>Short term planning are called tactical plan.</a:t>
            </a:r>
            <a:endParaRPr/>
          </a:p>
          <a:p>
            <a:pPr marL="228600" marR="0" lvl="0" indent="-50800" algn="l" rtl="0">
              <a:lnSpc>
                <a:spcPct val="90000"/>
              </a:lnSpc>
              <a:spcBef>
                <a:spcPts val="1000"/>
              </a:spcBef>
              <a:spcAft>
                <a:spcPts val="0"/>
              </a:spcAft>
              <a:buClr>
                <a:schemeClr val="dk1"/>
              </a:buClr>
              <a:buSzPts val="2800"/>
              <a:buFont typeface="Arial"/>
              <a:buNone/>
            </a:pPr>
            <a:endParaRPr sz="28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Times New Roman"/>
              <a:buNone/>
            </a:pPr>
            <a:r>
              <a:rPr lang="en-US" sz="4400" b="1" i="0" u="none">
                <a:solidFill>
                  <a:schemeClr val="dk1"/>
                </a:solidFill>
                <a:latin typeface="Times New Roman"/>
                <a:ea typeface="Times New Roman"/>
                <a:cs typeface="Times New Roman"/>
                <a:sym typeface="Times New Roman"/>
              </a:rPr>
              <a:t>Organizing</a:t>
            </a:r>
            <a:endParaRPr/>
          </a:p>
        </p:txBody>
      </p:sp>
      <p:sp>
        <p:nvSpPr>
          <p:cNvPr id="96" name="Google Shape;96;p3"/>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p>
            <a:pPr marL="457200" marR="0" lvl="0" indent="-457200" algn="l" rtl="0">
              <a:lnSpc>
                <a:spcPct val="90000"/>
              </a:lnSpc>
              <a:spcBef>
                <a:spcPts val="0"/>
              </a:spcBef>
              <a:spcAft>
                <a:spcPts val="0"/>
              </a:spcAft>
              <a:buClr>
                <a:schemeClr val="dk1"/>
              </a:buClr>
              <a:buSzPts val="2800"/>
              <a:buFont typeface="Noto Sans Symbols"/>
              <a:buChar char="⮚"/>
            </a:pPr>
            <a:r>
              <a:rPr lang="en-US" sz="2800" b="1" i="1" u="none">
                <a:solidFill>
                  <a:schemeClr val="dk1"/>
                </a:solidFill>
                <a:latin typeface="Times New Roman"/>
                <a:ea typeface="Times New Roman"/>
                <a:cs typeface="Times New Roman"/>
                <a:sym typeface="Times New Roman"/>
              </a:rPr>
              <a:t>Organizing involves the assignment of functions and tasks to groups and to individual employees.</a:t>
            </a:r>
            <a:endParaRPr/>
          </a:p>
          <a:p>
            <a:pPr marL="457200" marR="0" lvl="0" indent="-457200" algn="l" rtl="0">
              <a:lnSpc>
                <a:spcPct val="90000"/>
              </a:lnSpc>
              <a:spcBef>
                <a:spcPts val="1000"/>
              </a:spcBef>
              <a:spcAft>
                <a:spcPts val="0"/>
              </a:spcAft>
              <a:buClr>
                <a:schemeClr val="dk1"/>
              </a:buClr>
              <a:buSzPts val="2800"/>
              <a:buFont typeface="Noto Sans Symbols"/>
              <a:buChar char="⮚"/>
            </a:pPr>
            <a:r>
              <a:rPr lang="en-US" sz="2800" b="0" i="0" u="none">
                <a:solidFill>
                  <a:schemeClr val="dk1"/>
                </a:solidFill>
                <a:latin typeface="Times New Roman"/>
                <a:ea typeface="Times New Roman"/>
                <a:cs typeface="Times New Roman"/>
                <a:sym typeface="Times New Roman"/>
              </a:rPr>
              <a:t>Organizing involves the allocation of roles, tasks, and functions to individuals and departments of an organization.</a:t>
            </a:r>
            <a:endParaRPr/>
          </a:p>
          <a:p>
            <a:pPr marL="457200" marR="0" lvl="0" indent="-457200" algn="l" rtl="0">
              <a:lnSpc>
                <a:spcPct val="90000"/>
              </a:lnSpc>
              <a:spcBef>
                <a:spcPts val="1000"/>
              </a:spcBef>
              <a:spcAft>
                <a:spcPts val="0"/>
              </a:spcAft>
              <a:buClr>
                <a:schemeClr val="dk1"/>
              </a:buClr>
              <a:buSzPts val="2800"/>
              <a:buFont typeface="Noto Sans Symbols"/>
              <a:buChar char="⮚"/>
            </a:pPr>
            <a:r>
              <a:rPr lang="en-US" sz="2800" b="0" i="0" u="none">
                <a:solidFill>
                  <a:schemeClr val="dk1"/>
                </a:solidFill>
                <a:latin typeface="Times New Roman"/>
                <a:ea typeface="Times New Roman"/>
                <a:cs typeface="Times New Roman"/>
                <a:sym typeface="Times New Roman"/>
              </a:rPr>
              <a:t>Organization structure, staffing, division of work, assignment of responsibility, work rules, commitment, and coordination are integral parts of organizing functions.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4"/>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Times New Roman"/>
              <a:buNone/>
            </a:pPr>
            <a:r>
              <a:rPr lang="en-US" sz="4400" b="1" i="0" u="none">
                <a:solidFill>
                  <a:schemeClr val="dk1"/>
                </a:solidFill>
                <a:latin typeface="Times New Roman"/>
                <a:ea typeface="Times New Roman"/>
                <a:cs typeface="Times New Roman"/>
                <a:sym typeface="Times New Roman"/>
              </a:rPr>
              <a:t>Leading </a:t>
            </a:r>
            <a:endParaRPr/>
          </a:p>
        </p:txBody>
      </p:sp>
      <p:sp>
        <p:nvSpPr>
          <p:cNvPr id="102" name="Google Shape;102;p4"/>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p>
            <a:pPr marL="457200" marR="0" lvl="0" indent="-457200" algn="l" rtl="0">
              <a:lnSpc>
                <a:spcPct val="90000"/>
              </a:lnSpc>
              <a:spcBef>
                <a:spcPts val="0"/>
              </a:spcBef>
              <a:spcAft>
                <a:spcPts val="0"/>
              </a:spcAft>
              <a:buClr>
                <a:schemeClr val="dk1"/>
              </a:buClr>
              <a:buSzPts val="2800"/>
              <a:buFont typeface="Noto Sans Symbols"/>
              <a:buChar char="⮚"/>
            </a:pPr>
            <a:r>
              <a:rPr lang="en-US" sz="2800" b="1" i="1" u="none">
                <a:solidFill>
                  <a:schemeClr val="dk1"/>
                </a:solidFill>
                <a:latin typeface="Times New Roman"/>
                <a:ea typeface="Times New Roman"/>
                <a:cs typeface="Times New Roman"/>
                <a:sym typeface="Times New Roman"/>
              </a:rPr>
              <a:t>Leadership is the process of directing and influencing the task related activities of group members.</a:t>
            </a:r>
            <a:endParaRPr/>
          </a:p>
          <a:p>
            <a:pPr marL="457200" marR="0" lvl="0" indent="-457200" algn="l" rtl="0">
              <a:lnSpc>
                <a:spcPct val="90000"/>
              </a:lnSpc>
              <a:spcBef>
                <a:spcPts val="1000"/>
              </a:spcBef>
              <a:spcAft>
                <a:spcPts val="0"/>
              </a:spcAft>
              <a:buClr>
                <a:schemeClr val="dk1"/>
              </a:buClr>
              <a:buSzPts val="2800"/>
              <a:buFont typeface="Noto Sans Symbols"/>
              <a:buChar char="⮚"/>
            </a:pPr>
            <a:r>
              <a:rPr lang="en-US" sz="2800" b="0" i="0" u="none">
                <a:solidFill>
                  <a:schemeClr val="dk1"/>
                </a:solidFill>
                <a:latin typeface="Times New Roman"/>
                <a:ea typeface="Times New Roman"/>
                <a:cs typeface="Times New Roman"/>
                <a:sym typeface="Times New Roman"/>
              </a:rPr>
              <a:t>Leading function involves several activities such as order giving, supervising, directing, conflict resolving, motivating and communicating.</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5"/>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Times New Roman"/>
              <a:buNone/>
            </a:pPr>
            <a:r>
              <a:rPr lang="en-US" sz="4400" b="1" i="0" u="none">
                <a:solidFill>
                  <a:schemeClr val="dk1"/>
                </a:solidFill>
                <a:latin typeface="Times New Roman"/>
                <a:ea typeface="Times New Roman"/>
                <a:cs typeface="Times New Roman"/>
                <a:sym typeface="Times New Roman"/>
              </a:rPr>
              <a:t>Controlling </a:t>
            </a:r>
            <a:endParaRPr/>
          </a:p>
        </p:txBody>
      </p:sp>
      <p:sp>
        <p:nvSpPr>
          <p:cNvPr id="108" name="Google Shape;108;p5"/>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p>
            <a:pPr marL="457200" marR="0" lvl="0" indent="-457200" algn="l" rtl="0">
              <a:lnSpc>
                <a:spcPct val="90000"/>
              </a:lnSpc>
              <a:spcBef>
                <a:spcPts val="0"/>
              </a:spcBef>
              <a:spcAft>
                <a:spcPts val="0"/>
              </a:spcAft>
              <a:buClr>
                <a:schemeClr val="dk1"/>
              </a:buClr>
              <a:buSzPts val="2800"/>
              <a:buFont typeface="Noto Sans Symbols"/>
              <a:buChar char="⮚"/>
            </a:pPr>
            <a:r>
              <a:rPr lang="en-US" sz="2800" b="0" i="0" u="none">
                <a:solidFill>
                  <a:schemeClr val="dk1"/>
                </a:solidFill>
                <a:latin typeface="Times New Roman"/>
                <a:ea typeface="Times New Roman"/>
                <a:cs typeface="Times New Roman"/>
                <a:sym typeface="Times New Roman"/>
              </a:rPr>
              <a:t>Control is a systematic effort to set performance standards with planning objectives to design information feedback, to compare actual performance with these predetermined standards, to determine whether there are any variations and to measure their significance, and to take necessary corrective actions to achieve corporate objectives.</a:t>
            </a:r>
            <a:endParaRPr/>
          </a:p>
          <a:p>
            <a:pPr marL="457200" marR="0" lvl="0" indent="-457200" algn="l" rtl="0">
              <a:lnSpc>
                <a:spcPct val="90000"/>
              </a:lnSpc>
              <a:spcBef>
                <a:spcPts val="1000"/>
              </a:spcBef>
              <a:spcAft>
                <a:spcPts val="0"/>
              </a:spcAft>
              <a:buClr>
                <a:schemeClr val="dk1"/>
              </a:buClr>
              <a:buSzPts val="2800"/>
              <a:buFont typeface="Noto Sans Symbols"/>
              <a:buChar char="⮚"/>
            </a:pPr>
            <a:r>
              <a:rPr lang="en-US" sz="2800" b="0" i="0" u="none">
                <a:solidFill>
                  <a:schemeClr val="dk1"/>
                </a:solidFill>
                <a:latin typeface="Times New Roman"/>
                <a:ea typeface="Times New Roman"/>
                <a:cs typeface="Times New Roman"/>
                <a:sym typeface="Times New Roman"/>
              </a:rPr>
              <a:t>It involves the evaluation of operating results as compared with established standards.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6"/>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Times New Roman"/>
              <a:buNone/>
            </a:pPr>
            <a:r>
              <a:rPr lang="en-US" sz="4400" b="1" i="0" u="none">
                <a:solidFill>
                  <a:schemeClr val="dk1"/>
                </a:solidFill>
                <a:latin typeface="Times New Roman"/>
                <a:ea typeface="Times New Roman"/>
                <a:cs typeface="Times New Roman"/>
                <a:sym typeface="Times New Roman"/>
              </a:rPr>
              <a:t>Process of Management</a:t>
            </a:r>
            <a:endParaRPr/>
          </a:p>
        </p:txBody>
      </p:sp>
      <p:sp>
        <p:nvSpPr>
          <p:cNvPr id="114" name="Google Shape;114;p6"/>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p>
            <a:pPr marL="228600" marR="0" lvl="0" indent="-50800" algn="l" rtl="0">
              <a:lnSpc>
                <a:spcPct val="90000"/>
              </a:lnSpc>
              <a:spcBef>
                <a:spcPts val="0"/>
              </a:spcBef>
              <a:spcAft>
                <a:spcPts val="0"/>
              </a:spcAft>
              <a:buClr>
                <a:schemeClr val="dk1"/>
              </a:buClr>
              <a:buSzPts val="2800"/>
              <a:buFont typeface="Arial"/>
              <a:buNone/>
            </a:pPr>
            <a:endParaRPr sz="2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7"/>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endParaRPr sz="4400">
              <a:solidFill>
                <a:schemeClr val="dk1"/>
              </a:solidFill>
              <a:latin typeface="Calibri"/>
              <a:ea typeface="Calibri"/>
              <a:cs typeface="Calibri"/>
              <a:sym typeface="Calibri"/>
            </a:endParaRPr>
          </a:p>
        </p:txBody>
      </p:sp>
      <p:sp>
        <p:nvSpPr>
          <p:cNvPr id="120" name="Google Shape;120;p7"/>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Clr>
                <a:schemeClr val="dk1"/>
              </a:buClr>
              <a:buSzPts val="2800"/>
              <a:buFont typeface="Arial"/>
              <a:buChar char="•"/>
            </a:pPr>
            <a:r>
              <a:rPr lang="en-US" sz="2800" b="0" i="0" u="none">
                <a:solidFill>
                  <a:schemeClr val="dk1"/>
                </a:solidFill>
                <a:latin typeface="Times New Roman"/>
                <a:ea typeface="Times New Roman"/>
                <a:cs typeface="Times New Roman"/>
                <a:sym typeface="Times New Roman"/>
              </a:rPr>
              <a:t>Management process is a distinct process consisting of planning, organizing, actuating and controlling, performed to determine and accomplish stated objective by the use of human beings and other resources.</a:t>
            </a:r>
            <a:endParaRPr/>
          </a:p>
          <a:p>
            <a:pPr marL="228600" marR="0" lvl="0" indent="-228600" algn="l" rtl="0">
              <a:lnSpc>
                <a:spcPct val="90000"/>
              </a:lnSpc>
              <a:spcBef>
                <a:spcPts val="1000"/>
              </a:spcBef>
              <a:spcAft>
                <a:spcPts val="0"/>
              </a:spcAft>
              <a:buClr>
                <a:schemeClr val="dk1"/>
              </a:buClr>
              <a:buSzPts val="2800"/>
              <a:buFont typeface="Arial"/>
              <a:buChar char="•"/>
            </a:pPr>
            <a:r>
              <a:rPr lang="en-US" sz="2800" b="0" i="0" u="none">
                <a:solidFill>
                  <a:schemeClr val="dk1"/>
                </a:solidFill>
                <a:latin typeface="Times New Roman"/>
                <a:ea typeface="Times New Roman"/>
                <a:cs typeface="Times New Roman"/>
                <a:sym typeface="Times New Roman"/>
              </a:rPr>
              <a:t>Management process is a systematic way of doing managerial activities like planning, organizing, directing, controlling and decision making.</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8"/>
          <p:cNvSpPr txBox="1">
            <a:spLocks noGrp="1"/>
          </p:cNvSpPr>
          <p:nvPr>
            <p:ph type="title"/>
          </p:nvPr>
        </p:nvSpPr>
        <p:spPr>
          <a:xfrm>
            <a:off x="838200" y="365125"/>
            <a:ext cx="10515600" cy="1325562"/>
          </a:xfrm>
          <a:prstGeom prst="rect">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endParaRPr sz="4400">
              <a:solidFill>
                <a:schemeClr val="dk1"/>
              </a:solidFill>
              <a:latin typeface="Calibri"/>
              <a:ea typeface="Calibri"/>
              <a:cs typeface="Calibri"/>
              <a:sym typeface="Calibri"/>
            </a:endParaRPr>
          </a:p>
        </p:txBody>
      </p:sp>
      <p:sp>
        <p:nvSpPr>
          <p:cNvPr id="126" name="Google Shape;126;p8"/>
          <p:cNvSpPr txBox="1">
            <a:spLocks noGrp="1"/>
          </p:cNvSpPr>
          <p:nvPr>
            <p:ph type="body" idx="1"/>
          </p:nvPr>
        </p:nvSpPr>
        <p:spPr>
          <a:xfrm>
            <a:off x="838200" y="1825625"/>
            <a:ext cx="10515600" cy="4351337"/>
          </a:xfrm>
          <a:prstGeom prst="rect">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228600" marR="0" lvl="0" indent="-50800" algn="l" rtl="0">
              <a:lnSpc>
                <a:spcPct val="90000"/>
              </a:lnSpc>
              <a:spcBef>
                <a:spcPts val="0"/>
              </a:spcBef>
              <a:spcAft>
                <a:spcPts val="0"/>
              </a:spcAft>
              <a:buClr>
                <a:schemeClr val="dk1"/>
              </a:buClr>
              <a:buSzPts val="2800"/>
              <a:buFont typeface="Arial"/>
              <a:buNone/>
            </a:pPr>
            <a:endParaRPr sz="2800">
              <a:solidFill>
                <a:schemeClr val="dk1"/>
              </a:solidFill>
              <a:latin typeface="Calibri"/>
              <a:ea typeface="Calibri"/>
              <a:cs typeface="Calibri"/>
              <a:sym typeface="Calibri"/>
            </a:endParaRPr>
          </a:p>
        </p:txBody>
      </p:sp>
      <p:sp>
        <p:nvSpPr>
          <p:cNvPr id="127" name="Google Shape;127;p8"/>
          <p:cNvSpPr txBox="1"/>
          <p:nvPr/>
        </p:nvSpPr>
        <p:spPr>
          <a:xfrm>
            <a:off x="838200" y="365125"/>
            <a:ext cx="10515600" cy="5811837"/>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28" name="Google Shape;128;p8"/>
          <p:cNvSpPr txBox="1"/>
          <p:nvPr/>
        </p:nvSpPr>
        <p:spPr>
          <a:xfrm>
            <a:off x="1223962" y="1093787"/>
            <a:ext cx="1731962" cy="455612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Men</a:t>
            </a:r>
            <a:endParaRPr/>
          </a:p>
          <a:p>
            <a:pPr marL="0" marR="0" lvl="0" indent="0" algn="l"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Money</a:t>
            </a:r>
            <a:endParaRPr/>
          </a:p>
          <a:p>
            <a:pPr marL="0" marR="0" lvl="0" indent="0" algn="l"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Materials</a:t>
            </a:r>
            <a:endParaRPr/>
          </a:p>
          <a:p>
            <a:pPr marL="0" marR="0" lvl="0" indent="0" algn="l"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Machines</a:t>
            </a:r>
            <a:endParaRPr/>
          </a:p>
          <a:p>
            <a:pPr marL="0" marR="0" lvl="0" indent="0" algn="l"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Methods</a:t>
            </a:r>
            <a:endParaRPr/>
          </a:p>
          <a:p>
            <a:pPr marL="0" marR="0" lvl="0" indent="0" algn="l"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Market</a:t>
            </a:r>
            <a:endParaRPr/>
          </a:p>
          <a:p>
            <a:pPr marL="0" marR="0" lvl="0" indent="0" algn="l" rtl="0">
              <a:lnSpc>
                <a:spcPct val="100000"/>
              </a:lnSpc>
              <a:spcBef>
                <a:spcPts val="0"/>
              </a:spcBef>
              <a:spcAft>
                <a:spcPts val="0"/>
              </a:spcAft>
              <a:buNone/>
            </a:pPr>
            <a:endParaRPr sz="1800" b="0" i="0" u="none">
              <a:solidFill>
                <a:schemeClr val="dk1"/>
              </a:solidFill>
              <a:latin typeface="Times New Roman"/>
              <a:ea typeface="Times New Roman"/>
              <a:cs typeface="Times New Roman"/>
              <a:sym typeface="Times New Roman"/>
            </a:endParaRPr>
          </a:p>
        </p:txBody>
      </p:sp>
      <p:sp>
        <p:nvSpPr>
          <p:cNvPr id="129" name="Google Shape;129;p8"/>
          <p:cNvSpPr txBox="1"/>
          <p:nvPr/>
        </p:nvSpPr>
        <p:spPr>
          <a:xfrm>
            <a:off x="9078912" y="963612"/>
            <a:ext cx="1992312" cy="4670425"/>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Objectives</a:t>
            </a:r>
            <a:endParaRPr/>
          </a:p>
        </p:txBody>
      </p:sp>
      <p:sp>
        <p:nvSpPr>
          <p:cNvPr id="130" name="Google Shape;130;p8"/>
          <p:cNvSpPr/>
          <p:nvPr/>
        </p:nvSpPr>
        <p:spPr>
          <a:xfrm>
            <a:off x="3341687" y="2416175"/>
            <a:ext cx="5475287" cy="1600200"/>
          </a:xfrm>
          <a:prstGeom prst="rightArrow">
            <a:avLst>
              <a:gd name="adj1" fmla="val 18444"/>
              <a:gd name="adj2" fmla="val 500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Management Process</a:t>
            </a:r>
            <a:endParaRPr/>
          </a:p>
        </p:txBody>
      </p:sp>
      <p:sp>
        <p:nvSpPr>
          <p:cNvPr id="131" name="Google Shape;131;p8"/>
          <p:cNvSpPr txBox="1"/>
          <p:nvPr/>
        </p:nvSpPr>
        <p:spPr>
          <a:xfrm>
            <a:off x="3375025" y="1093787"/>
            <a:ext cx="1147762" cy="731837"/>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Planning</a:t>
            </a:r>
            <a:endParaRPr/>
          </a:p>
        </p:txBody>
      </p:sp>
      <p:sp>
        <p:nvSpPr>
          <p:cNvPr id="132" name="Google Shape;132;p8"/>
          <p:cNvSpPr txBox="1"/>
          <p:nvPr/>
        </p:nvSpPr>
        <p:spPr>
          <a:xfrm>
            <a:off x="5154612" y="1093787"/>
            <a:ext cx="1147762" cy="731837"/>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Leading </a:t>
            </a:r>
            <a:endParaRPr/>
          </a:p>
        </p:txBody>
      </p:sp>
      <p:sp>
        <p:nvSpPr>
          <p:cNvPr id="133" name="Google Shape;133;p8"/>
          <p:cNvSpPr txBox="1"/>
          <p:nvPr/>
        </p:nvSpPr>
        <p:spPr>
          <a:xfrm>
            <a:off x="7037387" y="1116012"/>
            <a:ext cx="1306512" cy="731837"/>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Controlling</a:t>
            </a:r>
            <a:endParaRPr/>
          </a:p>
        </p:txBody>
      </p:sp>
      <p:sp>
        <p:nvSpPr>
          <p:cNvPr id="134" name="Google Shape;134;p8"/>
          <p:cNvSpPr txBox="1"/>
          <p:nvPr/>
        </p:nvSpPr>
        <p:spPr>
          <a:xfrm>
            <a:off x="3413125" y="4773612"/>
            <a:ext cx="1322387" cy="731837"/>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Organizing</a:t>
            </a:r>
            <a:endParaRPr/>
          </a:p>
        </p:txBody>
      </p:sp>
      <p:sp>
        <p:nvSpPr>
          <p:cNvPr id="135" name="Google Shape;135;p8"/>
          <p:cNvSpPr txBox="1"/>
          <p:nvPr/>
        </p:nvSpPr>
        <p:spPr>
          <a:xfrm>
            <a:off x="5192712" y="4773612"/>
            <a:ext cx="1387475" cy="731837"/>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Motivating</a:t>
            </a:r>
            <a:endParaRPr/>
          </a:p>
        </p:txBody>
      </p:sp>
      <p:sp>
        <p:nvSpPr>
          <p:cNvPr id="136" name="Google Shape;136;p8"/>
          <p:cNvSpPr txBox="1"/>
          <p:nvPr/>
        </p:nvSpPr>
        <p:spPr>
          <a:xfrm>
            <a:off x="7075487" y="4795837"/>
            <a:ext cx="1149350" cy="73025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Staffing</a:t>
            </a:r>
            <a:endParaRPr/>
          </a:p>
        </p:txBody>
      </p:sp>
      <p:sp>
        <p:nvSpPr>
          <p:cNvPr id="137" name="Google Shape;137;p8"/>
          <p:cNvSpPr txBox="1"/>
          <p:nvPr/>
        </p:nvSpPr>
        <p:spPr>
          <a:xfrm>
            <a:off x="9078912" y="963612"/>
            <a:ext cx="1992312" cy="884237"/>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Output</a:t>
            </a:r>
            <a:endParaRPr/>
          </a:p>
        </p:txBody>
      </p:sp>
      <p:sp>
        <p:nvSpPr>
          <p:cNvPr id="138" name="Google Shape;138;p8"/>
          <p:cNvSpPr txBox="1"/>
          <p:nvPr/>
        </p:nvSpPr>
        <p:spPr>
          <a:xfrm>
            <a:off x="9083675" y="4740275"/>
            <a:ext cx="1992312" cy="884237"/>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End Result</a:t>
            </a:r>
            <a:endParaRPr/>
          </a:p>
        </p:txBody>
      </p:sp>
      <p:sp>
        <p:nvSpPr>
          <p:cNvPr id="139" name="Google Shape;139;p8"/>
          <p:cNvSpPr txBox="1"/>
          <p:nvPr/>
        </p:nvSpPr>
        <p:spPr>
          <a:xfrm>
            <a:off x="1223962" y="1093787"/>
            <a:ext cx="1731962" cy="754062"/>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Inputs</a:t>
            </a:r>
            <a:endParaRPr/>
          </a:p>
        </p:txBody>
      </p:sp>
      <p:sp>
        <p:nvSpPr>
          <p:cNvPr id="140" name="Google Shape;140;p8"/>
          <p:cNvSpPr/>
          <p:nvPr/>
        </p:nvSpPr>
        <p:spPr>
          <a:xfrm>
            <a:off x="3673475" y="1847850"/>
            <a:ext cx="474662" cy="830262"/>
          </a:xfrm>
          <a:prstGeom prst="downArrow">
            <a:avLst>
              <a:gd name="adj1" fmla="val 15442"/>
              <a:gd name="adj2" fmla="val 500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41" name="Google Shape;141;p8"/>
          <p:cNvSpPr/>
          <p:nvPr/>
        </p:nvSpPr>
        <p:spPr>
          <a:xfrm>
            <a:off x="5356225" y="1843087"/>
            <a:ext cx="473075" cy="830262"/>
          </a:xfrm>
          <a:prstGeom prst="downArrow">
            <a:avLst>
              <a:gd name="adj1" fmla="val 15442"/>
              <a:gd name="adj2" fmla="val 500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42" name="Google Shape;142;p8"/>
          <p:cNvSpPr/>
          <p:nvPr/>
        </p:nvSpPr>
        <p:spPr>
          <a:xfrm>
            <a:off x="7304087" y="1860550"/>
            <a:ext cx="473075" cy="830262"/>
          </a:xfrm>
          <a:prstGeom prst="downArrow">
            <a:avLst>
              <a:gd name="adj1" fmla="val 15442"/>
              <a:gd name="adj2" fmla="val 500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43" name="Google Shape;143;p8"/>
          <p:cNvSpPr/>
          <p:nvPr/>
        </p:nvSpPr>
        <p:spPr>
          <a:xfrm rot="10800000">
            <a:off x="3646487" y="3925887"/>
            <a:ext cx="473075" cy="831850"/>
          </a:xfrm>
          <a:prstGeom prst="downArrow">
            <a:avLst>
              <a:gd name="adj1" fmla="val 15442"/>
              <a:gd name="adj2" fmla="val 500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44" name="Google Shape;144;p8"/>
          <p:cNvSpPr/>
          <p:nvPr/>
        </p:nvSpPr>
        <p:spPr>
          <a:xfrm rot="10800000">
            <a:off x="5329237" y="3922712"/>
            <a:ext cx="473075" cy="830262"/>
          </a:xfrm>
          <a:prstGeom prst="downArrow">
            <a:avLst>
              <a:gd name="adj1" fmla="val 15442"/>
              <a:gd name="adj2" fmla="val 500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45" name="Google Shape;145;p8"/>
          <p:cNvSpPr/>
          <p:nvPr/>
        </p:nvSpPr>
        <p:spPr>
          <a:xfrm rot="10800000">
            <a:off x="7277100" y="3956050"/>
            <a:ext cx="473075" cy="830262"/>
          </a:xfrm>
          <a:prstGeom prst="downArrow">
            <a:avLst>
              <a:gd name="adj1" fmla="val 15442"/>
              <a:gd name="adj2" fmla="val 500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9"/>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endParaRPr sz="4400">
              <a:solidFill>
                <a:schemeClr val="dk1"/>
              </a:solidFill>
              <a:latin typeface="Calibri"/>
              <a:ea typeface="Calibri"/>
              <a:cs typeface="Calibri"/>
              <a:sym typeface="Calibri"/>
            </a:endParaRPr>
          </a:p>
        </p:txBody>
      </p:sp>
      <p:sp>
        <p:nvSpPr>
          <p:cNvPr id="151" name="Google Shape;151;p9"/>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rmAutofit/>
          </a:bodyPr>
          <a:lstStyle/>
          <a:p>
            <a:pPr marL="457200" marR="0" lvl="0" indent="-457200" algn="l" rtl="0">
              <a:lnSpc>
                <a:spcPct val="90000"/>
              </a:lnSpc>
              <a:spcBef>
                <a:spcPts val="0"/>
              </a:spcBef>
              <a:spcAft>
                <a:spcPts val="0"/>
              </a:spcAft>
              <a:buClr>
                <a:schemeClr val="dk1"/>
              </a:buClr>
              <a:buSzPts val="2800"/>
              <a:buFont typeface="Noto Sans Symbols"/>
              <a:buChar char="⮚"/>
            </a:pPr>
            <a:r>
              <a:rPr lang="en-US" sz="2800" b="0" i="0" u="none">
                <a:solidFill>
                  <a:schemeClr val="dk1"/>
                </a:solidFill>
                <a:latin typeface="Times New Roman"/>
                <a:ea typeface="Times New Roman"/>
                <a:cs typeface="Times New Roman"/>
                <a:sym typeface="Times New Roman"/>
              </a:rPr>
              <a:t>A Social process</a:t>
            </a:r>
            <a:endParaRPr/>
          </a:p>
          <a:p>
            <a:pPr marL="457200" marR="0" lvl="0" indent="-457200" algn="l" rtl="0">
              <a:lnSpc>
                <a:spcPct val="90000"/>
              </a:lnSpc>
              <a:spcBef>
                <a:spcPts val="1000"/>
              </a:spcBef>
              <a:spcAft>
                <a:spcPts val="0"/>
              </a:spcAft>
              <a:buClr>
                <a:schemeClr val="dk1"/>
              </a:buClr>
              <a:buSzPts val="2800"/>
              <a:buFont typeface="Noto Sans Symbols"/>
              <a:buChar char="⮚"/>
            </a:pPr>
            <a:r>
              <a:rPr lang="en-US" sz="2800" b="0" i="0" u="none">
                <a:solidFill>
                  <a:schemeClr val="dk1"/>
                </a:solidFill>
                <a:latin typeface="Times New Roman"/>
                <a:ea typeface="Times New Roman"/>
                <a:cs typeface="Times New Roman"/>
                <a:sym typeface="Times New Roman"/>
              </a:rPr>
              <a:t>An integrative process</a:t>
            </a:r>
            <a:endParaRPr/>
          </a:p>
          <a:p>
            <a:pPr marL="457200" marR="0" lvl="0" indent="-457200" algn="l" rtl="0">
              <a:lnSpc>
                <a:spcPct val="90000"/>
              </a:lnSpc>
              <a:spcBef>
                <a:spcPts val="1000"/>
              </a:spcBef>
              <a:spcAft>
                <a:spcPts val="0"/>
              </a:spcAft>
              <a:buClr>
                <a:schemeClr val="dk1"/>
              </a:buClr>
              <a:buSzPts val="2800"/>
              <a:buFont typeface="Noto Sans Symbols"/>
              <a:buChar char="⮚"/>
            </a:pPr>
            <a:r>
              <a:rPr lang="en-US" sz="2800" b="0" i="0" u="none">
                <a:solidFill>
                  <a:schemeClr val="dk1"/>
                </a:solidFill>
                <a:latin typeface="Times New Roman"/>
                <a:ea typeface="Times New Roman"/>
                <a:cs typeface="Times New Roman"/>
                <a:sym typeface="Times New Roman"/>
              </a:rPr>
              <a:t>A governance process</a:t>
            </a:r>
            <a:endParaRPr/>
          </a:p>
          <a:p>
            <a:pPr marL="457200" marR="0" lvl="0" indent="-457200" algn="l" rtl="0">
              <a:lnSpc>
                <a:spcPct val="90000"/>
              </a:lnSpc>
              <a:spcBef>
                <a:spcPts val="1000"/>
              </a:spcBef>
              <a:spcAft>
                <a:spcPts val="0"/>
              </a:spcAft>
              <a:buClr>
                <a:schemeClr val="dk1"/>
              </a:buClr>
              <a:buSzPts val="2800"/>
              <a:buFont typeface="Noto Sans Symbols"/>
              <a:buChar char="⮚"/>
            </a:pPr>
            <a:r>
              <a:rPr lang="en-US" sz="2800" b="0" i="0" u="none">
                <a:solidFill>
                  <a:schemeClr val="dk1"/>
                </a:solidFill>
                <a:latin typeface="Times New Roman"/>
                <a:ea typeface="Times New Roman"/>
                <a:cs typeface="Times New Roman"/>
                <a:sym typeface="Times New Roman"/>
              </a:rPr>
              <a:t>Universal process</a:t>
            </a:r>
            <a:endParaRPr/>
          </a:p>
          <a:p>
            <a:pPr marL="457200" marR="0" lvl="0" indent="-457200" algn="l" rtl="0">
              <a:lnSpc>
                <a:spcPct val="90000"/>
              </a:lnSpc>
              <a:spcBef>
                <a:spcPts val="1000"/>
              </a:spcBef>
              <a:spcAft>
                <a:spcPts val="0"/>
              </a:spcAft>
              <a:buClr>
                <a:schemeClr val="dk1"/>
              </a:buClr>
              <a:buSzPts val="2800"/>
              <a:buFont typeface="Noto Sans Symbols"/>
              <a:buChar char="⮚"/>
            </a:pPr>
            <a:r>
              <a:rPr lang="en-US" sz="2800" b="0" i="0" u="none">
                <a:solidFill>
                  <a:schemeClr val="dk1"/>
                </a:solidFill>
                <a:latin typeface="Times New Roman"/>
                <a:ea typeface="Times New Roman"/>
                <a:cs typeface="Times New Roman"/>
                <a:sym typeface="Times New Roman"/>
              </a:rPr>
              <a:t>Continuous process</a:t>
            </a:r>
            <a:endParaRPr/>
          </a:p>
          <a:p>
            <a:pPr marL="228600" marR="0" lvl="0" indent="-50800" algn="l" rtl="0">
              <a:lnSpc>
                <a:spcPct val="90000"/>
              </a:lnSpc>
              <a:spcBef>
                <a:spcPts val="1000"/>
              </a:spcBef>
              <a:spcAft>
                <a:spcPts val="0"/>
              </a:spcAft>
              <a:buClr>
                <a:schemeClr val="dk1"/>
              </a:buClr>
              <a:buSzPts val="2800"/>
              <a:buFont typeface="Arial"/>
              <a:buNone/>
            </a:pPr>
            <a:endParaRPr sz="28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0"/>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4400" b="0" i="0" u="none">
                <a:solidFill>
                  <a:schemeClr val="dk1"/>
                </a:solidFill>
                <a:latin typeface="Times New Roman" panose="02020603050405020304" pitchFamily="18" charset="0"/>
                <a:cs typeface="Times New Roman" panose="02020603050405020304" pitchFamily="18" charset="0"/>
                <a:sym typeface="Calibri"/>
              </a:rPr>
              <a:t>Managerial Hierarchy and Levels</a:t>
            </a:r>
            <a:endParaRPr>
              <a:latin typeface="Times New Roman" panose="02020603050405020304" pitchFamily="18" charset="0"/>
              <a:cs typeface="Times New Roman" panose="02020603050405020304" pitchFamily="18" charset="0"/>
            </a:endParaRPr>
          </a:p>
        </p:txBody>
      </p:sp>
      <p:sp>
        <p:nvSpPr>
          <p:cNvPr id="157" name="Google Shape;157;p10"/>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p>
            <a:pPr marL="457200" marR="0" lvl="0" indent="-342900" algn="l" rtl="0">
              <a:lnSpc>
                <a:spcPct val="90000"/>
              </a:lnSpc>
              <a:spcBef>
                <a:spcPts val="0"/>
              </a:spcBef>
              <a:spcAft>
                <a:spcPts val="0"/>
              </a:spcAft>
              <a:buSzPts val="1800"/>
              <a:buChar char="➔"/>
            </a:pPr>
            <a:r>
              <a:rPr lang="en-US">
                <a:latin typeface="Times New Roman" panose="02020603050405020304" pitchFamily="18" charset="0"/>
                <a:cs typeface="Times New Roman" panose="02020603050405020304" pitchFamily="18" charset="0"/>
              </a:rPr>
              <a:t>Managerial hierarchy depicts the chain of command.</a:t>
            </a:r>
            <a:endParaRPr>
              <a:latin typeface="Times New Roman" panose="02020603050405020304" pitchFamily="18" charset="0"/>
              <a:cs typeface="Times New Roman" panose="02020603050405020304" pitchFamily="18" charset="0"/>
            </a:endParaRPr>
          </a:p>
          <a:p>
            <a:pPr marL="457200" marR="0" lvl="0" indent="0" algn="l" rtl="0">
              <a:lnSpc>
                <a:spcPct val="90000"/>
              </a:lnSpc>
              <a:spcBef>
                <a:spcPts val="0"/>
              </a:spcBef>
              <a:spcAft>
                <a:spcPts val="0"/>
              </a:spcAft>
              <a:buNone/>
            </a:pPr>
            <a:endParaRPr>
              <a:latin typeface="Times New Roman" panose="02020603050405020304" pitchFamily="18" charset="0"/>
              <a:cs typeface="Times New Roman" panose="02020603050405020304" pitchFamily="18" charset="0"/>
            </a:endParaRPr>
          </a:p>
        </p:txBody>
      </p:sp>
      <p:graphicFrame>
        <p:nvGraphicFramePr>
          <p:cNvPr id="4" name="Diagram 3"/>
          <p:cNvGraphicFramePr/>
          <p:nvPr>
            <p:extLst>
              <p:ext uri="{D42A27DB-BD31-4B8C-83A1-F6EECF244321}">
                <p14:modId xmlns:p14="http://schemas.microsoft.com/office/powerpoint/2010/main" val="538015651"/>
              </p:ext>
            </p:extLst>
          </p:nvPr>
        </p:nvGraphicFramePr>
        <p:xfrm>
          <a:off x="2032000" y="2848708"/>
          <a:ext cx="8128000" cy="32896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Top Level Management </a:t>
            </a:r>
          </a:p>
        </p:txBody>
      </p:sp>
      <p:sp>
        <p:nvSpPr>
          <p:cNvPr id="3" name="Text Placeholder 2"/>
          <p:cNvSpPr>
            <a:spLocks noGrp="1"/>
          </p:cNvSpPr>
          <p:nvPr>
            <p:ph type="body" idx="1"/>
          </p:nvPr>
        </p:nvSpPr>
        <p:spPr/>
        <p:txBody>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consists of board of directors, chief executive or managing director.</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top management is the ultimate source of authority and it manages goals and policies for an enterprise.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devotes more time on planning and coordinating functions.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role of the top management can be summarized as follows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44261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pPr marL="628650" indent="-514350">
              <a:buFont typeface="+mj-lt"/>
              <a:buAutoNum type="arabicPeriod"/>
            </a:pPr>
            <a:r>
              <a:rPr lang="en-US" sz="2000" dirty="0">
                <a:latin typeface="Times New Roman" panose="02020603050405020304" pitchFamily="18" charset="0"/>
                <a:cs typeface="Times New Roman" panose="02020603050405020304" pitchFamily="18" charset="0"/>
              </a:rPr>
              <a:t>Top management lays down the objectives and broad policies of the enterprise.</a:t>
            </a:r>
          </a:p>
          <a:p>
            <a:pPr marL="628650" indent="-514350">
              <a:buFont typeface="+mj-lt"/>
              <a:buAutoNum type="arabicPeriod"/>
            </a:pPr>
            <a:r>
              <a:rPr lang="en-US" sz="2000" dirty="0">
                <a:latin typeface="Times New Roman" panose="02020603050405020304" pitchFamily="18" charset="0"/>
                <a:cs typeface="Times New Roman" panose="02020603050405020304" pitchFamily="18" charset="0"/>
              </a:rPr>
              <a:t>It issues necessary instructions for preparation of department budgets, procedures, schedules etc.</a:t>
            </a:r>
          </a:p>
          <a:p>
            <a:pPr marL="628650" indent="-514350">
              <a:buFont typeface="+mj-lt"/>
              <a:buAutoNum type="arabicPeriod"/>
            </a:pPr>
            <a:r>
              <a:rPr lang="en-US" sz="2000" dirty="0">
                <a:latin typeface="Times New Roman" panose="02020603050405020304" pitchFamily="18" charset="0"/>
                <a:cs typeface="Times New Roman" panose="02020603050405020304" pitchFamily="18" charset="0"/>
              </a:rPr>
              <a:t>It prepares strategic plans policies for the enterprise.</a:t>
            </a:r>
          </a:p>
          <a:p>
            <a:pPr marL="628650" indent="-514350">
              <a:buFont typeface="+mj-lt"/>
              <a:buAutoNum type="arabicPeriod"/>
            </a:pPr>
            <a:r>
              <a:rPr lang="en-US" sz="2000" dirty="0">
                <a:latin typeface="Times New Roman" panose="02020603050405020304" pitchFamily="18" charset="0"/>
                <a:cs typeface="Times New Roman" panose="02020603050405020304" pitchFamily="18" charset="0"/>
              </a:rPr>
              <a:t>It appoints the executive for middle level i.e. departmental managers.</a:t>
            </a:r>
          </a:p>
          <a:p>
            <a:pPr marL="628650" indent="-514350">
              <a:buFont typeface="+mj-lt"/>
              <a:buAutoNum type="arabicPeriod"/>
            </a:pPr>
            <a:r>
              <a:rPr lang="en-US" sz="2000" dirty="0">
                <a:latin typeface="Times New Roman" panose="02020603050405020304" pitchFamily="18" charset="0"/>
                <a:cs typeface="Times New Roman" panose="02020603050405020304" pitchFamily="18" charset="0"/>
              </a:rPr>
              <a:t>It controls coordinates the activities of all the departments.</a:t>
            </a:r>
          </a:p>
          <a:p>
            <a:pPr marL="628650" indent="-514350">
              <a:buFont typeface="+mj-lt"/>
              <a:buAutoNum type="arabicPeriod"/>
            </a:pPr>
            <a:r>
              <a:rPr lang="en-US" sz="2000" dirty="0">
                <a:latin typeface="Times New Roman" panose="02020603050405020304" pitchFamily="18" charset="0"/>
                <a:cs typeface="Times New Roman" panose="02020603050405020304" pitchFamily="18" charset="0"/>
              </a:rPr>
              <a:t>It is also responsible for maintaining a contact with the outside world.</a:t>
            </a:r>
          </a:p>
          <a:p>
            <a:pPr marL="628650" indent="-514350">
              <a:buFont typeface="+mj-lt"/>
              <a:buAutoNum type="arabicPeriod"/>
            </a:pPr>
            <a:r>
              <a:rPr lang="en-US" sz="2000" dirty="0">
                <a:latin typeface="Times New Roman" panose="02020603050405020304" pitchFamily="18" charset="0"/>
                <a:cs typeface="Times New Roman" panose="02020603050405020304" pitchFamily="18" charset="0"/>
              </a:rPr>
              <a:t>It provides guidance and direction.</a:t>
            </a:r>
          </a:p>
          <a:p>
            <a:pPr marL="628650" indent="-514350">
              <a:buFont typeface="+mj-lt"/>
              <a:buAutoNum type="arabicPeriod"/>
            </a:pPr>
            <a:r>
              <a:rPr lang="en-US" sz="2000" dirty="0">
                <a:latin typeface="Times New Roman" panose="02020603050405020304" pitchFamily="18" charset="0"/>
                <a:cs typeface="Times New Roman" panose="02020603050405020304" pitchFamily="18" charset="0"/>
              </a:rPr>
              <a:t>The top management is also responsible towards the shareholders for the performance of the enterprise.</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01290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Middle Level Management </a:t>
            </a:r>
          </a:p>
        </p:txBody>
      </p:sp>
      <p:sp>
        <p:nvSpPr>
          <p:cNvPr id="3" name="Text Placeholder 2"/>
          <p:cNvSpPr>
            <a:spLocks noGrp="1"/>
          </p:cNvSpPr>
          <p:nvPr>
            <p:ph type="body" idx="1"/>
          </p:nvPr>
        </p:nvSpPr>
        <p:spPr/>
        <p:txBody>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branch managers and departmental managers constitute middle level. They are responsible to the top management for the functioning of their department.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They devote more time to organizational and directional functions.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 small organization, there is only one layer of middle level of management but in big enterprises, there may be senior and junior middle level management.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Their role can be emphasized as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38913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They execute the plans of the organization in accordance with the policies and directives of the top management.</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They make plans for the sub-units of the organization.</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They participate in employment training of lower level management.</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They interpret and explain policies from top level management to lower level.</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They are responsible for coordinating the activities within the division or department.</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It also sends important reports and other important data to top level management.</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They evaluate performance of junior managers.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They are also responsible for inspiring lower level managers towards better performance.</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83654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Lower Level Management</a:t>
            </a:r>
          </a:p>
        </p:txBody>
      </p:sp>
      <p:sp>
        <p:nvSpPr>
          <p:cNvPr id="3" name="Text Placeholder 2"/>
          <p:cNvSpPr>
            <a:spLocks noGrp="1"/>
          </p:cNvSpPr>
          <p:nvPr>
            <p:ph type="body" idx="1"/>
          </p:nvPr>
        </p:nvSpPr>
        <p:spPr/>
        <p:txBody>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Lower level is also known as supervisory/operative level of management.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consists of supervisors, foreman, section officers, superintendent etc.</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According to </a:t>
            </a:r>
            <a:r>
              <a:rPr lang="en-US" i="1" dirty="0">
                <a:latin typeface="Times New Roman" panose="02020603050405020304" pitchFamily="18" charset="0"/>
                <a:cs typeface="Times New Roman" panose="02020603050405020304" pitchFamily="18" charset="0"/>
              </a:rPr>
              <a:t>R.C. Davis</a:t>
            </a:r>
            <a:r>
              <a:rPr lang="en-US" dirty="0">
                <a:latin typeface="Times New Roman" panose="02020603050405020304" pitchFamily="18" charset="0"/>
                <a:cs typeface="Times New Roman" panose="02020603050405020304" pitchFamily="18" charset="0"/>
              </a:rPr>
              <a:t>, “Supervisory management refers to those executives whose work has to be largely with personal oversight and direction of operative employees”.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 other words, they are concerned with direction and controlling function of management.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Their activities include -</a:t>
            </a: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88261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Assigning of jobs and tasks to various workers.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They guide and instruct workers for day to day activities.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They are responsible for the quality as well as quantity of production.</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They are also entrusted with the responsibility of maintaining good relation in the organization.</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They communicate workers problems, suggestions, and recommendatory appeals etc. to the higher level and higher level goals and objectives to the workers.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91786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They help to solve the grievances of the workers.</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They supervise guide the sub-ordinates.</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They are responsible for providing training to the workers.</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They arrange necessary materials, machines, tools </a:t>
            </a:r>
            <a:r>
              <a:rPr lang="en-US" sz="2400" dirty="0" err="1">
                <a:latin typeface="Times New Roman" panose="02020603050405020304" pitchFamily="18" charset="0"/>
                <a:cs typeface="Times New Roman" panose="02020603050405020304" pitchFamily="18" charset="0"/>
              </a:rPr>
              <a:t>etc</a:t>
            </a:r>
            <a:r>
              <a:rPr lang="en-US" sz="2400" dirty="0">
                <a:latin typeface="Times New Roman" panose="02020603050405020304" pitchFamily="18" charset="0"/>
                <a:cs typeface="Times New Roman" panose="02020603050405020304" pitchFamily="18" charset="0"/>
              </a:rPr>
              <a:t> for getting the things done.</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They prepare periodical reports about the performance of the workers.</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They ensure discipline in the enterprise.</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They motivate workers.</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They are the image builders of the enterprise because they are in direct contact with the workers.</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37364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Managerial Skills</a:t>
            </a:r>
          </a:p>
        </p:txBody>
      </p:sp>
      <p:sp>
        <p:nvSpPr>
          <p:cNvPr id="3" name="Text Placeholder 2"/>
          <p:cNvSpPr>
            <a:spLocks noGrp="1"/>
          </p:cNvSpPr>
          <p:nvPr>
            <p:ph type="body" idx="1"/>
          </p:nvPr>
        </p:nvSpPr>
        <p:spPr/>
        <p:txBody>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An ability or proficiency in performing a particular task.</a:t>
            </a:r>
          </a:p>
          <a:p>
            <a:pPr marL="114300" indent="0">
              <a:buNone/>
            </a:pPr>
            <a:r>
              <a:rPr lang="en-US" b="1" dirty="0">
                <a:latin typeface="Times New Roman" panose="02020603050405020304" pitchFamily="18" charset="0"/>
                <a:cs typeface="Times New Roman" panose="02020603050405020304" pitchFamily="18" charset="0"/>
              </a:rPr>
              <a:t>Technical Skills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is the ability to process the technical side of the job.</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is the job specific knowledge and techniques that are required to perform an organizational role.</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For example a production manager must have the skills to plan, operate, maintain, and repair machines and equipment.</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1489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114300" indent="0">
              <a:buNone/>
            </a:pPr>
            <a:r>
              <a:rPr lang="en-US" b="1" dirty="0">
                <a:latin typeface="Times New Roman" panose="02020603050405020304" pitchFamily="18" charset="0"/>
                <a:cs typeface="Times New Roman" panose="02020603050405020304" pitchFamily="18" charset="0"/>
              </a:rPr>
              <a:t>Human skills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Human skills is the power to communicate with fellow workers.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 manager needs knowledge and skills in fields such as communication, motivation, conflict management, group dynamics etc.</a:t>
            </a:r>
          </a:p>
        </p:txBody>
      </p:sp>
    </p:spTree>
    <p:extLst>
      <p:ext uri="{BB962C8B-B14F-4D97-AF65-F5344CB8AC3E}">
        <p14:creationId xmlns:p14="http://schemas.microsoft.com/office/powerpoint/2010/main" val="8035452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114300" indent="0">
              <a:buNone/>
            </a:pPr>
            <a:r>
              <a:rPr lang="en-US" b="1" dirty="0">
                <a:latin typeface="Times New Roman" panose="02020603050405020304" pitchFamily="18" charset="0"/>
                <a:cs typeface="Times New Roman" panose="02020603050405020304" pitchFamily="18" charset="0"/>
              </a:rPr>
              <a:t>Conceptual skills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involves the formulation of ideas and concepts.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is the ability of the manager to visualize the organization in its totality and its environment.</a:t>
            </a:r>
          </a:p>
          <a:p>
            <a:pPr marL="114300" indent="0">
              <a:buNone/>
            </a:pPr>
            <a:r>
              <a:rPr lang="en-US" dirty="0">
                <a:latin typeface="Times New Roman" panose="02020603050405020304" pitchFamily="18" charset="0"/>
                <a:cs typeface="Times New Roman" panose="02020603050405020304" pitchFamily="18" charset="0"/>
              </a:rPr>
              <a:t>Analytical skills</a:t>
            </a:r>
          </a:p>
          <a:p>
            <a:pPr marL="114300" indent="0">
              <a:buNone/>
            </a:pPr>
            <a:r>
              <a:rPr lang="en-US" dirty="0">
                <a:latin typeface="Times New Roman" panose="02020603050405020304" pitchFamily="18" charset="0"/>
                <a:cs typeface="Times New Roman" panose="02020603050405020304" pitchFamily="18" charset="0"/>
              </a:rPr>
              <a:t>Diagnostic skills</a:t>
            </a:r>
          </a:p>
          <a:p>
            <a:pPr marL="114300" indent="0">
              <a:buNone/>
            </a:pPr>
            <a:r>
              <a:rPr lang="en-US" dirty="0">
                <a:latin typeface="Times New Roman" panose="02020603050405020304" pitchFamily="18" charset="0"/>
                <a:cs typeface="Times New Roman" panose="02020603050405020304" pitchFamily="18" charset="0"/>
              </a:rPr>
              <a:t>Decision making skills</a:t>
            </a:r>
          </a:p>
          <a:p>
            <a:pPr marL="114300" indent="0">
              <a:buNone/>
            </a:pPr>
            <a:r>
              <a:rPr lang="en-US" dirty="0">
                <a:latin typeface="Times New Roman" panose="02020603050405020304" pitchFamily="18" charset="0"/>
                <a:cs typeface="Times New Roman" panose="02020603050405020304" pitchFamily="18" charset="0"/>
              </a:rPr>
              <a:t>Computer skills</a:t>
            </a:r>
          </a:p>
          <a:p>
            <a:pPr marL="114300" indent="0">
              <a:buNone/>
            </a:pPr>
            <a:r>
              <a:rPr lang="en-US" dirty="0">
                <a:latin typeface="Times New Roman" panose="02020603050405020304" pitchFamily="18" charset="0"/>
                <a:cs typeface="Times New Roman" panose="02020603050405020304" pitchFamily="18" charset="0"/>
              </a:rPr>
              <a:t>Communication skills</a:t>
            </a:r>
          </a:p>
          <a:p>
            <a:pPr marL="114300" indent="0">
              <a:buNone/>
            </a:pPr>
            <a:r>
              <a:rPr lang="en-US" dirty="0">
                <a:latin typeface="Times New Roman" panose="02020603050405020304" pitchFamily="18" charset="0"/>
                <a:cs typeface="Times New Roman" panose="02020603050405020304" pitchFamily="18" charset="0"/>
              </a:rPr>
              <a:t>Institution building skills</a:t>
            </a:r>
          </a:p>
        </p:txBody>
      </p:sp>
    </p:spTree>
    <p:extLst>
      <p:ext uri="{BB962C8B-B14F-4D97-AF65-F5344CB8AC3E}">
        <p14:creationId xmlns:p14="http://schemas.microsoft.com/office/powerpoint/2010/main" val="5099294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defRPr/>
            </a:pPr>
            <a:r>
              <a:rPr lang="en-US" sz="5600" b="1" dirty="0">
                <a:latin typeface="Times New Roman" panose="02020603050405020304" pitchFamily="18" charset="0"/>
                <a:cs typeface="Times New Roman" panose="02020603050405020304" pitchFamily="18" charset="0"/>
              </a:rPr>
              <a:t>What is a Role?</a:t>
            </a:r>
          </a:p>
        </p:txBody>
      </p:sp>
      <p:sp>
        <p:nvSpPr>
          <p:cNvPr id="9219" name="Rectangle 3"/>
          <p:cNvSpPr>
            <a:spLocks noGrp="1" noChangeArrowheads="1"/>
          </p:cNvSpPr>
          <p:nvPr>
            <p:ph type="body" idx="1"/>
          </p:nvPr>
        </p:nvSpPr>
        <p:spPr/>
        <p:txBody>
          <a:bodyPr/>
          <a:lstStyle/>
          <a:p>
            <a:pPr eaLnBrk="1" hangingPunct="1">
              <a:buFont typeface="Wingdings" panose="05000000000000000000" pitchFamily="2" charset="2"/>
              <a:buNone/>
            </a:pPr>
            <a:r>
              <a:rPr lang="en-GB" altLang="en-US" sz="4700" dirty="0">
                <a:latin typeface="Times New Roman" panose="02020603050405020304" pitchFamily="18" charset="0"/>
                <a:cs typeface="Times New Roman" panose="02020603050405020304" pitchFamily="18" charset="0"/>
              </a:rPr>
              <a:t>	The expected behaviour for a certain status or position.</a:t>
            </a:r>
            <a:endParaRPr lang="en-US" altLang="en-US" sz="4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334272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1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21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p:bldP spid="9219"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altLang="en-US" sz="5400" b="1" dirty="0">
                <a:latin typeface="Times New Roman" panose="02020603050405020304" pitchFamily="18" charset="0"/>
                <a:cs typeface="Times New Roman" panose="02020603050405020304" pitchFamily="18" charset="0"/>
              </a:rPr>
              <a:t>Managerial Roles </a:t>
            </a:r>
          </a:p>
        </p:txBody>
      </p:sp>
      <p:sp>
        <p:nvSpPr>
          <p:cNvPr id="23555" name="Content Placeholder 2"/>
          <p:cNvSpPr>
            <a:spLocks noGrp="1"/>
          </p:cNvSpPr>
          <p:nvPr>
            <p:ph type="body" idx="1"/>
          </p:nvPr>
        </p:nvSpPr>
        <p:spPr/>
        <p:txBody>
          <a:bodyPr/>
          <a:lstStyle/>
          <a:p>
            <a:pPr marL="114300" indent="0">
              <a:buNone/>
            </a:pPr>
            <a:r>
              <a:rPr lang="en-US" altLang="en-US" sz="4800" dirty="0">
                <a:latin typeface="Times New Roman" panose="02020603050405020304" pitchFamily="18" charset="0"/>
                <a:cs typeface="Times New Roman" panose="02020603050405020304" pitchFamily="18" charset="0"/>
              </a:rPr>
              <a:t>What you do as a manager (tasks / functions)?</a:t>
            </a:r>
          </a:p>
        </p:txBody>
      </p:sp>
    </p:spTree>
    <p:extLst>
      <p:ext uri="{BB962C8B-B14F-4D97-AF65-F5344CB8AC3E}">
        <p14:creationId xmlns:p14="http://schemas.microsoft.com/office/powerpoint/2010/main" val="40473498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lstStyle/>
          <a:p>
            <a:pPr eaLnBrk="1" hangingPunct="1">
              <a:defRPr/>
            </a:pPr>
            <a:r>
              <a:rPr lang="en-US" sz="3200" b="1" dirty="0">
                <a:latin typeface="Times New Roman" panose="02020603050405020304" pitchFamily="18" charset="0"/>
                <a:cs typeface="Times New Roman" panose="02020603050405020304" pitchFamily="18" charset="0"/>
              </a:rPr>
              <a:t>The Managerial Roles</a:t>
            </a:r>
          </a:p>
        </p:txBody>
      </p:sp>
      <p:sp>
        <p:nvSpPr>
          <p:cNvPr id="24580" name="Rectangle 3"/>
          <p:cNvSpPr>
            <a:spLocks noGrp="1" noChangeArrowheads="1"/>
          </p:cNvSpPr>
          <p:nvPr>
            <p:ph type="body" idx="1"/>
          </p:nvPr>
        </p:nvSpPr>
        <p:spPr/>
        <p:txBody>
          <a:bodyPr/>
          <a:lstStyle/>
          <a:p>
            <a:pPr indent="-457200" eaLnBrk="1" hangingPunct="1">
              <a:buFont typeface="+mj-lt"/>
              <a:buAutoNum type="arabicPeriod"/>
            </a:pPr>
            <a:r>
              <a:rPr lang="en-US" altLang="en-US" dirty="0">
                <a:latin typeface="Times New Roman" panose="02020603050405020304" pitchFamily="18" charset="0"/>
                <a:cs typeface="Times New Roman" panose="02020603050405020304" pitchFamily="18" charset="0"/>
              </a:rPr>
              <a:t>Interpersonal roles</a:t>
            </a:r>
          </a:p>
          <a:p>
            <a:pPr indent="-457200" eaLnBrk="1" hangingPunct="1">
              <a:buFont typeface="+mj-lt"/>
              <a:buAutoNum type="arabicPeriod"/>
            </a:pPr>
            <a:r>
              <a:rPr lang="en-US" altLang="en-US" dirty="0">
                <a:latin typeface="Times New Roman" panose="02020603050405020304" pitchFamily="18" charset="0"/>
                <a:cs typeface="Times New Roman" panose="02020603050405020304" pitchFamily="18" charset="0"/>
              </a:rPr>
              <a:t>Informational roles</a:t>
            </a:r>
          </a:p>
          <a:p>
            <a:pPr indent="-457200" eaLnBrk="1" hangingPunct="1">
              <a:buFont typeface="+mj-lt"/>
              <a:buAutoNum type="arabicPeriod"/>
            </a:pPr>
            <a:r>
              <a:rPr lang="en-US" altLang="en-US" dirty="0">
                <a:latin typeface="Times New Roman" panose="02020603050405020304" pitchFamily="18" charset="0"/>
                <a:cs typeface="Times New Roman" panose="02020603050405020304" pitchFamily="18" charset="0"/>
              </a:rPr>
              <a:t>Decisional roles</a:t>
            </a:r>
          </a:p>
        </p:txBody>
      </p:sp>
    </p:spTree>
    <p:extLst>
      <p:ext uri="{BB962C8B-B14F-4D97-AF65-F5344CB8AC3E}">
        <p14:creationId xmlns:p14="http://schemas.microsoft.com/office/powerpoint/2010/main" val="429121177"/>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Interpersonal Roles</a:t>
            </a:r>
          </a:p>
        </p:txBody>
      </p:sp>
      <p:sp>
        <p:nvSpPr>
          <p:cNvPr id="39939" name="Rectangle 3"/>
          <p:cNvSpPr>
            <a:spLocks noGrp="1" noChangeArrowheads="1"/>
          </p:cNvSpPr>
          <p:nvPr>
            <p:ph type="body" idx="1"/>
          </p:nvPr>
        </p:nvSpPr>
        <p:spPr/>
        <p:txBody>
          <a:bodyPr/>
          <a:lstStyle/>
          <a:p>
            <a:pPr marL="350838" indent="-350838">
              <a:lnSpc>
                <a:spcPct val="80000"/>
              </a:lnSpc>
              <a:buNone/>
            </a:pPr>
            <a:r>
              <a:rPr lang="en-US" altLang="en-US" sz="2000" dirty="0">
                <a:latin typeface="Times New Roman" panose="02020603050405020304" pitchFamily="18" charset="0"/>
                <a:cs typeface="Times New Roman" panose="02020603050405020304" pitchFamily="18" charset="0"/>
              </a:rPr>
              <a:t>Managers develop contacts and build relationships with people inside and outside the organization.</a:t>
            </a:r>
          </a:p>
          <a:p>
            <a:pPr indent="-457200">
              <a:lnSpc>
                <a:spcPct val="80000"/>
              </a:lnSpc>
              <a:buFont typeface="+mj-lt"/>
              <a:buAutoNum type="arabicPeriod"/>
            </a:pPr>
            <a:r>
              <a:rPr lang="en-US" altLang="en-US" sz="2000" dirty="0">
                <a:latin typeface="Times New Roman" panose="02020603050405020304" pitchFamily="18" charset="0"/>
                <a:cs typeface="Times New Roman" panose="02020603050405020304" pitchFamily="18" charset="0"/>
              </a:rPr>
              <a:t>Figurehead role</a:t>
            </a:r>
          </a:p>
          <a:p>
            <a:pPr indent="-457200">
              <a:lnSpc>
                <a:spcPct val="80000"/>
              </a:lnSpc>
              <a:buFont typeface="+mj-lt"/>
              <a:buAutoNum type="arabicPeriod"/>
            </a:pPr>
            <a:r>
              <a:rPr lang="en-US" altLang="en-US" sz="2000" dirty="0">
                <a:latin typeface="Times New Roman" panose="02020603050405020304" pitchFamily="18" charset="0"/>
                <a:cs typeface="Times New Roman" panose="02020603050405020304" pitchFamily="18" charset="0"/>
              </a:rPr>
              <a:t>Leader role</a:t>
            </a:r>
          </a:p>
          <a:p>
            <a:pPr indent="-457200">
              <a:lnSpc>
                <a:spcPct val="80000"/>
              </a:lnSpc>
              <a:buFont typeface="+mj-lt"/>
              <a:buAutoNum type="arabicPeriod"/>
            </a:pPr>
            <a:r>
              <a:rPr lang="en-US" altLang="en-US" sz="2000" dirty="0">
                <a:latin typeface="Times New Roman" panose="02020603050405020304" pitchFamily="18" charset="0"/>
                <a:cs typeface="Times New Roman" panose="02020603050405020304" pitchFamily="18" charset="0"/>
              </a:rPr>
              <a:t>Liaison role</a:t>
            </a:r>
          </a:p>
          <a:p>
            <a:pPr indent="-457200">
              <a:lnSpc>
                <a:spcPct val="80000"/>
              </a:lnSpc>
              <a:buFont typeface="+mj-lt"/>
              <a:buAutoNum type="arabicPeriod"/>
            </a:pPr>
            <a:endParaRPr lang="en-US" alt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78318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9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93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9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Informational roles </a:t>
            </a:r>
          </a:p>
        </p:txBody>
      </p:sp>
      <p:sp>
        <p:nvSpPr>
          <p:cNvPr id="3" name="Text Placeholder 2"/>
          <p:cNvSpPr>
            <a:spLocks noGrp="1"/>
          </p:cNvSpPr>
          <p:nvPr>
            <p:ph type="body" idx="1"/>
          </p:nvPr>
        </p:nvSpPr>
        <p:spPr/>
        <p:txBody>
          <a:bodyPr/>
          <a:lstStyle/>
          <a:p>
            <a:pPr indent="-4572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Informational roles are closely related with tasks necessary to obtain and transmit information.</a:t>
            </a:r>
          </a:p>
          <a:p>
            <a:pPr indent="-457200">
              <a:buAutoNum type="arabicPeriod"/>
            </a:pPr>
            <a:r>
              <a:rPr lang="en-US" dirty="0">
                <a:latin typeface="Times New Roman" panose="02020603050405020304" pitchFamily="18" charset="0"/>
                <a:cs typeface="Times New Roman" panose="02020603050405020304" pitchFamily="18" charset="0"/>
              </a:rPr>
              <a:t>Monitor role</a:t>
            </a:r>
          </a:p>
          <a:p>
            <a:pPr indent="-457200">
              <a:buAutoNum type="arabicPeriod"/>
            </a:pPr>
            <a:r>
              <a:rPr lang="en-US" dirty="0">
                <a:latin typeface="Times New Roman" panose="02020603050405020304" pitchFamily="18" charset="0"/>
                <a:cs typeface="Times New Roman" panose="02020603050405020304" pitchFamily="18" charset="0"/>
              </a:rPr>
              <a:t>Disseminator role</a:t>
            </a:r>
          </a:p>
          <a:p>
            <a:pPr indent="-457200">
              <a:buAutoNum type="arabicPeriod"/>
            </a:pPr>
            <a:r>
              <a:rPr lang="en-US" dirty="0">
                <a:latin typeface="Times New Roman" panose="02020603050405020304" pitchFamily="18" charset="0"/>
                <a:cs typeface="Times New Roman" panose="02020603050405020304" pitchFamily="18" charset="0"/>
              </a:rPr>
              <a:t>Spokesperson role</a:t>
            </a:r>
          </a:p>
          <a:p>
            <a:pPr marL="628650" indent="-514350">
              <a:buAutoNum type="arabicPeriod"/>
            </a:pPr>
            <a:endParaRPr lang="en-US" dirty="0">
              <a:latin typeface="Times New Roman" panose="02020603050405020304" pitchFamily="18" charset="0"/>
              <a:cs typeface="Times New Roman" panose="02020603050405020304" pitchFamily="18" charset="0"/>
            </a:endParaRPr>
          </a:p>
          <a:p>
            <a:pPr marL="11430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05570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Decisional role</a:t>
            </a:r>
          </a:p>
        </p:txBody>
      </p:sp>
      <p:sp>
        <p:nvSpPr>
          <p:cNvPr id="3" name="Text Placeholder 2"/>
          <p:cNvSpPr>
            <a:spLocks noGrp="1"/>
          </p:cNvSpPr>
          <p:nvPr>
            <p:ph type="body" idx="1"/>
          </p:nvPr>
        </p:nvSpPr>
        <p:spPr/>
        <p:txBody>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Decisional roles are closely associated with the methods managers use to plan strategy and utilize resources.</a:t>
            </a:r>
          </a:p>
          <a:p>
            <a:pPr marL="628650" indent="-514350">
              <a:buAutoNum type="arabicPeriod"/>
            </a:pPr>
            <a:r>
              <a:rPr lang="en-US" dirty="0">
                <a:latin typeface="Times New Roman" panose="02020603050405020304" pitchFamily="18" charset="0"/>
                <a:cs typeface="Times New Roman" panose="02020603050405020304" pitchFamily="18" charset="0"/>
              </a:rPr>
              <a:t>Entrepreneurship</a:t>
            </a:r>
          </a:p>
          <a:p>
            <a:pPr marL="628650" indent="-514350">
              <a:buAutoNum type="arabicPeriod"/>
            </a:pPr>
            <a:r>
              <a:rPr lang="en-US" dirty="0">
                <a:latin typeface="Times New Roman" panose="02020603050405020304" pitchFamily="18" charset="0"/>
                <a:cs typeface="Times New Roman" panose="02020603050405020304" pitchFamily="18" charset="0"/>
              </a:rPr>
              <a:t>Disturbance handler role</a:t>
            </a:r>
          </a:p>
          <a:p>
            <a:pPr marL="628650" indent="-514350">
              <a:buAutoNum type="arabicPeriod"/>
            </a:pPr>
            <a:r>
              <a:rPr lang="en-US" dirty="0">
                <a:latin typeface="Times New Roman" panose="02020603050405020304" pitchFamily="18" charset="0"/>
                <a:cs typeface="Times New Roman" panose="02020603050405020304" pitchFamily="18" charset="0"/>
              </a:rPr>
              <a:t>Resource allocator role</a:t>
            </a:r>
          </a:p>
        </p:txBody>
      </p:sp>
    </p:spTree>
    <p:extLst>
      <p:ext uri="{BB962C8B-B14F-4D97-AF65-F5344CB8AC3E}">
        <p14:creationId xmlns:p14="http://schemas.microsoft.com/office/powerpoint/2010/main" val="10537796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endParaRPr lang="en-US" altLang="en-US"/>
          </a:p>
        </p:txBody>
      </p:sp>
      <p:graphicFrame>
        <p:nvGraphicFramePr>
          <p:cNvPr id="5" name="Content Placeholder 4"/>
          <p:cNvGraphicFramePr>
            <a:graphicFrameLocks noGrp="1"/>
          </p:cNvGraphicFramePr>
          <p:nvPr>
            <p:ph idx="1"/>
          </p:nvPr>
        </p:nvGraphicFramePr>
        <p:xfrm>
          <a:off x="1584325" y="31751"/>
          <a:ext cx="9036050" cy="6826251"/>
        </p:xfrm>
        <a:graphic>
          <a:graphicData uri="http://schemas.openxmlformats.org/drawingml/2006/table">
            <a:tbl>
              <a:tblPr/>
              <a:tblGrid>
                <a:gridCol w="1930779">
                  <a:extLst>
                    <a:ext uri="{9D8B030D-6E8A-4147-A177-3AD203B41FA5}">
                      <a16:colId xmlns:a16="http://schemas.microsoft.com/office/drawing/2014/main" val="20000"/>
                    </a:ext>
                  </a:extLst>
                </a:gridCol>
                <a:gridCol w="1776317">
                  <a:extLst>
                    <a:ext uri="{9D8B030D-6E8A-4147-A177-3AD203B41FA5}">
                      <a16:colId xmlns:a16="http://schemas.microsoft.com/office/drawing/2014/main" val="20001"/>
                    </a:ext>
                  </a:extLst>
                </a:gridCol>
                <a:gridCol w="2045856">
                  <a:extLst>
                    <a:ext uri="{9D8B030D-6E8A-4147-A177-3AD203B41FA5}">
                      <a16:colId xmlns:a16="http://schemas.microsoft.com/office/drawing/2014/main" val="20002"/>
                    </a:ext>
                  </a:extLst>
                </a:gridCol>
                <a:gridCol w="3283098">
                  <a:extLst>
                    <a:ext uri="{9D8B030D-6E8A-4147-A177-3AD203B41FA5}">
                      <a16:colId xmlns:a16="http://schemas.microsoft.com/office/drawing/2014/main" val="20003"/>
                    </a:ext>
                  </a:extLst>
                </a:gridCol>
              </a:tblGrid>
              <a:tr h="855252">
                <a:tc>
                  <a:txBody>
                    <a:bodyPr/>
                    <a:lstStyle/>
                    <a:p>
                      <a:pPr marL="0" marR="0" algn="ctr">
                        <a:spcBef>
                          <a:spcPts val="0"/>
                        </a:spcBef>
                        <a:spcAft>
                          <a:spcPts val="0"/>
                        </a:spcAft>
                      </a:pPr>
                      <a:r>
                        <a:rPr lang="en-US" sz="2400" dirty="0">
                          <a:solidFill>
                            <a:srgbClr val="FFFFFF"/>
                          </a:solidFill>
                          <a:latin typeface="+mn-lt"/>
                          <a:ea typeface="Times New Roman"/>
                          <a:cs typeface="Times New Roman"/>
                        </a:rPr>
                        <a:t/>
                      </a:r>
                      <a:br>
                        <a:rPr lang="en-US" sz="2400" dirty="0">
                          <a:solidFill>
                            <a:srgbClr val="FFFFFF"/>
                          </a:solidFill>
                          <a:latin typeface="+mn-lt"/>
                          <a:ea typeface="Times New Roman"/>
                          <a:cs typeface="Times New Roman"/>
                        </a:rPr>
                      </a:br>
                      <a:r>
                        <a:rPr lang="en-US" sz="2400" b="1" dirty="0">
                          <a:solidFill>
                            <a:srgbClr val="FFFFFF"/>
                          </a:solidFill>
                          <a:latin typeface="+mn-lt"/>
                          <a:ea typeface="Times New Roman"/>
                          <a:cs typeface="Times New Roman"/>
                        </a:rPr>
                        <a:t>Category</a:t>
                      </a:r>
                      <a:endParaRPr lang="en-US" sz="3200" dirty="0">
                        <a:latin typeface="+mn-lt"/>
                        <a:ea typeface="Calibri"/>
                        <a:cs typeface="Times New Roman"/>
                      </a:endParaRPr>
                    </a:p>
                  </a:txBody>
                  <a:tcPr marL="47624" marR="47624" marT="47623" marB="47623" anchor="ctr">
                    <a:lnL>
                      <a:noFill/>
                    </a:lnL>
                    <a:lnR>
                      <a:noFill/>
                    </a:lnR>
                    <a:lnT>
                      <a:noFill/>
                    </a:lnT>
                    <a:lnB>
                      <a:noFill/>
                    </a:lnB>
                    <a:solidFill>
                      <a:srgbClr val="0000FF"/>
                    </a:solidFill>
                  </a:tcPr>
                </a:tc>
                <a:tc>
                  <a:txBody>
                    <a:bodyPr/>
                    <a:lstStyle/>
                    <a:p>
                      <a:pPr marL="0" marR="0" algn="ctr">
                        <a:spcBef>
                          <a:spcPts val="0"/>
                        </a:spcBef>
                        <a:spcAft>
                          <a:spcPts val="0"/>
                        </a:spcAft>
                      </a:pPr>
                      <a:r>
                        <a:rPr lang="en-US" sz="2400" dirty="0">
                          <a:solidFill>
                            <a:srgbClr val="FFFFFF"/>
                          </a:solidFill>
                          <a:latin typeface="+mn-lt"/>
                          <a:ea typeface="Times New Roman"/>
                          <a:cs typeface="Times New Roman"/>
                        </a:rPr>
                        <a:t/>
                      </a:r>
                      <a:br>
                        <a:rPr lang="en-US" sz="2400" dirty="0">
                          <a:solidFill>
                            <a:srgbClr val="FFFFFF"/>
                          </a:solidFill>
                          <a:latin typeface="+mn-lt"/>
                          <a:ea typeface="Times New Roman"/>
                          <a:cs typeface="Times New Roman"/>
                        </a:rPr>
                      </a:br>
                      <a:r>
                        <a:rPr lang="en-US" sz="2400" b="1" dirty="0">
                          <a:solidFill>
                            <a:srgbClr val="FFFFFF"/>
                          </a:solidFill>
                          <a:latin typeface="+mn-lt"/>
                          <a:ea typeface="Times New Roman"/>
                          <a:cs typeface="Times New Roman"/>
                        </a:rPr>
                        <a:t>Role</a:t>
                      </a:r>
                      <a:endParaRPr lang="en-US" sz="3200" dirty="0">
                        <a:latin typeface="+mn-lt"/>
                        <a:ea typeface="Calibri"/>
                        <a:cs typeface="Times New Roman"/>
                      </a:endParaRPr>
                    </a:p>
                  </a:txBody>
                  <a:tcPr marL="47624" marR="47624" marT="47623" marB="47623" anchor="ctr">
                    <a:lnL>
                      <a:noFill/>
                    </a:lnL>
                    <a:lnR>
                      <a:noFill/>
                    </a:lnR>
                    <a:lnT>
                      <a:noFill/>
                    </a:lnT>
                    <a:lnB>
                      <a:noFill/>
                    </a:lnB>
                    <a:solidFill>
                      <a:srgbClr val="0000FF"/>
                    </a:solidFill>
                  </a:tcPr>
                </a:tc>
                <a:tc>
                  <a:txBody>
                    <a:bodyPr/>
                    <a:lstStyle/>
                    <a:p>
                      <a:pPr marL="0" marR="0" algn="ctr">
                        <a:spcBef>
                          <a:spcPts val="0"/>
                        </a:spcBef>
                        <a:spcAft>
                          <a:spcPts val="0"/>
                        </a:spcAft>
                      </a:pPr>
                      <a:r>
                        <a:rPr lang="en-US" sz="2400" dirty="0">
                          <a:solidFill>
                            <a:srgbClr val="FFFFFF"/>
                          </a:solidFill>
                          <a:latin typeface="+mn-lt"/>
                          <a:ea typeface="Times New Roman"/>
                          <a:cs typeface="Times New Roman"/>
                        </a:rPr>
                        <a:t/>
                      </a:r>
                      <a:br>
                        <a:rPr lang="en-US" sz="2400" dirty="0">
                          <a:solidFill>
                            <a:srgbClr val="FFFFFF"/>
                          </a:solidFill>
                          <a:latin typeface="+mn-lt"/>
                          <a:ea typeface="Times New Roman"/>
                          <a:cs typeface="Times New Roman"/>
                        </a:rPr>
                      </a:br>
                      <a:r>
                        <a:rPr lang="en-US" sz="2400" b="1" dirty="0">
                          <a:solidFill>
                            <a:srgbClr val="FFFFFF"/>
                          </a:solidFill>
                          <a:latin typeface="+mn-lt"/>
                          <a:ea typeface="Times New Roman"/>
                          <a:cs typeface="Times New Roman"/>
                        </a:rPr>
                        <a:t>Activity </a:t>
                      </a:r>
                      <a:endParaRPr lang="en-US" sz="3200" dirty="0">
                        <a:latin typeface="+mn-lt"/>
                        <a:ea typeface="Calibri"/>
                        <a:cs typeface="Times New Roman"/>
                      </a:endParaRPr>
                    </a:p>
                  </a:txBody>
                  <a:tcPr marL="47624" marR="47624" marT="47623" marB="47623" anchor="ctr">
                    <a:lnL>
                      <a:noFill/>
                    </a:lnL>
                    <a:lnR>
                      <a:noFill/>
                    </a:lnR>
                    <a:lnT>
                      <a:noFill/>
                    </a:lnT>
                    <a:lnB>
                      <a:noFill/>
                    </a:lnB>
                    <a:solidFill>
                      <a:srgbClr val="0000FF"/>
                    </a:solidFill>
                  </a:tcPr>
                </a:tc>
                <a:tc>
                  <a:txBody>
                    <a:bodyPr/>
                    <a:lstStyle/>
                    <a:p>
                      <a:pPr marL="0" marR="0" algn="ctr">
                        <a:spcBef>
                          <a:spcPts val="0"/>
                        </a:spcBef>
                        <a:spcAft>
                          <a:spcPts val="0"/>
                        </a:spcAft>
                      </a:pPr>
                      <a:r>
                        <a:rPr lang="en-US" sz="2400" dirty="0">
                          <a:solidFill>
                            <a:srgbClr val="FFFFFF"/>
                          </a:solidFill>
                          <a:latin typeface="+mn-lt"/>
                          <a:ea typeface="Times New Roman"/>
                          <a:cs typeface="Times New Roman"/>
                        </a:rPr>
                        <a:t/>
                      </a:r>
                      <a:br>
                        <a:rPr lang="en-US" sz="2400" dirty="0">
                          <a:solidFill>
                            <a:srgbClr val="FFFFFF"/>
                          </a:solidFill>
                          <a:latin typeface="+mn-lt"/>
                          <a:ea typeface="Times New Roman"/>
                          <a:cs typeface="Times New Roman"/>
                        </a:rPr>
                      </a:br>
                      <a:r>
                        <a:rPr lang="en-US" sz="2400" b="1" dirty="0">
                          <a:solidFill>
                            <a:srgbClr val="FFFFFF"/>
                          </a:solidFill>
                          <a:latin typeface="+mn-lt"/>
                          <a:ea typeface="Times New Roman"/>
                          <a:cs typeface="Times New Roman"/>
                        </a:rPr>
                        <a:t>Examples</a:t>
                      </a:r>
                      <a:endParaRPr lang="en-US" sz="3200" dirty="0">
                        <a:latin typeface="+mn-lt"/>
                        <a:ea typeface="Calibri"/>
                        <a:cs typeface="Times New Roman"/>
                      </a:endParaRPr>
                    </a:p>
                  </a:txBody>
                  <a:tcPr marL="47624" marR="47624" marT="47623" marB="47623" anchor="ctr">
                    <a:lnL>
                      <a:noFill/>
                    </a:lnL>
                    <a:lnR>
                      <a:noFill/>
                    </a:lnR>
                    <a:lnT>
                      <a:noFill/>
                    </a:lnT>
                    <a:lnB>
                      <a:noFill/>
                    </a:lnB>
                    <a:solidFill>
                      <a:srgbClr val="0000FF"/>
                    </a:solidFill>
                  </a:tcPr>
                </a:tc>
                <a:extLst>
                  <a:ext uri="{0D108BD9-81ED-4DB2-BD59-A6C34878D82A}">
                    <a16:rowId xmlns:a16="http://schemas.microsoft.com/office/drawing/2014/main" val="10000"/>
                  </a:ext>
                </a:extLst>
              </a:tr>
              <a:tr h="1990333">
                <a:tc>
                  <a:txBody>
                    <a:bodyPr/>
                    <a:lstStyle/>
                    <a:p>
                      <a:pPr marL="0" marR="0">
                        <a:spcBef>
                          <a:spcPts val="0"/>
                        </a:spcBef>
                        <a:spcAft>
                          <a:spcPts val="0"/>
                        </a:spcAft>
                      </a:pPr>
                      <a:r>
                        <a:rPr lang="en-US" sz="2000" dirty="0">
                          <a:latin typeface="+mn-lt"/>
                          <a:ea typeface="Times New Roman"/>
                          <a:cs typeface="Times New Roman"/>
                        </a:rPr>
                        <a:t/>
                      </a:r>
                      <a:br>
                        <a:rPr lang="en-US" sz="2000" dirty="0">
                          <a:latin typeface="+mn-lt"/>
                          <a:ea typeface="Times New Roman"/>
                          <a:cs typeface="Times New Roman"/>
                        </a:rPr>
                      </a:br>
                      <a:r>
                        <a:rPr lang="en-US" sz="2000" b="1" dirty="0">
                          <a:latin typeface="+mn-lt"/>
                          <a:ea typeface="Times New Roman"/>
                          <a:cs typeface="Times New Roman"/>
                        </a:rPr>
                        <a:t>Informational</a:t>
                      </a:r>
                    </a:p>
                    <a:p>
                      <a:pPr marL="0" marR="0">
                        <a:spcBef>
                          <a:spcPts val="0"/>
                        </a:spcBef>
                        <a:spcAft>
                          <a:spcPts val="0"/>
                        </a:spcAft>
                      </a:pPr>
                      <a:r>
                        <a:rPr lang="en-US" sz="2000" kern="1200" dirty="0">
                          <a:solidFill>
                            <a:schemeClr val="tx1"/>
                          </a:solidFill>
                          <a:latin typeface="+mn-lt"/>
                          <a:ea typeface="+mn-ea"/>
                          <a:cs typeface="+mn-cs"/>
                        </a:rPr>
                        <a:t>(managing by information)</a:t>
                      </a:r>
                      <a:endParaRPr lang="en-US" sz="2800" dirty="0">
                        <a:latin typeface="+mn-lt"/>
                        <a:ea typeface="Calibri"/>
                        <a:cs typeface="Times New Roman"/>
                      </a:endParaRPr>
                    </a:p>
                  </a:txBody>
                  <a:tcPr marL="47624" marR="47624" marT="47623" marB="47623">
                    <a:lnL>
                      <a:noFill/>
                    </a:lnL>
                    <a:lnR>
                      <a:noFill/>
                    </a:lnR>
                    <a:lnT>
                      <a:noFill/>
                    </a:lnT>
                    <a:lnB>
                      <a:noFill/>
                    </a:lnB>
                    <a:solidFill>
                      <a:srgbClr val="FFFFCC"/>
                    </a:solidFill>
                  </a:tcPr>
                </a:tc>
                <a:tc>
                  <a:txBody>
                    <a:bodyPr/>
                    <a:lstStyle/>
                    <a:p>
                      <a:pPr marL="0" marR="0">
                        <a:spcBef>
                          <a:spcPts val="0"/>
                        </a:spcBef>
                        <a:spcAft>
                          <a:spcPts val="0"/>
                        </a:spcAft>
                      </a:pPr>
                      <a:r>
                        <a:rPr lang="en-US" sz="2000" dirty="0">
                          <a:latin typeface="+mn-lt"/>
                          <a:ea typeface="Times New Roman"/>
                          <a:cs typeface="Times New Roman"/>
                        </a:rPr>
                        <a:t/>
                      </a:r>
                      <a:br>
                        <a:rPr lang="en-US" sz="2000" dirty="0">
                          <a:latin typeface="+mn-lt"/>
                          <a:ea typeface="Times New Roman"/>
                          <a:cs typeface="Times New Roman"/>
                        </a:rPr>
                      </a:br>
                      <a:r>
                        <a:rPr lang="en-US" sz="2000" i="1" dirty="0">
                          <a:latin typeface="+mn-lt"/>
                          <a:ea typeface="Times New Roman"/>
                          <a:cs typeface="Times New Roman"/>
                        </a:rPr>
                        <a:t>Monitor</a:t>
                      </a:r>
                      <a:endParaRPr lang="en-US" sz="2800" dirty="0">
                        <a:latin typeface="+mn-lt"/>
                        <a:ea typeface="Calibri"/>
                        <a:cs typeface="Times New Roman"/>
                      </a:endParaRPr>
                    </a:p>
                  </a:txBody>
                  <a:tcPr marL="47624" marR="47624" marT="47623" marB="47623">
                    <a:lnL>
                      <a:noFill/>
                    </a:lnL>
                    <a:lnR>
                      <a:noFill/>
                    </a:lnR>
                    <a:lnT>
                      <a:noFill/>
                    </a:lnT>
                    <a:lnB w="12700" cap="flat" cmpd="sng" algn="ctr">
                      <a:solidFill>
                        <a:srgbClr val="000000"/>
                      </a:solidFill>
                      <a:prstDash val="solid"/>
                      <a:round/>
                      <a:headEnd type="none" w="med" len="med"/>
                      <a:tailEnd type="none" w="med" len="med"/>
                    </a:lnB>
                    <a:solidFill>
                      <a:srgbClr val="FFFFCC"/>
                    </a:solidFill>
                  </a:tcPr>
                </a:tc>
                <a:tc>
                  <a:txBody>
                    <a:bodyPr/>
                    <a:lstStyle/>
                    <a:p>
                      <a:pPr marL="0" marR="0">
                        <a:spcBef>
                          <a:spcPts val="0"/>
                        </a:spcBef>
                        <a:spcAft>
                          <a:spcPts val="0"/>
                        </a:spcAft>
                      </a:pPr>
                      <a:r>
                        <a:rPr lang="en-US" sz="2000" dirty="0">
                          <a:latin typeface="+mn-lt"/>
                          <a:ea typeface="Times New Roman"/>
                          <a:cs typeface="Times New Roman"/>
                        </a:rPr>
                        <a:t/>
                      </a:r>
                      <a:br>
                        <a:rPr lang="en-US" sz="2000" dirty="0">
                          <a:latin typeface="+mn-lt"/>
                          <a:ea typeface="Times New Roman"/>
                          <a:cs typeface="Times New Roman"/>
                        </a:rPr>
                      </a:br>
                      <a:r>
                        <a:rPr lang="en-US" sz="2000" dirty="0">
                          <a:latin typeface="+mn-lt"/>
                          <a:ea typeface="Times New Roman"/>
                          <a:cs typeface="Times New Roman"/>
                        </a:rPr>
                        <a:t>Seek and acquire work-related information </a:t>
                      </a:r>
                      <a:endParaRPr lang="en-US" sz="2800" dirty="0">
                        <a:latin typeface="+mn-lt"/>
                        <a:ea typeface="Calibri"/>
                        <a:cs typeface="Times New Roman"/>
                      </a:endParaRPr>
                    </a:p>
                  </a:txBody>
                  <a:tcPr marL="47624" marR="47624" marT="47623" marB="47623">
                    <a:lnL>
                      <a:noFill/>
                    </a:lnL>
                    <a:lnR>
                      <a:noFill/>
                    </a:lnR>
                    <a:lnT>
                      <a:noFill/>
                    </a:lnT>
                    <a:lnB w="12700" cap="flat" cmpd="sng" algn="ctr">
                      <a:solidFill>
                        <a:srgbClr val="000000"/>
                      </a:solidFill>
                      <a:prstDash val="solid"/>
                      <a:round/>
                      <a:headEnd type="none" w="med" len="med"/>
                      <a:tailEnd type="none" w="med" len="med"/>
                    </a:lnB>
                    <a:solidFill>
                      <a:srgbClr val="FFFFCC"/>
                    </a:solidFill>
                  </a:tcPr>
                </a:tc>
                <a:tc>
                  <a:txBody>
                    <a:bodyPr/>
                    <a:lstStyle/>
                    <a:p>
                      <a:pPr marL="0" marR="0">
                        <a:spcBef>
                          <a:spcPts val="0"/>
                        </a:spcBef>
                        <a:spcAft>
                          <a:spcPts val="0"/>
                        </a:spcAft>
                      </a:pPr>
                      <a:r>
                        <a:rPr lang="en-US" sz="2000" dirty="0">
                          <a:latin typeface="+mn-lt"/>
                          <a:ea typeface="Times New Roman"/>
                          <a:cs typeface="Times New Roman"/>
                        </a:rPr>
                        <a:t/>
                      </a:r>
                      <a:br>
                        <a:rPr lang="en-US" sz="2000" dirty="0">
                          <a:latin typeface="+mn-lt"/>
                          <a:ea typeface="Times New Roman"/>
                          <a:cs typeface="Times New Roman"/>
                        </a:rPr>
                      </a:br>
                      <a:r>
                        <a:rPr lang="en-US" sz="2000" dirty="0">
                          <a:latin typeface="+mn-lt"/>
                          <a:ea typeface="Times New Roman"/>
                          <a:cs typeface="Times New Roman"/>
                        </a:rPr>
                        <a:t>Scan/read trade press,  periodicals, reports; attend seminars and</a:t>
                      </a:r>
                      <a:br>
                        <a:rPr lang="en-US" sz="2000" dirty="0">
                          <a:latin typeface="+mn-lt"/>
                          <a:ea typeface="Times New Roman"/>
                          <a:cs typeface="Times New Roman"/>
                        </a:rPr>
                      </a:br>
                      <a:r>
                        <a:rPr lang="en-US" sz="2000" dirty="0">
                          <a:latin typeface="+mn-lt"/>
                          <a:ea typeface="Times New Roman"/>
                          <a:cs typeface="Times New Roman"/>
                        </a:rPr>
                        <a:t>training; maintain personal contacts</a:t>
                      </a:r>
                      <a:endParaRPr lang="en-US" sz="2800" dirty="0">
                        <a:latin typeface="+mn-lt"/>
                        <a:ea typeface="Calibri"/>
                        <a:cs typeface="Times New Roman"/>
                      </a:endParaRPr>
                    </a:p>
                  </a:txBody>
                  <a:tcPr marL="47624" marR="47624" marT="47623" marB="47623">
                    <a:lnL>
                      <a:noFill/>
                    </a:lnL>
                    <a:lnR>
                      <a:noFill/>
                    </a:lnR>
                    <a:lnT>
                      <a:noFill/>
                    </a:lnT>
                    <a:lnB w="12700" cap="flat" cmpd="sng" algn="ctr">
                      <a:solidFill>
                        <a:srgbClr val="000000"/>
                      </a:solidFill>
                      <a:prstDash val="solid"/>
                      <a:round/>
                      <a:headEnd type="none" w="med" len="med"/>
                      <a:tailEnd type="none" w="med" len="med"/>
                    </a:lnB>
                    <a:solidFill>
                      <a:srgbClr val="FFFFCC"/>
                    </a:solidFill>
                  </a:tcPr>
                </a:tc>
                <a:extLst>
                  <a:ext uri="{0D108BD9-81ED-4DB2-BD59-A6C34878D82A}">
                    <a16:rowId xmlns:a16="http://schemas.microsoft.com/office/drawing/2014/main" val="10001"/>
                  </a:ext>
                </a:extLst>
              </a:tr>
              <a:tr h="1990333">
                <a:tc>
                  <a:txBody>
                    <a:bodyPr/>
                    <a:lstStyle/>
                    <a:p>
                      <a:pPr marL="0" marR="0">
                        <a:spcBef>
                          <a:spcPts val="0"/>
                        </a:spcBef>
                        <a:spcAft>
                          <a:spcPts val="0"/>
                        </a:spcAft>
                      </a:pPr>
                      <a:r>
                        <a:rPr lang="en-US" sz="3200" dirty="0">
                          <a:latin typeface="+mn-lt"/>
                          <a:ea typeface="Times New Roman"/>
                          <a:cs typeface="Times New Roman"/>
                        </a:rPr>
                        <a:t> </a:t>
                      </a:r>
                      <a:endParaRPr lang="en-US" sz="2800" dirty="0">
                        <a:latin typeface="+mn-lt"/>
                        <a:ea typeface="Calibri"/>
                        <a:cs typeface="Times New Roman"/>
                      </a:endParaRPr>
                    </a:p>
                  </a:txBody>
                  <a:tcPr marL="47624" marR="47624" marT="47623" marB="47623">
                    <a:lnL>
                      <a:noFill/>
                    </a:lnL>
                    <a:lnR>
                      <a:noFill/>
                    </a:lnR>
                    <a:lnT>
                      <a:noFill/>
                    </a:lnT>
                    <a:lnB>
                      <a:noFill/>
                    </a:lnB>
                    <a:solidFill>
                      <a:srgbClr val="FFFFCC"/>
                    </a:solidFill>
                  </a:tcPr>
                </a:tc>
                <a:tc>
                  <a:txBody>
                    <a:bodyPr/>
                    <a:lstStyle/>
                    <a:p>
                      <a:pPr marL="0" marR="0">
                        <a:spcBef>
                          <a:spcPts val="0"/>
                        </a:spcBef>
                        <a:spcAft>
                          <a:spcPts val="0"/>
                        </a:spcAft>
                      </a:pPr>
                      <a:r>
                        <a:rPr lang="en-US" sz="2000" dirty="0">
                          <a:latin typeface="+mn-lt"/>
                          <a:ea typeface="Times New Roman"/>
                          <a:cs typeface="Times New Roman"/>
                        </a:rPr>
                        <a:t/>
                      </a:r>
                      <a:br>
                        <a:rPr lang="en-US" sz="2000" dirty="0">
                          <a:latin typeface="+mn-lt"/>
                          <a:ea typeface="Times New Roman"/>
                          <a:cs typeface="Times New Roman"/>
                        </a:rPr>
                      </a:br>
                      <a:r>
                        <a:rPr lang="en-US" sz="2000" i="1" dirty="0">
                          <a:latin typeface="+mn-lt"/>
                          <a:ea typeface="Times New Roman"/>
                          <a:cs typeface="Times New Roman"/>
                        </a:rPr>
                        <a:t>Disseminator</a:t>
                      </a:r>
                      <a:endParaRPr lang="en-US" sz="2800" dirty="0">
                        <a:latin typeface="+mn-lt"/>
                        <a:ea typeface="Calibri"/>
                        <a:cs typeface="Times New Roman"/>
                      </a:endParaRPr>
                    </a:p>
                  </a:txBody>
                  <a:tcPr marL="47624" marR="47624" marT="47623" marB="47623">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marL="0" marR="0">
                        <a:spcBef>
                          <a:spcPts val="0"/>
                        </a:spcBef>
                        <a:spcAft>
                          <a:spcPts val="0"/>
                        </a:spcAft>
                      </a:pPr>
                      <a:r>
                        <a:rPr lang="en-US" sz="2000" dirty="0">
                          <a:latin typeface="+mn-lt"/>
                          <a:ea typeface="Times New Roman"/>
                          <a:cs typeface="Times New Roman"/>
                        </a:rPr>
                        <a:t/>
                      </a:r>
                      <a:br>
                        <a:rPr lang="en-US" sz="2000" dirty="0">
                          <a:latin typeface="+mn-lt"/>
                          <a:ea typeface="Times New Roman"/>
                          <a:cs typeface="Times New Roman"/>
                        </a:rPr>
                      </a:br>
                      <a:r>
                        <a:rPr lang="en-US" sz="2000" dirty="0">
                          <a:latin typeface="+mn-lt"/>
                          <a:ea typeface="Times New Roman"/>
                          <a:cs typeface="Times New Roman"/>
                        </a:rPr>
                        <a:t>Communicate/ disseminate information to others within the organization</a:t>
                      </a:r>
                      <a:endParaRPr lang="en-US" sz="2800" dirty="0">
                        <a:latin typeface="+mn-lt"/>
                        <a:ea typeface="Calibri"/>
                        <a:cs typeface="Times New Roman"/>
                      </a:endParaRPr>
                    </a:p>
                  </a:txBody>
                  <a:tcPr marL="47624" marR="47624" marT="47623" marB="47623">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marL="0" marR="0">
                        <a:spcBef>
                          <a:spcPts val="0"/>
                        </a:spcBef>
                        <a:spcAft>
                          <a:spcPts val="0"/>
                        </a:spcAft>
                      </a:pPr>
                      <a:r>
                        <a:rPr lang="en-US" sz="2000" dirty="0">
                          <a:latin typeface="+mn-lt"/>
                          <a:ea typeface="Times New Roman"/>
                          <a:cs typeface="Times New Roman"/>
                        </a:rPr>
                        <a:t/>
                      </a:r>
                      <a:br>
                        <a:rPr lang="en-US" sz="2000" dirty="0">
                          <a:latin typeface="+mn-lt"/>
                          <a:ea typeface="Times New Roman"/>
                          <a:cs typeface="Times New Roman"/>
                        </a:rPr>
                      </a:br>
                      <a:r>
                        <a:rPr lang="en-US" sz="2000" dirty="0">
                          <a:latin typeface="+mn-lt"/>
                          <a:ea typeface="Times New Roman"/>
                          <a:cs typeface="Times New Roman"/>
                        </a:rPr>
                        <a:t>Send memos and reports; inform staffers and subordinates of decisions </a:t>
                      </a:r>
                      <a:endParaRPr lang="en-US" sz="2800" dirty="0">
                        <a:latin typeface="+mn-lt"/>
                        <a:ea typeface="Calibri"/>
                        <a:cs typeface="Times New Roman"/>
                      </a:endParaRPr>
                    </a:p>
                  </a:txBody>
                  <a:tcPr marL="47624" marR="47624" marT="47623" marB="47623">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extLst>
                  <a:ext uri="{0D108BD9-81ED-4DB2-BD59-A6C34878D82A}">
                    <a16:rowId xmlns:a16="http://schemas.microsoft.com/office/drawing/2014/main" val="10002"/>
                  </a:ext>
                </a:extLst>
              </a:tr>
              <a:tr h="1990333">
                <a:tc>
                  <a:txBody>
                    <a:bodyPr/>
                    <a:lstStyle/>
                    <a:p>
                      <a:pPr marL="0" marR="0">
                        <a:spcBef>
                          <a:spcPts val="0"/>
                        </a:spcBef>
                        <a:spcAft>
                          <a:spcPts val="0"/>
                        </a:spcAft>
                      </a:pPr>
                      <a:r>
                        <a:rPr lang="en-US" sz="3200">
                          <a:latin typeface="+mn-lt"/>
                          <a:ea typeface="Times New Roman"/>
                          <a:cs typeface="Times New Roman"/>
                        </a:rPr>
                        <a:t> </a:t>
                      </a:r>
                      <a:endParaRPr lang="en-US" sz="2800">
                        <a:latin typeface="+mn-lt"/>
                        <a:ea typeface="Calibri"/>
                        <a:cs typeface="Times New Roman"/>
                      </a:endParaRPr>
                    </a:p>
                  </a:txBody>
                  <a:tcPr marL="47624" marR="47624" marT="47623" marB="47623">
                    <a:lnL>
                      <a:noFill/>
                    </a:lnL>
                    <a:lnR>
                      <a:noFill/>
                    </a:lnR>
                    <a:lnT>
                      <a:noFill/>
                    </a:lnT>
                    <a:lnB>
                      <a:noFill/>
                    </a:lnB>
                    <a:solidFill>
                      <a:srgbClr val="FFFFCC"/>
                    </a:solidFill>
                  </a:tcPr>
                </a:tc>
                <a:tc>
                  <a:txBody>
                    <a:bodyPr/>
                    <a:lstStyle/>
                    <a:p>
                      <a:pPr marL="0" marR="0">
                        <a:spcBef>
                          <a:spcPts val="0"/>
                        </a:spcBef>
                        <a:spcAft>
                          <a:spcPts val="0"/>
                        </a:spcAft>
                      </a:pPr>
                      <a:r>
                        <a:rPr lang="en-US" sz="2000">
                          <a:latin typeface="+mn-lt"/>
                          <a:ea typeface="Times New Roman"/>
                          <a:cs typeface="Times New Roman"/>
                        </a:rPr>
                        <a:t/>
                      </a:r>
                      <a:br>
                        <a:rPr lang="en-US" sz="2000">
                          <a:latin typeface="+mn-lt"/>
                          <a:ea typeface="Times New Roman"/>
                          <a:cs typeface="Times New Roman"/>
                        </a:rPr>
                      </a:br>
                      <a:r>
                        <a:rPr lang="en-US" sz="2000" i="1">
                          <a:latin typeface="+mn-lt"/>
                          <a:ea typeface="Times New Roman"/>
                          <a:cs typeface="Times New Roman"/>
                        </a:rPr>
                        <a:t>Spokesperson</a:t>
                      </a:r>
                      <a:endParaRPr lang="en-US" sz="2800">
                        <a:latin typeface="+mn-lt"/>
                        <a:ea typeface="Calibri"/>
                        <a:cs typeface="Times New Roman"/>
                      </a:endParaRPr>
                    </a:p>
                  </a:txBody>
                  <a:tcPr marL="47624" marR="47624" marT="47623" marB="47623">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marL="0" marR="0">
                        <a:spcBef>
                          <a:spcPts val="0"/>
                        </a:spcBef>
                        <a:spcAft>
                          <a:spcPts val="0"/>
                        </a:spcAft>
                      </a:pPr>
                      <a:r>
                        <a:rPr lang="en-US" sz="2000" dirty="0">
                          <a:latin typeface="+mn-lt"/>
                          <a:ea typeface="Times New Roman"/>
                          <a:cs typeface="Times New Roman"/>
                        </a:rPr>
                        <a:t/>
                      </a:r>
                      <a:br>
                        <a:rPr lang="en-US" sz="2000" dirty="0">
                          <a:latin typeface="+mn-lt"/>
                          <a:ea typeface="Times New Roman"/>
                          <a:cs typeface="Times New Roman"/>
                        </a:rPr>
                      </a:br>
                      <a:r>
                        <a:rPr lang="en-US" sz="2000" dirty="0">
                          <a:latin typeface="+mn-lt"/>
                          <a:ea typeface="Times New Roman"/>
                          <a:cs typeface="Times New Roman"/>
                        </a:rPr>
                        <a:t>Communicate/transmit information to outsiders</a:t>
                      </a:r>
                      <a:endParaRPr lang="en-US" sz="2800" dirty="0">
                        <a:latin typeface="+mn-lt"/>
                        <a:ea typeface="Calibri"/>
                        <a:cs typeface="Times New Roman"/>
                      </a:endParaRPr>
                    </a:p>
                  </a:txBody>
                  <a:tcPr marL="47624" marR="47624" marT="47623" marB="47623">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marL="0" marR="0">
                        <a:spcBef>
                          <a:spcPts val="0"/>
                        </a:spcBef>
                        <a:spcAft>
                          <a:spcPts val="0"/>
                        </a:spcAft>
                      </a:pPr>
                      <a:r>
                        <a:rPr lang="en-US" sz="2000" dirty="0">
                          <a:latin typeface="+mn-lt"/>
                          <a:ea typeface="Times New Roman"/>
                          <a:cs typeface="Times New Roman"/>
                        </a:rPr>
                        <a:t/>
                      </a:r>
                      <a:br>
                        <a:rPr lang="en-US" sz="2000" dirty="0">
                          <a:latin typeface="+mn-lt"/>
                          <a:ea typeface="Times New Roman"/>
                          <a:cs typeface="Times New Roman"/>
                        </a:rPr>
                      </a:br>
                      <a:r>
                        <a:rPr lang="en-US" sz="2000" dirty="0">
                          <a:latin typeface="+mn-lt"/>
                          <a:ea typeface="Times New Roman"/>
                          <a:cs typeface="Times New Roman"/>
                        </a:rPr>
                        <a:t>Pass on memos, reports and informational materials; participate in</a:t>
                      </a:r>
                      <a:br>
                        <a:rPr lang="en-US" sz="2000" dirty="0">
                          <a:latin typeface="+mn-lt"/>
                          <a:ea typeface="Times New Roman"/>
                          <a:cs typeface="Times New Roman"/>
                        </a:rPr>
                      </a:br>
                      <a:r>
                        <a:rPr lang="en-US" sz="2000" dirty="0">
                          <a:latin typeface="+mn-lt"/>
                          <a:ea typeface="Times New Roman"/>
                          <a:cs typeface="Times New Roman"/>
                        </a:rPr>
                        <a:t>conferences/meetings and report progress </a:t>
                      </a:r>
                      <a:endParaRPr lang="en-US" sz="2800" dirty="0">
                        <a:latin typeface="+mn-lt"/>
                        <a:ea typeface="Calibri"/>
                        <a:cs typeface="Times New Roman"/>
                      </a:endParaRPr>
                    </a:p>
                  </a:txBody>
                  <a:tcPr marL="47624" marR="47624" marT="47623" marB="47623">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018153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endParaRPr lang="en-US" altLang="en-US"/>
          </a:p>
        </p:txBody>
      </p:sp>
      <p:graphicFrame>
        <p:nvGraphicFramePr>
          <p:cNvPr id="5" name="Content Placeholder 4"/>
          <p:cNvGraphicFramePr>
            <a:graphicFrameLocks noGrp="1"/>
          </p:cNvGraphicFramePr>
          <p:nvPr>
            <p:ph idx="1"/>
          </p:nvPr>
        </p:nvGraphicFramePr>
        <p:xfrm>
          <a:off x="1524001" y="1"/>
          <a:ext cx="9144001" cy="6857999"/>
        </p:xfrm>
        <a:graphic>
          <a:graphicData uri="http://schemas.openxmlformats.org/drawingml/2006/table">
            <a:tbl>
              <a:tblPr/>
              <a:tblGrid>
                <a:gridCol w="2133601">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2087881">
                  <a:extLst>
                    <a:ext uri="{9D8B030D-6E8A-4147-A177-3AD203B41FA5}">
                      <a16:colId xmlns:a16="http://schemas.microsoft.com/office/drawing/2014/main" val="20002"/>
                    </a:ext>
                  </a:extLst>
                </a:gridCol>
                <a:gridCol w="3322319">
                  <a:extLst>
                    <a:ext uri="{9D8B030D-6E8A-4147-A177-3AD203B41FA5}">
                      <a16:colId xmlns:a16="http://schemas.microsoft.com/office/drawing/2014/main" val="20003"/>
                    </a:ext>
                  </a:extLst>
                </a:gridCol>
              </a:tblGrid>
              <a:tr h="2160348">
                <a:tc>
                  <a:txBody>
                    <a:bodyPr/>
                    <a:lstStyle/>
                    <a:p>
                      <a:pPr marL="0" marR="0">
                        <a:spcBef>
                          <a:spcPts val="0"/>
                        </a:spcBef>
                        <a:spcAft>
                          <a:spcPts val="0"/>
                        </a:spcAft>
                      </a:pPr>
                      <a:r>
                        <a:rPr lang="en-US" sz="2000" dirty="0">
                          <a:latin typeface="Verdana"/>
                          <a:ea typeface="Times New Roman"/>
                          <a:cs typeface="Times New Roman"/>
                        </a:rPr>
                        <a:t/>
                      </a:r>
                      <a:br>
                        <a:rPr lang="en-US" sz="2000" dirty="0">
                          <a:latin typeface="Verdana"/>
                          <a:ea typeface="Times New Roman"/>
                          <a:cs typeface="Times New Roman"/>
                        </a:rPr>
                      </a:br>
                      <a:r>
                        <a:rPr lang="en-US" sz="2000" b="1" dirty="0">
                          <a:latin typeface="Verdana"/>
                          <a:ea typeface="Times New Roman"/>
                          <a:cs typeface="Times New Roman"/>
                        </a:rPr>
                        <a:t>Interpersonal</a:t>
                      </a:r>
                    </a:p>
                    <a:p>
                      <a:pPr marL="0" marR="0">
                        <a:spcBef>
                          <a:spcPts val="0"/>
                        </a:spcBef>
                        <a:spcAft>
                          <a:spcPts val="0"/>
                        </a:spcAft>
                      </a:pPr>
                      <a:r>
                        <a:rPr lang="en-US" sz="2000" kern="1200" dirty="0">
                          <a:solidFill>
                            <a:schemeClr val="tx1"/>
                          </a:solidFill>
                          <a:latin typeface="+mn-lt"/>
                          <a:ea typeface="+mn-ea"/>
                          <a:cs typeface="+mn-cs"/>
                        </a:rPr>
                        <a:t>(managing through people)</a:t>
                      </a:r>
                      <a:endParaRPr lang="en-US" sz="2000" dirty="0">
                        <a:latin typeface="Calibri"/>
                        <a:ea typeface="Calibri"/>
                        <a:cs typeface="Times New Roman"/>
                      </a:endParaRPr>
                    </a:p>
                  </a:txBody>
                  <a:tcPr marL="47625" marR="47625" marT="47625" marB="47625">
                    <a:lnL>
                      <a:noFill/>
                    </a:lnL>
                    <a:lnR>
                      <a:noFill/>
                    </a:lnR>
                    <a:lnT>
                      <a:noFill/>
                    </a:lnT>
                    <a:lnB>
                      <a:noFill/>
                    </a:lnB>
                    <a:solidFill>
                      <a:srgbClr val="ECFFC4"/>
                    </a:solidFill>
                  </a:tcPr>
                </a:tc>
                <a:tc>
                  <a:txBody>
                    <a:bodyPr/>
                    <a:lstStyle/>
                    <a:p>
                      <a:pPr marL="0" marR="0">
                        <a:spcBef>
                          <a:spcPts val="0"/>
                        </a:spcBef>
                        <a:spcAft>
                          <a:spcPts val="0"/>
                        </a:spcAft>
                      </a:pPr>
                      <a:r>
                        <a:rPr lang="en-US" sz="2000">
                          <a:latin typeface="Verdana"/>
                          <a:ea typeface="Times New Roman"/>
                          <a:cs typeface="Times New Roman"/>
                        </a:rPr>
                        <a:t/>
                      </a:r>
                      <a:br>
                        <a:rPr lang="en-US" sz="2000">
                          <a:latin typeface="Verdana"/>
                          <a:ea typeface="Times New Roman"/>
                          <a:cs typeface="Times New Roman"/>
                        </a:rPr>
                      </a:br>
                      <a:r>
                        <a:rPr lang="en-US" sz="2000" i="1">
                          <a:latin typeface="Verdana"/>
                          <a:ea typeface="Times New Roman"/>
                          <a:cs typeface="Times New Roman"/>
                        </a:rPr>
                        <a:t>Figurehead</a:t>
                      </a:r>
                      <a:endParaRPr lang="en-US" sz="2800">
                        <a:latin typeface="Calibri"/>
                        <a:ea typeface="Calibri"/>
                        <a:cs typeface="Times New Roman"/>
                      </a:endParaRPr>
                    </a:p>
                  </a:txBody>
                  <a:tcPr marL="47625" marR="47625" marT="47625" marB="47625">
                    <a:lnL>
                      <a:noFill/>
                    </a:lnL>
                    <a:lnR>
                      <a:noFill/>
                    </a:lnR>
                    <a:lnT>
                      <a:noFill/>
                    </a:lnT>
                    <a:lnB w="12700" cap="flat" cmpd="sng" algn="ctr">
                      <a:solidFill>
                        <a:srgbClr val="000000"/>
                      </a:solidFill>
                      <a:prstDash val="solid"/>
                      <a:round/>
                      <a:headEnd type="none" w="med" len="med"/>
                      <a:tailEnd type="none" w="med" len="med"/>
                    </a:lnB>
                    <a:solidFill>
                      <a:srgbClr val="ECFFC4"/>
                    </a:solidFill>
                  </a:tcPr>
                </a:tc>
                <a:tc>
                  <a:txBody>
                    <a:bodyPr/>
                    <a:lstStyle/>
                    <a:p>
                      <a:pPr marL="0" marR="0">
                        <a:spcBef>
                          <a:spcPts val="0"/>
                        </a:spcBef>
                        <a:spcAft>
                          <a:spcPts val="0"/>
                        </a:spcAft>
                      </a:pPr>
                      <a:r>
                        <a:rPr lang="en-US" sz="2000" dirty="0">
                          <a:latin typeface="Verdana"/>
                          <a:ea typeface="Times New Roman"/>
                          <a:cs typeface="Times New Roman"/>
                        </a:rPr>
                        <a:t/>
                      </a:r>
                      <a:br>
                        <a:rPr lang="en-US" sz="2000" dirty="0">
                          <a:latin typeface="Verdana"/>
                          <a:ea typeface="Times New Roman"/>
                          <a:cs typeface="Times New Roman"/>
                        </a:rPr>
                      </a:br>
                      <a:r>
                        <a:rPr lang="en-US" sz="2000" dirty="0">
                          <a:latin typeface="Verdana"/>
                          <a:ea typeface="Times New Roman"/>
                          <a:cs typeface="Times New Roman"/>
                        </a:rPr>
                        <a:t>Perform social and legal duties, act as symbolic leader </a:t>
                      </a:r>
                      <a:endParaRPr lang="en-US" sz="2800" dirty="0">
                        <a:latin typeface="Calibri"/>
                        <a:ea typeface="Calibri"/>
                        <a:cs typeface="Times New Roman"/>
                      </a:endParaRPr>
                    </a:p>
                  </a:txBody>
                  <a:tcPr marL="47625" marR="47625" marT="47625" marB="47625">
                    <a:lnL>
                      <a:noFill/>
                    </a:lnL>
                    <a:lnR>
                      <a:noFill/>
                    </a:lnR>
                    <a:lnT>
                      <a:noFill/>
                    </a:lnT>
                    <a:lnB w="12700" cap="flat" cmpd="sng" algn="ctr">
                      <a:solidFill>
                        <a:srgbClr val="000000"/>
                      </a:solidFill>
                      <a:prstDash val="solid"/>
                      <a:round/>
                      <a:headEnd type="none" w="med" len="med"/>
                      <a:tailEnd type="none" w="med" len="med"/>
                    </a:lnB>
                    <a:solidFill>
                      <a:srgbClr val="ECFFC4"/>
                    </a:solidFill>
                  </a:tcPr>
                </a:tc>
                <a:tc>
                  <a:txBody>
                    <a:bodyPr/>
                    <a:lstStyle/>
                    <a:p>
                      <a:pPr marL="0" marR="0">
                        <a:spcBef>
                          <a:spcPts val="0"/>
                        </a:spcBef>
                        <a:spcAft>
                          <a:spcPts val="0"/>
                        </a:spcAft>
                      </a:pPr>
                      <a:r>
                        <a:rPr lang="en-US" sz="2000" dirty="0">
                          <a:latin typeface="Verdana"/>
                          <a:ea typeface="Times New Roman"/>
                          <a:cs typeface="Times New Roman"/>
                        </a:rPr>
                        <a:t/>
                      </a:r>
                      <a:br>
                        <a:rPr lang="en-US" sz="2000" dirty="0">
                          <a:latin typeface="Verdana"/>
                          <a:ea typeface="Times New Roman"/>
                          <a:cs typeface="Times New Roman"/>
                        </a:rPr>
                      </a:br>
                      <a:r>
                        <a:rPr lang="en-US" sz="2000" dirty="0">
                          <a:latin typeface="Verdana"/>
                          <a:ea typeface="Times New Roman"/>
                          <a:cs typeface="Times New Roman"/>
                        </a:rPr>
                        <a:t>Greet visitors, sign legal documents, attend ribbon cutting ceremonies,</a:t>
                      </a:r>
                      <a:br>
                        <a:rPr lang="en-US" sz="2000" dirty="0">
                          <a:latin typeface="Verdana"/>
                          <a:ea typeface="Times New Roman"/>
                          <a:cs typeface="Times New Roman"/>
                        </a:rPr>
                      </a:br>
                      <a:r>
                        <a:rPr lang="en-US" sz="2000" dirty="0">
                          <a:latin typeface="Verdana"/>
                          <a:ea typeface="Times New Roman"/>
                          <a:cs typeface="Times New Roman"/>
                        </a:rPr>
                        <a:t>host receptions, etc.</a:t>
                      </a:r>
                      <a:endParaRPr lang="en-US" sz="2800" dirty="0">
                        <a:latin typeface="Calibri"/>
                        <a:ea typeface="Calibri"/>
                        <a:cs typeface="Times New Roman"/>
                      </a:endParaRPr>
                    </a:p>
                  </a:txBody>
                  <a:tcPr marL="47625" marR="47625" marT="47625" marB="47625">
                    <a:lnL>
                      <a:noFill/>
                    </a:lnL>
                    <a:lnR>
                      <a:noFill/>
                    </a:lnR>
                    <a:lnT>
                      <a:noFill/>
                    </a:lnT>
                    <a:lnB w="12700" cap="flat" cmpd="sng" algn="ctr">
                      <a:solidFill>
                        <a:srgbClr val="000000"/>
                      </a:solidFill>
                      <a:prstDash val="solid"/>
                      <a:round/>
                      <a:headEnd type="none" w="med" len="med"/>
                      <a:tailEnd type="none" w="med" len="med"/>
                    </a:lnB>
                    <a:solidFill>
                      <a:srgbClr val="ECFFC4"/>
                    </a:solidFill>
                  </a:tcPr>
                </a:tc>
                <a:extLst>
                  <a:ext uri="{0D108BD9-81ED-4DB2-BD59-A6C34878D82A}">
                    <a16:rowId xmlns:a16="http://schemas.microsoft.com/office/drawing/2014/main" val="10000"/>
                  </a:ext>
                </a:extLst>
              </a:tr>
              <a:tr h="2153242">
                <a:tc>
                  <a:txBody>
                    <a:bodyPr/>
                    <a:lstStyle/>
                    <a:p>
                      <a:pPr marL="0" marR="0">
                        <a:spcBef>
                          <a:spcPts val="0"/>
                        </a:spcBef>
                        <a:spcAft>
                          <a:spcPts val="0"/>
                        </a:spcAft>
                      </a:pPr>
                      <a:r>
                        <a:rPr lang="en-US" sz="3200">
                          <a:latin typeface="Times New Roman"/>
                          <a:ea typeface="Times New Roman"/>
                          <a:cs typeface="Times New Roman"/>
                        </a:rPr>
                        <a:t> </a:t>
                      </a:r>
                      <a:endParaRPr lang="en-US" sz="2800">
                        <a:latin typeface="Calibri"/>
                        <a:ea typeface="Calibri"/>
                        <a:cs typeface="Times New Roman"/>
                      </a:endParaRPr>
                    </a:p>
                  </a:txBody>
                  <a:tcPr marL="47625" marR="47625" marT="47625" marB="47625">
                    <a:lnL>
                      <a:noFill/>
                    </a:lnL>
                    <a:lnR>
                      <a:noFill/>
                    </a:lnR>
                    <a:lnT>
                      <a:noFill/>
                    </a:lnT>
                    <a:lnB>
                      <a:noFill/>
                    </a:lnB>
                    <a:solidFill>
                      <a:srgbClr val="ECFFC4"/>
                    </a:solidFill>
                  </a:tcPr>
                </a:tc>
                <a:tc>
                  <a:txBody>
                    <a:bodyPr/>
                    <a:lstStyle/>
                    <a:p>
                      <a:pPr marL="0" marR="0">
                        <a:spcBef>
                          <a:spcPts val="0"/>
                        </a:spcBef>
                        <a:spcAft>
                          <a:spcPts val="0"/>
                        </a:spcAft>
                      </a:pPr>
                      <a:r>
                        <a:rPr lang="en-US" sz="2000">
                          <a:latin typeface="Verdana"/>
                          <a:ea typeface="Times New Roman"/>
                          <a:cs typeface="Times New Roman"/>
                        </a:rPr>
                        <a:t/>
                      </a:r>
                      <a:br>
                        <a:rPr lang="en-US" sz="2000">
                          <a:latin typeface="Verdana"/>
                          <a:ea typeface="Times New Roman"/>
                          <a:cs typeface="Times New Roman"/>
                        </a:rPr>
                      </a:br>
                      <a:r>
                        <a:rPr lang="en-US" sz="2000" i="1">
                          <a:latin typeface="Verdana"/>
                          <a:ea typeface="Times New Roman"/>
                          <a:cs typeface="Times New Roman"/>
                        </a:rPr>
                        <a:t>Leader</a:t>
                      </a:r>
                      <a:endParaRPr lang="en-US" sz="2800">
                        <a:latin typeface="Calibri"/>
                        <a:ea typeface="Calibri"/>
                        <a:cs typeface="Times New Roman"/>
                      </a:endParaRPr>
                    </a:p>
                  </a:txBody>
                  <a:tcPr marL="47625" marR="47625" marT="47625" marB="47625">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CFFC4"/>
                    </a:solidFill>
                  </a:tcPr>
                </a:tc>
                <a:tc>
                  <a:txBody>
                    <a:bodyPr/>
                    <a:lstStyle/>
                    <a:p>
                      <a:pPr marL="0" marR="0">
                        <a:spcBef>
                          <a:spcPts val="0"/>
                        </a:spcBef>
                        <a:spcAft>
                          <a:spcPts val="0"/>
                        </a:spcAft>
                      </a:pPr>
                      <a:r>
                        <a:rPr lang="en-US" sz="2000" dirty="0">
                          <a:latin typeface="Verdana"/>
                          <a:ea typeface="Times New Roman"/>
                          <a:cs typeface="Times New Roman"/>
                        </a:rPr>
                        <a:t/>
                      </a:r>
                      <a:br>
                        <a:rPr lang="en-US" sz="2000" dirty="0">
                          <a:latin typeface="Verdana"/>
                          <a:ea typeface="Times New Roman"/>
                          <a:cs typeface="Times New Roman"/>
                        </a:rPr>
                      </a:br>
                      <a:r>
                        <a:rPr lang="en-US" sz="2000" dirty="0">
                          <a:latin typeface="Verdana"/>
                          <a:ea typeface="Times New Roman"/>
                          <a:cs typeface="Times New Roman"/>
                        </a:rPr>
                        <a:t>Direct and motivate subordinates, select and train employees</a:t>
                      </a:r>
                      <a:endParaRPr lang="en-US" sz="2800" dirty="0">
                        <a:latin typeface="Calibri"/>
                        <a:ea typeface="Calibri"/>
                        <a:cs typeface="Times New Roman"/>
                      </a:endParaRPr>
                    </a:p>
                  </a:txBody>
                  <a:tcPr marL="47625" marR="47625" marT="47625" marB="47625">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CFFC4"/>
                    </a:solidFill>
                  </a:tcPr>
                </a:tc>
                <a:tc>
                  <a:txBody>
                    <a:bodyPr/>
                    <a:lstStyle/>
                    <a:p>
                      <a:pPr marL="0" marR="0">
                        <a:spcBef>
                          <a:spcPts val="0"/>
                        </a:spcBef>
                        <a:spcAft>
                          <a:spcPts val="0"/>
                        </a:spcAft>
                      </a:pPr>
                      <a:r>
                        <a:rPr lang="en-US" sz="2000">
                          <a:latin typeface="Verdana"/>
                          <a:ea typeface="Times New Roman"/>
                          <a:cs typeface="Times New Roman"/>
                        </a:rPr>
                        <a:t/>
                      </a:r>
                      <a:br>
                        <a:rPr lang="en-US" sz="2000">
                          <a:latin typeface="Verdana"/>
                          <a:ea typeface="Times New Roman"/>
                          <a:cs typeface="Times New Roman"/>
                        </a:rPr>
                      </a:br>
                      <a:r>
                        <a:rPr lang="en-US" sz="2000">
                          <a:latin typeface="Verdana"/>
                          <a:ea typeface="Times New Roman"/>
                          <a:cs typeface="Times New Roman"/>
                        </a:rPr>
                        <a:t>Includes almost all interactions with subordinates</a:t>
                      </a:r>
                      <a:endParaRPr lang="en-US" sz="2800">
                        <a:latin typeface="Calibri"/>
                        <a:ea typeface="Calibri"/>
                        <a:cs typeface="Times New Roman"/>
                      </a:endParaRPr>
                    </a:p>
                  </a:txBody>
                  <a:tcPr marL="47625" marR="47625" marT="47625" marB="47625">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CFFC4"/>
                    </a:solidFill>
                  </a:tcPr>
                </a:tc>
                <a:extLst>
                  <a:ext uri="{0D108BD9-81ED-4DB2-BD59-A6C34878D82A}">
                    <a16:rowId xmlns:a16="http://schemas.microsoft.com/office/drawing/2014/main" val="10001"/>
                  </a:ext>
                </a:extLst>
              </a:tr>
              <a:tr h="2544409">
                <a:tc>
                  <a:txBody>
                    <a:bodyPr/>
                    <a:lstStyle/>
                    <a:p>
                      <a:pPr marL="0" marR="0">
                        <a:spcBef>
                          <a:spcPts val="0"/>
                        </a:spcBef>
                        <a:spcAft>
                          <a:spcPts val="0"/>
                        </a:spcAft>
                      </a:pPr>
                      <a:r>
                        <a:rPr lang="en-US" sz="3200">
                          <a:latin typeface="Times New Roman"/>
                          <a:ea typeface="Times New Roman"/>
                          <a:cs typeface="Times New Roman"/>
                        </a:rPr>
                        <a:t> </a:t>
                      </a:r>
                      <a:endParaRPr lang="en-US" sz="2800">
                        <a:latin typeface="Calibri"/>
                        <a:ea typeface="Calibri"/>
                        <a:cs typeface="Times New Roman"/>
                      </a:endParaRPr>
                    </a:p>
                  </a:txBody>
                  <a:tcPr marL="47625" marR="47625" marT="47625" marB="47625">
                    <a:lnL>
                      <a:noFill/>
                    </a:lnL>
                    <a:lnR>
                      <a:noFill/>
                    </a:lnR>
                    <a:lnT>
                      <a:noFill/>
                    </a:lnT>
                    <a:lnB>
                      <a:noFill/>
                    </a:lnB>
                    <a:solidFill>
                      <a:srgbClr val="ECFFC4"/>
                    </a:solidFill>
                  </a:tcPr>
                </a:tc>
                <a:tc>
                  <a:txBody>
                    <a:bodyPr/>
                    <a:lstStyle/>
                    <a:p>
                      <a:pPr marL="0" marR="0">
                        <a:spcBef>
                          <a:spcPts val="0"/>
                        </a:spcBef>
                        <a:spcAft>
                          <a:spcPts val="0"/>
                        </a:spcAft>
                      </a:pPr>
                      <a:r>
                        <a:rPr lang="en-US" sz="2000">
                          <a:latin typeface="Verdana"/>
                          <a:ea typeface="Times New Roman"/>
                          <a:cs typeface="Times New Roman"/>
                        </a:rPr>
                        <a:t/>
                      </a:r>
                      <a:br>
                        <a:rPr lang="en-US" sz="2000">
                          <a:latin typeface="Verdana"/>
                          <a:ea typeface="Times New Roman"/>
                          <a:cs typeface="Times New Roman"/>
                        </a:rPr>
                      </a:br>
                      <a:r>
                        <a:rPr lang="en-US" sz="2000" i="1">
                          <a:latin typeface="Verdana"/>
                          <a:ea typeface="Times New Roman"/>
                          <a:cs typeface="Times New Roman"/>
                        </a:rPr>
                        <a:t>Liaison</a:t>
                      </a:r>
                      <a:endParaRPr lang="en-US" sz="2800">
                        <a:latin typeface="Calibri"/>
                        <a:ea typeface="Calibri"/>
                        <a:cs typeface="Times New Roman"/>
                      </a:endParaRPr>
                    </a:p>
                  </a:txBody>
                  <a:tcPr marL="47625" marR="47625" marT="47625" marB="47625">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CFFC4"/>
                    </a:solidFill>
                  </a:tcPr>
                </a:tc>
                <a:tc>
                  <a:txBody>
                    <a:bodyPr/>
                    <a:lstStyle/>
                    <a:p>
                      <a:pPr marL="0" marR="0">
                        <a:spcBef>
                          <a:spcPts val="0"/>
                        </a:spcBef>
                        <a:spcAft>
                          <a:spcPts val="0"/>
                        </a:spcAft>
                      </a:pPr>
                      <a:r>
                        <a:rPr lang="en-US" sz="2000">
                          <a:latin typeface="Verdana"/>
                          <a:ea typeface="Times New Roman"/>
                          <a:cs typeface="Times New Roman"/>
                        </a:rPr>
                        <a:t/>
                      </a:r>
                      <a:br>
                        <a:rPr lang="en-US" sz="2000">
                          <a:latin typeface="Verdana"/>
                          <a:ea typeface="Times New Roman"/>
                          <a:cs typeface="Times New Roman"/>
                        </a:rPr>
                      </a:br>
                      <a:r>
                        <a:rPr lang="en-US" sz="2000">
                          <a:latin typeface="Verdana"/>
                          <a:ea typeface="Times New Roman"/>
                          <a:cs typeface="Times New Roman"/>
                        </a:rPr>
                        <a:t>Establish and maintain contacts within and outside the organization</a:t>
                      </a:r>
                      <a:endParaRPr lang="en-US" sz="2800">
                        <a:latin typeface="Calibri"/>
                        <a:ea typeface="Calibri"/>
                        <a:cs typeface="Times New Roman"/>
                      </a:endParaRPr>
                    </a:p>
                  </a:txBody>
                  <a:tcPr marL="47625" marR="47625" marT="47625" marB="47625">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CFFC4"/>
                    </a:solidFill>
                  </a:tcPr>
                </a:tc>
                <a:tc>
                  <a:txBody>
                    <a:bodyPr/>
                    <a:lstStyle/>
                    <a:p>
                      <a:pPr marL="0" marR="0">
                        <a:spcBef>
                          <a:spcPts val="0"/>
                        </a:spcBef>
                        <a:spcAft>
                          <a:spcPts val="0"/>
                        </a:spcAft>
                      </a:pPr>
                      <a:r>
                        <a:rPr lang="en-US" sz="2000" dirty="0">
                          <a:latin typeface="Verdana"/>
                          <a:ea typeface="Times New Roman"/>
                          <a:cs typeface="Times New Roman"/>
                        </a:rPr>
                        <a:t/>
                      </a:r>
                      <a:br>
                        <a:rPr lang="en-US" sz="2000" dirty="0">
                          <a:latin typeface="Verdana"/>
                          <a:ea typeface="Times New Roman"/>
                          <a:cs typeface="Times New Roman"/>
                        </a:rPr>
                      </a:br>
                      <a:r>
                        <a:rPr lang="en-US" sz="2000" dirty="0">
                          <a:latin typeface="Verdana"/>
                          <a:ea typeface="Times New Roman"/>
                          <a:cs typeface="Times New Roman"/>
                        </a:rPr>
                        <a:t>Business correspondence, participation in meetings with representatives</a:t>
                      </a:r>
                      <a:br>
                        <a:rPr lang="en-US" sz="2000" dirty="0">
                          <a:latin typeface="Verdana"/>
                          <a:ea typeface="Times New Roman"/>
                          <a:cs typeface="Times New Roman"/>
                        </a:rPr>
                      </a:br>
                      <a:r>
                        <a:rPr lang="en-US" sz="2000" dirty="0">
                          <a:latin typeface="Verdana"/>
                          <a:ea typeface="Times New Roman"/>
                          <a:cs typeface="Times New Roman"/>
                        </a:rPr>
                        <a:t>of other divisions or organizations.  </a:t>
                      </a:r>
                      <a:endParaRPr lang="en-US" sz="2800" dirty="0">
                        <a:latin typeface="Calibri"/>
                        <a:ea typeface="Calibri"/>
                        <a:cs typeface="Times New Roman"/>
                      </a:endParaRPr>
                    </a:p>
                  </a:txBody>
                  <a:tcPr marL="47625" marR="47625" marT="47625" marB="47625">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CFFC4"/>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5449644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endParaRPr lang="en-US" altLang="en-US"/>
          </a:p>
        </p:txBody>
      </p:sp>
      <p:graphicFrame>
        <p:nvGraphicFramePr>
          <p:cNvPr id="5" name="Content Placeholder 4"/>
          <p:cNvGraphicFramePr>
            <a:graphicFrameLocks noGrp="1"/>
          </p:cNvGraphicFramePr>
          <p:nvPr>
            <p:ph idx="1"/>
          </p:nvPr>
        </p:nvGraphicFramePr>
        <p:xfrm>
          <a:off x="1524001" y="76200"/>
          <a:ext cx="9144001" cy="6705600"/>
        </p:xfrm>
        <a:graphic>
          <a:graphicData uri="http://schemas.openxmlformats.org/drawingml/2006/table">
            <a:tbl>
              <a:tblPr/>
              <a:tblGrid>
                <a:gridCol w="1737360">
                  <a:extLst>
                    <a:ext uri="{9D8B030D-6E8A-4147-A177-3AD203B41FA5}">
                      <a16:colId xmlns:a16="http://schemas.microsoft.com/office/drawing/2014/main" val="20000"/>
                    </a:ext>
                  </a:extLst>
                </a:gridCol>
                <a:gridCol w="1920241">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tblGrid>
              <a:tr h="1371599">
                <a:tc>
                  <a:txBody>
                    <a:bodyPr/>
                    <a:lstStyle/>
                    <a:p>
                      <a:pPr marL="0" marR="0">
                        <a:spcBef>
                          <a:spcPts val="0"/>
                        </a:spcBef>
                        <a:spcAft>
                          <a:spcPts val="0"/>
                        </a:spcAft>
                      </a:pPr>
                      <a:r>
                        <a:rPr lang="en-US" sz="2000" b="1" dirty="0">
                          <a:latin typeface="Verdana"/>
                          <a:ea typeface="Times New Roman"/>
                          <a:cs typeface="Times New Roman"/>
                        </a:rPr>
                        <a:t>Decisional</a:t>
                      </a:r>
                    </a:p>
                    <a:p>
                      <a:pPr marL="0" marR="0">
                        <a:spcBef>
                          <a:spcPts val="0"/>
                        </a:spcBef>
                        <a:spcAft>
                          <a:spcPts val="0"/>
                        </a:spcAft>
                      </a:pPr>
                      <a:r>
                        <a:rPr lang="en-US" sz="2000" kern="1200" dirty="0">
                          <a:solidFill>
                            <a:schemeClr val="tx1"/>
                          </a:solidFill>
                          <a:latin typeface="+mn-lt"/>
                          <a:ea typeface="+mn-ea"/>
                          <a:cs typeface="+mn-cs"/>
                        </a:rPr>
                        <a:t>(managing through action)</a:t>
                      </a:r>
                      <a:endParaRPr lang="en-US" sz="2000" dirty="0">
                        <a:latin typeface="Calibri"/>
                        <a:ea typeface="Calibri"/>
                        <a:cs typeface="Times New Roman"/>
                      </a:endParaRPr>
                    </a:p>
                  </a:txBody>
                  <a:tcPr marL="47625" marR="47625" marT="47625" marB="47625">
                    <a:lnL>
                      <a:noFill/>
                    </a:lnL>
                    <a:lnR>
                      <a:noFill/>
                    </a:lnR>
                    <a:lnT>
                      <a:noFill/>
                    </a:lnT>
                    <a:lnB>
                      <a:noFill/>
                    </a:lnB>
                    <a:solidFill>
                      <a:srgbClr val="FFE8E8"/>
                    </a:solidFill>
                  </a:tcPr>
                </a:tc>
                <a:tc>
                  <a:txBody>
                    <a:bodyPr/>
                    <a:lstStyle/>
                    <a:p>
                      <a:pPr marL="0" marR="0">
                        <a:spcBef>
                          <a:spcPts val="0"/>
                        </a:spcBef>
                        <a:spcAft>
                          <a:spcPts val="0"/>
                        </a:spcAft>
                      </a:pPr>
                      <a:r>
                        <a:rPr lang="en-US" sz="2000" i="1" dirty="0">
                          <a:latin typeface="Verdana"/>
                          <a:ea typeface="Times New Roman"/>
                          <a:cs typeface="Times New Roman"/>
                        </a:rPr>
                        <a:t>Entrepreneur </a:t>
                      </a:r>
                      <a:endParaRPr lang="en-US" sz="2000" dirty="0">
                        <a:latin typeface="Calibri"/>
                        <a:ea typeface="Calibri"/>
                        <a:cs typeface="Times New Roman"/>
                      </a:endParaRPr>
                    </a:p>
                  </a:txBody>
                  <a:tcPr marL="47625" marR="47625" marT="47625" marB="47625">
                    <a:lnL>
                      <a:noFill/>
                    </a:lnL>
                    <a:lnR>
                      <a:noFill/>
                    </a:lnR>
                    <a:lnT>
                      <a:noFill/>
                    </a:lnT>
                    <a:lnB w="12700" cap="flat" cmpd="sng" algn="ctr">
                      <a:solidFill>
                        <a:srgbClr val="000000"/>
                      </a:solidFill>
                      <a:prstDash val="solid"/>
                      <a:round/>
                      <a:headEnd type="none" w="med" len="med"/>
                      <a:tailEnd type="none" w="med" len="med"/>
                    </a:lnB>
                    <a:solidFill>
                      <a:srgbClr val="FFE8E8"/>
                    </a:solidFill>
                  </a:tcPr>
                </a:tc>
                <a:tc>
                  <a:txBody>
                    <a:bodyPr/>
                    <a:lstStyle/>
                    <a:p>
                      <a:pPr marL="0" marR="0">
                        <a:spcBef>
                          <a:spcPts val="0"/>
                        </a:spcBef>
                        <a:spcAft>
                          <a:spcPts val="0"/>
                        </a:spcAft>
                      </a:pPr>
                      <a:r>
                        <a:rPr lang="en-US" sz="2000" dirty="0">
                          <a:latin typeface="Verdana"/>
                          <a:ea typeface="Times New Roman"/>
                          <a:cs typeface="Times New Roman"/>
                        </a:rPr>
                        <a:t>Identify new ideas and initiate improvement projects</a:t>
                      </a:r>
                      <a:endParaRPr lang="en-US" sz="2000" dirty="0">
                        <a:latin typeface="Calibri"/>
                        <a:ea typeface="Calibri"/>
                        <a:cs typeface="Times New Roman"/>
                      </a:endParaRPr>
                    </a:p>
                  </a:txBody>
                  <a:tcPr marL="47625" marR="47625" marT="47625" marB="47625">
                    <a:lnL>
                      <a:noFill/>
                    </a:lnL>
                    <a:lnR>
                      <a:noFill/>
                    </a:lnR>
                    <a:lnT>
                      <a:noFill/>
                    </a:lnT>
                    <a:lnB w="12700" cap="flat" cmpd="sng" algn="ctr">
                      <a:solidFill>
                        <a:srgbClr val="000000"/>
                      </a:solidFill>
                      <a:prstDash val="solid"/>
                      <a:round/>
                      <a:headEnd type="none" w="med" len="med"/>
                      <a:tailEnd type="none" w="med" len="med"/>
                    </a:lnB>
                    <a:solidFill>
                      <a:srgbClr val="FFE8E8"/>
                    </a:solidFill>
                  </a:tcPr>
                </a:tc>
                <a:tc>
                  <a:txBody>
                    <a:bodyPr/>
                    <a:lstStyle/>
                    <a:p>
                      <a:pPr marL="0" marR="0">
                        <a:spcBef>
                          <a:spcPts val="0"/>
                        </a:spcBef>
                        <a:spcAft>
                          <a:spcPts val="0"/>
                        </a:spcAft>
                      </a:pPr>
                      <a:r>
                        <a:rPr lang="en-US" sz="2000" dirty="0">
                          <a:latin typeface="Verdana"/>
                          <a:ea typeface="Times New Roman"/>
                          <a:cs typeface="Times New Roman"/>
                        </a:rPr>
                        <a:t>Implement innovations; Plan for the future</a:t>
                      </a:r>
                      <a:br>
                        <a:rPr lang="en-US" sz="2000" dirty="0">
                          <a:latin typeface="Verdana"/>
                          <a:ea typeface="Times New Roman"/>
                          <a:cs typeface="Times New Roman"/>
                        </a:rPr>
                      </a:br>
                      <a:endParaRPr lang="en-US" sz="2000" dirty="0">
                        <a:latin typeface="Calibri"/>
                        <a:ea typeface="Calibri"/>
                        <a:cs typeface="Times New Roman"/>
                      </a:endParaRPr>
                    </a:p>
                  </a:txBody>
                  <a:tcPr marL="47625" marR="47625" marT="47625" marB="47625">
                    <a:lnL>
                      <a:noFill/>
                    </a:lnL>
                    <a:lnR>
                      <a:noFill/>
                    </a:lnR>
                    <a:lnT>
                      <a:noFill/>
                    </a:lnT>
                    <a:lnB w="12700" cap="flat" cmpd="sng" algn="ctr">
                      <a:solidFill>
                        <a:srgbClr val="000000"/>
                      </a:solidFill>
                      <a:prstDash val="solid"/>
                      <a:round/>
                      <a:headEnd type="none" w="med" len="med"/>
                      <a:tailEnd type="none" w="med" len="med"/>
                    </a:lnB>
                    <a:solidFill>
                      <a:srgbClr val="FFE8E8"/>
                    </a:solidFill>
                  </a:tcPr>
                </a:tc>
                <a:extLst>
                  <a:ext uri="{0D108BD9-81ED-4DB2-BD59-A6C34878D82A}">
                    <a16:rowId xmlns:a16="http://schemas.microsoft.com/office/drawing/2014/main" val="10000"/>
                  </a:ext>
                </a:extLst>
              </a:tr>
              <a:tr h="2005514">
                <a:tc>
                  <a:txBody>
                    <a:bodyPr/>
                    <a:lstStyle/>
                    <a:p>
                      <a:pPr marL="0" marR="0">
                        <a:spcBef>
                          <a:spcPts val="0"/>
                        </a:spcBef>
                        <a:spcAft>
                          <a:spcPts val="0"/>
                        </a:spcAft>
                      </a:pPr>
                      <a:r>
                        <a:rPr lang="en-US" sz="2000" dirty="0">
                          <a:latin typeface="Times New Roman"/>
                          <a:ea typeface="Times New Roman"/>
                          <a:cs typeface="Times New Roman"/>
                        </a:rPr>
                        <a:t> </a:t>
                      </a:r>
                      <a:endParaRPr lang="en-US" sz="2000" dirty="0">
                        <a:latin typeface="Calibri"/>
                        <a:ea typeface="Calibri"/>
                        <a:cs typeface="Times New Roman"/>
                      </a:endParaRPr>
                    </a:p>
                  </a:txBody>
                  <a:tcPr marL="47625" marR="47625" marT="47625" marB="47625">
                    <a:lnL>
                      <a:noFill/>
                    </a:lnL>
                    <a:lnR>
                      <a:noFill/>
                    </a:lnR>
                    <a:lnT>
                      <a:noFill/>
                    </a:lnT>
                    <a:lnB>
                      <a:noFill/>
                    </a:lnB>
                    <a:solidFill>
                      <a:srgbClr val="FFE8E8"/>
                    </a:solidFill>
                  </a:tcPr>
                </a:tc>
                <a:tc>
                  <a:txBody>
                    <a:bodyPr/>
                    <a:lstStyle/>
                    <a:p>
                      <a:pPr marL="0" marR="0">
                        <a:spcBef>
                          <a:spcPts val="0"/>
                        </a:spcBef>
                        <a:spcAft>
                          <a:spcPts val="0"/>
                        </a:spcAft>
                      </a:pPr>
                      <a:r>
                        <a:rPr lang="en-US" sz="2000" dirty="0">
                          <a:latin typeface="Verdana"/>
                          <a:ea typeface="Times New Roman"/>
                          <a:cs typeface="Times New Roman"/>
                        </a:rPr>
                        <a:t/>
                      </a:r>
                      <a:br>
                        <a:rPr lang="en-US" sz="2000" dirty="0">
                          <a:latin typeface="Verdana"/>
                          <a:ea typeface="Times New Roman"/>
                          <a:cs typeface="Times New Roman"/>
                        </a:rPr>
                      </a:br>
                      <a:r>
                        <a:rPr lang="en-US" sz="2000" i="1" dirty="0">
                          <a:latin typeface="Verdana"/>
                          <a:ea typeface="Times New Roman"/>
                          <a:cs typeface="Times New Roman"/>
                        </a:rPr>
                        <a:t>Disturbance Handler</a:t>
                      </a:r>
                      <a:endParaRPr lang="en-US" sz="2000" dirty="0">
                        <a:latin typeface="Calibri"/>
                        <a:ea typeface="Calibri"/>
                        <a:cs typeface="Times New Roman"/>
                      </a:endParaRPr>
                    </a:p>
                  </a:txBody>
                  <a:tcPr marL="47625" marR="47625" marT="47625" marB="47625">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8E8"/>
                    </a:solidFill>
                  </a:tcPr>
                </a:tc>
                <a:tc>
                  <a:txBody>
                    <a:bodyPr/>
                    <a:lstStyle/>
                    <a:p>
                      <a:pPr marL="0" marR="0">
                        <a:spcBef>
                          <a:spcPts val="0"/>
                        </a:spcBef>
                        <a:spcAft>
                          <a:spcPts val="0"/>
                        </a:spcAft>
                      </a:pPr>
                      <a:r>
                        <a:rPr lang="en-US" sz="2000" dirty="0">
                          <a:latin typeface="Verdana"/>
                          <a:ea typeface="Times New Roman"/>
                          <a:cs typeface="Times New Roman"/>
                        </a:rPr>
                        <a:t/>
                      </a:r>
                      <a:br>
                        <a:rPr lang="en-US" sz="2000" dirty="0">
                          <a:latin typeface="Verdana"/>
                          <a:ea typeface="Times New Roman"/>
                          <a:cs typeface="Times New Roman"/>
                        </a:rPr>
                      </a:br>
                      <a:r>
                        <a:rPr lang="en-US" sz="2000" dirty="0">
                          <a:latin typeface="Verdana"/>
                          <a:ea typeface="Times New Roman"/>
                          <a:cs typeface="Times New Roman"/>
                        </a:rPr>
                        <a:t>Deals with disputes or problems and takes corrective action</a:t>
                      </a:r>
                      <a:endParaRPr lang="en-US" sz="2000" dirty="0">
                        <a:latin typeface="Calibri"/>
                        <a:ea typeface="Calibri"/>
                        <a:cs typeface="Times New Roman"/>
                      </a:endParaRPr>
                    </a:p>
                  </a:txBody>
                  <a:tcPr marL="47625" marR="47625" marT="47625" marB="47625">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8E8"/>
                    </a:solidFill>
                  </a:tcPr>
                </a:tc>
                <a:tc>
                  <a:txBody>
                    <a:bodyPr/>
                    <a:lstStyle/>
                    <a:p>
                      <a:pPr marL="0" marR="0">
                        <a:spcBef>
                          <a:spcPts val="0"/>
                        </a:spcBef>
                        <a:spcAft>
                          <a:spcPts val="0"/>
                        </a:spcAft>
                      </a:pPr>
                      <a:r>
                        <a:rPr lang="en-US" sz="2000" dirty="0">
                          <a:latin typeface="Verdana"/>
                          <a:ea typeface="Times New Roman"/>
                          <a:cs typeface="Times New Roman"/>
                        </a:rPr>
                        <a:t/>
                      </a:r>
                      <a:br>
                        <a:rPr lang="en-US" sz="2000" dirty="0">
                          <a:latin typeface="Verdana"/>
                          <a:ea typeface="Times New Roman"/>
                          <a:cs typeface="Times New Roman"/>
                        </a:rPr>
                      </a:br>
                      <a:r>
                        <a:rPr lang="en-US" sz="2000" dirty="0">
                          <a:latin typeface="Verdana"/>
                          <a:ea typeface="Times New Roman"/>
                          <a:cs typeface="Times New Roman"/>
                        </a:rPr>
                        <a:t>Settle conflicts between subordinates; Choose strategic alternatives;</a:t>
                      </a:r>
                      <a:br>
                        <a:rPr lang="en-US" sz="2000" dirty="0">
                          <a:latin typeface="Verdana"/>
                          <a:ea typeface="Times New Roman"/>
                          <a:cs typeface="Times New Roman"/>
                        </a:rPr>
                      </a:br>
                      <a:r>
                        <a:rPr lang="en-US" sz="2000" dirty="0">
                          <a:latin typeface="Verdana"/>
                          <a:ea typeface="Times New Roman"/>
                          <a:cs typeface="Times New Roman"/>
                        </a:rPr>
                        <a:t> Overcome crisis situations</a:t>
                      </a:r>
                      <a:endParaRPr lang="en-US" sz="2000" dirty="0">
                        <a:latin typeface="Calibri"/>
                        <a:ea typeface="Calibri"/>
                        <a:cs typeface="Times New Roman"/>
                      </a:endParaRPr>
                    </a:p>
                  </a:txBody>
                  <a:tcPr marL="47625" marR="47625" marT="47625" marB="47625">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8E8"/>
                    </a:solidFill>
                  </a:tcPr>
                </a:tc>
                <a:extLst>
                  <a:ext uri="{0D108BD9-81ED-4DB2-BD59-A6C34878D82A}">
                    <a16:rowId xmlns:a16="http://schemas.microsoft.com/office/drawing/2014/main" val="10001"/>
                  </a:ext>
                </a:extLst>
              </a:tr>
              <a:tr h="1404436">
                <a:tc>
                  <a:txBody>
                    <a:bodyPr/>
                    <a:lstStyle/>
                    <a:p>
                      <a:pPr marL="0" marR="0">
                        <a:spcBef>
                          <a:spcPts val="0"/>
                        </a:spcBef>
                        <a:spcAft>
                          <a:spcPts val="0"/>
                        </a:spcAft>
                      </a:pPr>
                      <a:endParaRPr lang="en-US" sz="2000" dirty="0">
                        <a:latin typeface="Calibri"/>
                        <a:ea typeface="Calibri"/>
                        <a:cs typeface="Times New Roman"/>
                      </a:endParaRPr>
                    </a:p>
                  </a:txBody>
                  <a:tcPr marL="47625" marR="47625" marT="47625" marB="47625">
                    <a:lnL>
                      <a:noFill/>
                    </a:lnL>
                    <a:lnR>
                      <a:noFill/>
                    </a:lnR>
                    <a:lnT>
                      <a:noFill/>
                    </a:lnT>
                    <a:lnB>
                      <a:noFill/>
                    </a:lnB>
                    <a:solidFill>
                      <a:srgbClr val="FFE8E8"/>
                    </a:solidFill>
                  </a:tcPr>
                </a:tc>
                <a:tc>
                  <a:txBody>
                    <a:bodyPr/>
                    <a:lstStyle/>
                    <a:p>
                      <a:pPr marL="0" marR="0">
                        <a:spcBef>
                          <a:spcPts val="0"/>
                        </a:spcBef>
                        <a:spcAft>
                          <a:spcPts val="0"/>
                        </a:spcAft>
                      </a:pPr>
                      <a:r>
                        <a:rPr lang="en-US" sz="2000" dirty="0">
                          <a:latin typeface="Verdana"/>
                          <a:ea typeface="Times New Roman"/>
                          <a:cs typeface="Times New Roman"/>
                        </a:rPr>
                        <a:t/>
                      </a:r>
                      <a:br>
                        <a:rPr lang="en-US" sz="2000" dirty="0">
                          <a:latin typeface="Verdana"/>
                          <a:ea typeface="Times New Roman"/>
                          <a:cs typeface="Times New Roman"/>
                        </a:rPr>
                      </a:br>
                      <a:r>
                        <a:rPr lang="en-US" sz="2000" i="1" dirty="0">
                          <a:latin typeface="Verdana"/>
                          <a:ea typeface="Times New Roman"/>
                          <a:cs typeface="Times New Roman"/>
                        </a:rPr>
                        <a:t>Resource Allocator </a:t>
                      </a:r>
                      <a:endParaRPr lang="en-US" sz="2000" dirty="0">
                        <a:latin typeface="Calibri"/>
                        <a:ea typeface="Calibri"/>
                        <a:cs typeface="Times New Roman"/>
                      </a:endParaRPr>
                    </a:p>
                  </a:txBody>
                  <a:tcPr marL="47625" marR="47625" marT="47625" marB="47625">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8E8"/>
                    </a:solidFill>
                  </a:tcPr>
                </a:tc>
                <a:tc>
                  <a:txBody>
                    <a:bodyPr/>
                    <a:lstStyle/>
                    <a:p>
                      <a:pPr marL="0" marR="0">
                        <a:spcBef>
                          <a:spcPts val="0"/>
                        </a:spcBef>
                        <a:spcAft>
                          <a:spcPts val="0"/>
                        </a:spcAft>
                      </a:pPr>
                      <a:r>
                        <a:rPr lang="en-US" sz="2000" dirty="0">
                          <a:latin typeface="Verdana"/>
                          <a:ea typeface="Times New Roman"/>
                          <a:cs typeface="Times New Roman"/>
                        </a:rPr>
                        <a:t/>
                      </a:r>
                      <a:br>
                        <a:rPr lang="en-US" sz="2000" dirty="0">
                          <a:latin typeface="Verdana"/>
                          <a:ea typeface="Times New Roman"/>
                          <a:cs typeface="Times New Roman"/>
                        </a:rPr>
                      </a:br>
                      <a:r>
                        <a:rPr lang="en-US" sz="2000" dirty="0">
                          <a:latin typeface="Verdana"/>
                          <a:ea typeface="Times New Roman"/>
                          <a:cs typeface="Times New Roman"/>
                        </a:rPr>
                        <a:t>Decide where to apply resources </a:t>
                      </a:r>
                      <a:endParaRPr lang="en-US" sz="2000" dirty="0">
                        <a:latin typeface="Calibri"/>
                        <a:ea typeface="Calibri"/>
                        <a:cs typeface="Times New Roman"/>
                      </a:endParaRPr>
                    </a:p>
                  </a:txBody>
                  <a:tcPr marL="47625" marR="47625" marT="47625" marB="47625">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8E8"/>
                    </a:solidFill>
                  </a:tcPr>
                </a:tc>
                <a:tc>
                  <a:txBody>
                    <a:bodyPr/>
                    <a:lstStyle/>
                    <a:p>
                      <a:pPr marL="0" marR="0">
                        <a:spcBef>
                          <a:spcPts val="0"/>
                        </a:spcBef>
                        <a:spcAft>
                          <a:spcPts val="0"/>
                        </a:spcAft>
                      </a:pPr>
                      <a:r>
                        <a:rPr lang="en-US" sz="2000" dirty="0">
                          <a:latin typeface="Verdana"/>
                          <a:ea typeface="Times New Roman"/>
                          <a:cs typeface="Times New Roman"/>
                        </a:rPr>
                        <a:t/>
                      </a:r>
                      <a:br>
                        <a:rPr lang="en-US" sz="2000" dirty="0">
                          <a:latin typeface="Verdana"/>
                          <a:ea typeface="Times New Roman"/>
                          <a:cs typeface="Times New Roman"/>
                        </a:rPr>
                      </a:br>
                      <a:r>
                        <a:rPr lang="en-US" sz="2000" dirty="0">
                          <a:latin typeface="Verdana"/>
                          <a:ea typeface="Times New Roman"/>
                          <a:cs typeface="Times New Roman"/>
                        </a:rPr>
                        <a:t>Draft and approve of plans, schedules, budgets; Set priorities</a:t>
                      </a:r>
                      <a:endParaRPr lang="en-US" sz="2000" dirty="0">
                        <a:latin typeface="Calibri"/>
                        <a:ea typeface="Calibri"/>
                        <a:cs typeface="Times New Roman"/>
                      </a:endParaRPr>
                    </a:p>
                  </a:txBody>
                  <a:tcPr marL="47625" marR="47625" marT="47625" marB="47625">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8E8"/>
                    </a:solidFill>
                  </a:tcPr>
                </a:tc>
                <a:extLst>
                  <a:ext uri="{0D108BD9-81ED-4DB2-BD59-A6C34878D82A}">
                    <a16:rowId xmlns:a16="http://schemas.microsoft.com/office/drawing/2014/main" val="10002"/>
                  </a:ext>
                </a:extLst>
              </a:tr>
              <a:tr h="1924051">
                <a:tc>
                  <a:txBody>
                    <a:bodyPr/>
                    <a:lstStyle/>
                    <a:p>
                      <a:pPr marL="0" marR="0">
                        <a:spcBef>
                          <a:spcPts val="0"/>
                        </a:spcBef>
                        <a:spcAft>
                          <a:spcPts val="0"/>
                        </a:spcAft>
                      </a:pPr>
                      <a:endParaRPr lang="en-US" sz="2000" dirty="0">
                        <a:latin typeface="Calibri"/>
                        <a:ea typeface="Calibri"/>
                        <a:cs typeface="Times New Roman"/>
                      </a:endParaRPr>
                    </a:p>
                  </a:txBody>
                  <a:tcPr marL="47625" marR="47625" marT="47625" marB="47625">
                    <a:lnL>
                      <a:noFill/>
                    </a:lnL>
                    <a:lnR>
                      <a:noFill/>
                    </a:lnR>
                    <a:lnT>
                      <a:noFill/>
                    </a:lnT>
                    <a:lnB>
                      <a:noFill/>
                    </a:lnB>
                    <a:solidFill>
                      <a:srgbClr val="FFE8E8"/>
                    </a:solidFill>
                  </a:tcPr>
                </a:tc>
                <a:tc>
                  <a:txBody>
                    <a:bodyPr/>
                    <a:lstStyle/>
                    <a:p>
                      <a:pPr marL="0" marR="0">
                        <a:spcBef>
                          <a:spcPts val="0"/>
                        </a:spcBef>
                        <a:spcAft>
                          <a:spcPts val="0"/>
                        </a:spcAft>
                      </a:pPr>
                      <a:r>
                        <a:rPr lang="en-US" sz="2000" dirty="0">
                          <a:latin typeface="Verdana"/>
                          <a:ea typeface="Times New Roman"/>
                          <a:cs typeface="Times New Roman"/>
                        </a:rPr>
                        <a:t/>
                      </a:r>
                      <a:br>
                        <a:rPr lang="en-US" sz="2000" dirty="0">
                          <a:latin typeface="Verdana"/>
                          <a:ea typeface="Times New Roman"/>
                          <a:cs typeface="Times New Roman"/>
                        </a:rPr>
                      </a:br>
                      <a:r>
                        <a:rPr lang="en-US" sz="2000" i="1" dirty="0">
                          <a:latin typeface="Verdana"/>
                          <a:ea typeface="Times New Roman"/>
                          <a:cs typeface="Times New Roman"/>
                        </a:rPr>
                        <a:t>Negotiator</a:t>
                      </a:r>
                      <a:endParaRPr lang="en-US" sz="2000" dirty="0">
                        <a:latin typeface="Calibri"/>
                        <a:ea typeface="Calibri"/>
                        <a:cs typeface="Times New Roman"/>
                      </a:endParaRPr>
                    </a:p>
                  </a:txBody>
                  <a:tcPr marL="47625" marR="47625" marT="47625" marB="47625">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8E8"/>
                    </a:solidFill>
                  </a:tcPr>
                </a:tc>
                <a:tc>
                  <a:txBody>
                    <a:bodyPr/>
                    <a:lstStyle/>
                    <a:p>
                      <a:pPr marL="0" marR="0">
                        <a:spcBef>
                          <a:spcPts val="0"/>
                        </a:spcBef>
                        <a:spcAft>
                          <a:spcPts val="0"/>
                        </a:spcAft>
                      </a:pPr>
                      <a:r>
                        <a:rPr lang="en-US" sz="2000" dirty="0">
                          <a:latin typeface="Verdana"/>
                          <a:ea typeface="Times New Roman"/>
                          <a:cs typeface="Times New Roman"/>
                        </a:rPr>
                        <a:t/>
                      </a:r>
                      <a:br>
                        <a:rPr lang="en-US" sz="2000" dirty="0">
                          <a:latin typeface="Verdana"/>
                          <a:ea typeface="Times New Roman"/>
                          <a:cs typeface="Times New Roman"/>
                        </a:rPr>
                      </a:br>
                      <a:r>
                        <a:rPr lang="en-US" sz="2000" dirty="0">
                          <a:latin typeface="Verdana"/>
                          <a:ea typeface="Times New Roman"/>
                          <a:cs typeface="Times New Roman"/>
                        </a:rPr>
                        <a:t>Defends business interests </a:t>
                      </a:r>
                      <a:endParaRPr lang="en-US" sz="2000" dirty="0">
                        <a:latin typeface="Calibri"/>
                        <a:ea typeface="Calibri"/>
                        <a:cs typeface="Times New Roman"/>
                      </a:endParaRPr>
                    </a:p>
                  </a:txBody>
                  <a:tcPr marL="47625" marR="47625" marT="47625" marB="47625">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8E8"/>
                    </a:solidFill>
                  </a:tcPr>
                </a:tc>
                <a:tc>
                  <a:txBody>
                    <a:bodyPr/>
                    <a:lstStyle/>
                    <a:p>
                      <a:pPr marL="0" marR="0">
                        <a:spcBef>
                          <a:spcPts val="0"/>
                        </a:spcBef>
                        <a:spcAft>
                          <a:spcPts val="0"/>
                        </a:spcAft>
                      </a:pPr>
                      <a:r>
                        <a:rPr lang="en-US" sz="2000" dirty="0">
                          <a:latin typeface="Verdana"/>
                          <a:ea typeface="Times New Roman"/>
                          <a:cs typeface="Times New Roman"/>
                        </a:rPr>
                        <a:t/>
                      </a:r>
                      <a:br>
                        <a:rPr lang="en-US" sz="2000" dirty="0">
                          <a:latin typeface="Verdana"/>
                          <a:ea typeface="Times New Roman"/>
                          <a:cs typeface="Times New Roman"/>
                        </a:rPr>
                      </a:br>
                      <a:r>
                        <a:rPr lang="en-US" sz="2000" dirty="0">
                          <a:latin typeface="Verdana"/>
                          <a:ea typeface="Times New Roman"/>
                          <a:cs typeface="Times New Roman"/>
                        </a:rPr>
                        <a:t>Participates in and directs negotiations within team, department, and organization</a:t>
                      </a:r>
                      <a:endParaRPr lang="en-US" sz="2000" dirty="0">
                        <a:latin typeface="Calibri"/>
                        <a:ea typeface="Calibri"/>
                        <a:cs typeface="Times New Roman"/>
                      </a:endParaRPr>
                    </a:p>
                  </a:txBody>
                  <a:tcPr marL="47625" marR="47625" marT="47625" marB="47625">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8E8"/>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995108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Management Theories</a:t>
            </a:r>
          </a:p>
        </p:txBody>
      </p:sp>
      <p:sp>
        <p:nvSpPr>
          <p:cNvPr id="4" name="Text Placeholder 3"/>
          <p:cNvSpPr>
            <a:spLocks noGrp="1"/>
          </p:cNvSpPr>
          <p:nvPr>
            <p:ph type="body" idx="1"/>
          </p:nvPr>
        </p:nvSpPr>
        <p:spPr/>
        <p:txBody>
          <a:bodyPr/>
          <a:lstStyle/>
          <a:p>
            <a:endParaRPr lang="en-US"/>
          </a:p>
        </p:txBody>
      </p:sp>
    </p:spTree>
    <p:extLst>
      <p:ext uri="{BB962C8B-B14F-4D97-AF65-F5344CB8AC3E}">
        <p14:creationId xmlns:p14="http://schemas.microsoft.com/office/powerpoint/2010/main" val="760106448"/>
      </p:ext>
    </p:extLst>
  </p:cSld>
  <p:clrMapOvr>
    <a:masterClrMapping/>
  </p:clrMapOvr>
  <p:transition>
    <p:dissolv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9"/>
          <p:cNvSpPr>
            <a:spLocks noGrp="1" noChangeArrowheads="1"/>
          </p:cNvSpPr>
          <p:nvPr>
            <p:ph type="title"/>
          </p:nvPr>
        </p:nvSpPr>
        <p:spPr>
          <a:solidFill>
            <a:schemeClr val="bg1"/>
          </a:solidFill>
        </p:spPr>
        <p:txBody>
          <a:bodyPr rtlCol="0">
            <a:normAutofit/>
          </a:bodyPr>
          <a:lstStyle/>
          <a:p>
            <a:pPr>
              <a:defRPr/>
            </a:pPr>
            <a:r>
              <a:rPr lang="en-US" altLang="en-US" sz="3600" b="1" dirty="0">
                <a:latin typeface="Times New Roman" panose="02020603050405020304" pitchFamily="18" charset="0"/>
                <a:cs typeface="Times New Roman" panose="02020603050405020304" pitchFamily="18" charset="0"/>
              </a:rPr>
              <a:t>Why Management History?</a:t>
            </a:r>
          </a:p>
        </p:txBody>
      </p:sp>
      <p:sp>
        <p:nvSpPr>
          <p:cNvPr id="4099" name="Rectangle 10"/>
          <p:cNvSpPr>
            <a:spLocks noGrp="1" noChangeArrowheads="1"/>
          </p:cNvSpPr>
          <p:nvPr>
            <p:ph type="body" idx="1"/>
          </p:nvPr>
        </p:nvSpPr>
        <p:spPr>
          <a:solidFill>
            <a:schemeClr val="bg1"/>
          </a:solidFill>
        </p:spPr>
        <p:txBody>
          <a:bodyPr/>
          <a:lstStyle/>
          <a:p>
            <a:pPr eaLnBrk="1" hangingPunct="1">
              <a:lnSpc>
                <a:spcPct val="150000"/>
              </a:lnSpc>
              <a:buFont typeface="Wingdings" panose="05000000000000000000" pitchFamily="2" charset="2"/>
              <a:buChar char="Ø"/>
            </a:pPr>
            <a:r>
              <a:rPr lang="en-US" altLang="en-US" sz="3600">
                <a:latin typeface="Times New Roman" panose="02020603050405020304" pitchFamily="18" charset="0"/>
                <a:cs typeface="Times New Roman" panose="02020603050405020304" pitchFamily="18" charset="0"/>
              </a:rPr>
              <a:t> To understand where ideas came from.</a:t>
            </a:r>
          </a:p>
          <a:p>
            <a:pPr eaLnBrk="1" hangingPunct="1">
              <a:lnSpc>
                <a:spcPct val="150000"/>
              </a:lnSpc>
              <a:buFont typeface="Wingdings" panose="05000000000000000000" pitchFamily="2" charset="2"/>
              <a:buChar char="Ø"/>
            </a:pPr>
            <a:r>
              <a:rPr lang="en-US" altLang="en-US" sz="3600">
                <a:latin typeface="Times New Roman" panose="02020603050405020304" pitchFamily="18" charset="0"/>
                <a:cs typeface="Times New Roman" panose="02020603050405020304" pitchFamily="18" charset="0"/>
              </a:rPr>
              <a:t> To see the role of social, legal, political, economic, technological factors in developing management thought and practice. </a:t>
            </a:r>
          </a:p>
        </p:txBody>
      </p:sp>
    </p:spTree>
    <p:extLst>
      <p:ext uri="{BB962C8B-B14F-4D97-AF65-F5344CB8AC3E}">
        <p14:creationId xmlns:p14="http://schemas.microsoft.com/office/powerpoint/2010/main" val="1633888842"/>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Grp="1" noChangeArrowheads="1"/>
          </p:cNvSpPr>
          <p:nvPr>
            <p:ph type="title"/>
          </p:nvPr>
        </p:nvSpPr>
        <p:spPr>
          <a:solidFill>
            <a:schemeClr val="bg1"/>
          </a:solidFill>
        </p:spPr>
        <p:txBody>
          <a:bodyPr rtlCol="0">
            <a:normAutofit/>
          </a:bodyPr>
          <a:lstStyle/>
          <a:p>
            <a:pPr>
              <a:defRPr/>
            </a:pPr>
            <a:r>
              <a:rPr lang="en-US" altLang="en-US" sz="3200" b="1" dirty="0">
                <a:latin typeface="Times New Roman" panose="02020603050405020304" pitchFamily="18" charset="0"/>
                <a:cs typeface="Times New Roman" panose="02020603050405020304" pitchFamily="18" charset="0"/>
              </a:rPr>
              <a:t/>
            </a:r>
            <a:br>
              <a:rPr lang="en-US" altLang="en-US" sz="3200" b="1" dirty="0">
                <a:latin typeface="Times New Roman" panose="02020603050405020304" pitchFamily="18" charset="0"/>
                <a:cs typeface="Times New Roman" panose="02020603050405020304" pitchFamily="18" charset="0"/>
              </a:rPr>
            </a:br>
            <a:r>
              <a:rPr lang="en-US" altLang="en-US" sz="3600" b="1" dirty="0">
                <a:latin typeface="Times New Roman" panose="02020603050405020304" pitchFamily="18" charset="0"/>
                <a:cs typeface="Times New Roman" panose="02020603050405020304" pitchFamily="18" charset="0"/>
              </a:rPr>
              <a:t>The Industrial Revolution [1760-1840]</a:t>
            </a:r>
            <a:endParaRPr lang="en-US" altLang="en-US" sz="2700" b="1" dirty="0">
              <a:latin typeface="Times New Roman" panose="02020603050405020304" pitchFamily="18" charset="0"/>
              <a:cs typeface="Times New Roman" panose="02020603050405020304" pitchFamily="18" charset="0"/>
            </a:endParaRPr>
          </a:p>
        </p:txBody>
      </p:sp>
      <p:sp>
        <p:nvSpPr>
          <p:cNvPr id="5122" name="Content Placeholder 2"/>
          <p:cNvSpPr>
            <a:spLocks noGrp="1"/>
          </p:cNvSpPr>
          <p:nvPr>
            <p:ph type="body" idx="1"/>
          </p:nvPr>
        </p:nvSpPr>
        <p:spPr>
          <a:solidFill>
            <a:schemeClr val="bg1"/>
          </a:solidFill>
        </p:spPr>
        <p:txBody>
          <a:bodyPr/>
          <a:lstStyle/>
          <a:p>
            <a:pPr eaLnBrk="1" hangingPunct="1">
              <a:buFont typeface="Wingdings" panose="05000000000000000000" pitchFamily="2" charset="2"/>
              <a:buChar char="Ø"/>
            </a:pPr>
            <a:r>
              <a:rPr lang="en-US" altLang="en-US" dirty="0">
                <a:solidFill>
                  <a:schemeClr val="tx1"/>
                </a:solidFill>
                <a:latin typeface="Times New Roman" panose="02020603050405020304" pitchFamily="18" charset="0"/>
                <a:cs typeface="Times New Roman" panose="02020603050405020304" pitchFamily="18" charset="0"/>
              </a:rPr>
              <a:t>The Industrial Revolution results a major turning point in human history;</a:t>
            </a:r>
          </a:p>
          <a:p>
            <a:pPr eaLnBrk="1" hangingPunct="1">
              <a:buFont typeface="Wingdings" panose="05000000000000000000" pitchFamily="2" charset="2"/>
              <a:buChar char="Ø"/>
            </a:pPr>
            <a:r>
              <a:rPr lang="en-US" altLang="en-US" dirty="0">
                <a:solidFill>
                  <a:schemeClr val="tx1"/>
                </a:solidFill>
                <a:latin typeface="Times New Roman" panose="02020603050405020304" pitchFamily="18" charset="0"/>
                <a:cs typeface="Times New Roman" panose="02020603050405020304" pitchFamily="18" charset="0"/>
              </a:rPr>
              <a:t>The Revolution that changed the world forever</a:t>
            </a:r>
          </a:p>
          <a:p>
            <a:pPr eaLnBrk="1" hangingPunct="1">
              <a:buFont typeface="Wingdings" panose="05000000000000000000" pitchFamily="2" charset="2"/>
              <a:buChar char="Ø"/>
            </a:pPr>
            <a:r>
              <a:rPr lang="en-US" altLang="en-US" sz="3600" dirty="0">
                <a:solidFill>
                  <a:schemeClr val="tx1"/>
                </a:solidFill>
                <a:latin typeface="Times New Roman" panose="02020603050405020304" pitchFamily="18" charset="0"/>
                <a:cs typeface="Times New Roman" panose="02020603050405020304" pitchFamily="18" charset="0"/>
              </a:rPr>
              <a:t>Industrial Revolution – a change from making things by hand to making them in factories</a:t>
            </a:r>
            <a:r>
              <a:rPr lang="en-US" altLang="en-US"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1553555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en-US" b="1" dirty="0">
                <a:latin typeface="Times New Roman" panose="02020603050405020304" pitchFamily="18" charset="0"/>
                <a:cs typeface="Times New Roman" panose="02020603050405020304" pitchFamily="18" charset="0"/>
              </a:rPr>
              <a:t>An original steam engine</a:t>
            </a:r>
          </a:p>
        </p:txBody>
      </p:sp>
      <p:pic>
        <p:nvPicPr>
          <p:cNvPr id="174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1" y="1752601"/>
            <a:ext cx="6042025" cy="454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89421311"/>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7410"/>
                                        </p:tgtEl>
                                        <p:attrNameLst>
                                          <p:attrName>style.visibility</p:attrName>
                                        </p:attrNameLst>
                                      </p:cBhvr>
                                      <p:to>
                                        <p:strVal val="visible"/>
                                      </p:to>
                                    </p:set>
                                    <p:animEffect transition="in" filter="box(out)">
                                      <p:cBhvr>
                                        <p:cTn id="7" dur="500"/>
                                        <p:tgtEl>
                                          <p:spTgt spid="174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5" presetClass="entr" presetSubtype="0" fill="hold" nodeType="clickEffect">
                                  <p:stCondLst>
                                    <p:cond delay="0"/>
                                  </p:stCondLst>
                                  <p:childTnLst>
                                    <p:set>
                                      <p:cBhvr>
                                        <p:cTn id="11" dur="1" fill="hold">
                                          <p:stCondLst>
                                            <p:cond delay="0"/>
                                          </p:stCondLst>
                                        </p:cTn>
                                        <p:tgtEl>
                                          <p:spTgt spid="17411"/>
                                        </p:tgtEl>
                                        <p:attrNameLst>
                                          <p:attrName>style.visibility</p:attrName>
                                        </p:attrNameLst>
                                      </p:cBhvr>
                                      <p:to>
                                        <p:strVal val="visible"/>
                                      </p:to>
                                    </p:set>
                                    <p:anim calcmode="lin" valueType="num">
                                      <p:cBhvr>
                                        <p:cTn id="12" dur="1000" fill="hold"/>
                                        <p:tgtEl>
                                          <p:spTgt spid="17411"/>
                                        </p:tgtEl>
                                        <p:attrNameLst>
                                          <p:attrName>ppt_w</p:attrName>
                                        </p:attrNameLst>
                                      </p:cBhvr>
                                      <p:tavLst>
                                        <p:tav tm="0">
                                          <p:val>
                                            <p:fltVal val="0"/>
                                          </p:val>
                                        </p:tav>
                                        <p:tav tm="100000">
                                          <p:val>
                                            <p:strVal val="#ppt_w"/>
                                          </p:val>
                                        </p:tav>
                                      </p:tavLst>
                                    </p:anim>
                                    <p:anim calcmode="lin" valueType="num">
                                      <p:cBhvr>
                                        <p:cTn id="13" dur="1000" fill="hold"/>
                                        <p:tgtEl>
                                          <p:spTgt spid="17411"/>
                                        </p:tgtEl>
                                        <p:attrNameLst>
                                          <p:attrName>ppt_h</p:attrName>
                                        </p:attrNameLst>
                                      </p:cBhvr>
                                      <p:tavLst>
                                        <p:tav tm="0">
                                          <p:val>
                                            <p:fltVal val="0"/>
                                          </p:val>
                                        </p:tav>
                                        <p:tav tm="100000">
                                          <p:val>
                                            <p:strVal val="#ppt_h"/>
                                          </p:val>
                                        </p:tav>
                                      </p:tavLst>
                                    </p:anim>
                                    <p:anim calcmode="lin" valueType="num">
                                      <p:cBhvr>
                                        <p:cTn id="14" dur="1000" fill="hold"/>
                                        <p:tgtEl>
                                          <p:spTgt spid="17411"/>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17411"/>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altLang="en-US" b="1" dirty="0">
                <a:latin typeface="Times New Roman" panose="02020603050405020304" pitchFamily="18" charset="0"/>
                <a:cs typeface="Times New Roman" panose="02020603050405020304" pitchFamily="18" charset="0"/>
              </a:rPr>
              <a:t>A  cotton factory</a:t>
            </a:r>
          </a:p>
        </p:txBody>
      </p:sp>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1905000"/>
            <a:ext cx="6845300" cy="433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9300659"/>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p:cTn id="7" dur="500" fill="hold"/>
                                        <p:tgtEl>
                                          <p:spTgt spid="7170"/>
                                        </p:tgtEl>
                                        <p:attrNameLst>
                                          <p:attrName>ppt_x</p:attrName>
                                        </p:attrNameLst>
                                      </p:cBhvr>
                                      <p:tavLst>
                                        <p:tav tm="0">
                                          <p:val>
                                            <p:strVal val="#ppt_x-#ppt_w/2"/>
                                          </p:val>
                                        </p:tav>
                                        <p:tav tm="100000">
                                          <p:val>
                                            <p:strVal val="#ppt_x"/>
                                          </p:val>
                                        </p:tav>
                                      </p:tavLst>
                                    </p:anim>
                                    <p:anim calcmode="lin" valueType="num">
                                      <p:cBhvr>
                                        <p:cTn id="8" dur="500" fill="hold"/>
                                        <p:tgtEl>
                                          <p:spTgt spid="7170"/>
                                        </p:tgtEl>
                                        <p:attrNameLst>
                                          <p:attrName>ppt_y</p:attrName>
                                        </p:attrNameLst>
                                      </p:cBhvr>
                                      <p:tavLst>
                                        <p:tav tm="0">
                                          <p:val>
                                            <p:strVal val="#ppt_y"/>
                                          </p:val>
                                        </p:tav>
                                        <p:tav tm="100000">
                                          <p:val>
                                            <p:strVal val="#ppt_y"/>
                                          </p:val>
                                        </p:tav>
                                      </p:tavLst>
                                    </p:anim>
                                    <p:anim calcmode="lin" valueType="num">
                                      <p:cBhvr>
                                        <p:cTn id="9" dur="500" fill="hold"/>
                                        <p:tgtEl>
                                          <p:spTgt spid="7170"/>
                                        </p:tgtEl>
                                        <p:attrNameLst>
                                          <p:attrName>ppt_w</p:attrName>
                                        </p:attrNameLst>
                                      </p:cBhvr>
                                      <p:tavLst>
                                        <p:tav tm="0">
                                          <p:val>
                                            <p:fltVal val="0"/>
                                          </p:val>
                                        </p:tav>
                                        <p:tav tm="100000">
                                          <p:val>
                                            <p:strVal val="#ppt_w"/>
                                          </p:val>
                                        </p:tav>
                                      </p:tavLst>
                                    </p:anim>
                                    <p:anim calcmode="lin" valueType="num">
                                      <p:cBhvr>
                                        <p:cTn id="10" dur="500" fill="hold"/>
                                        <p:tgtEl>
                                          <p:spTgt spid="7170"/>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32" fill="hold" nodeType="clickEffect">
                                  <p:stCondLst>
                                    <p:cond delay="0"/>
                                  </p:stCondLst>
                                  <p:childTnLst>
                                    <p:set>
                                      <p:cBhvr>
                                        <p:cTn id="14" dur="1" fill="hold">
                                          <p:stCondLst>
                                            <p:cond delay="0"/>
                                          </p:stCondLst>
                                        </p:cTn>
                                        <p:tgtEl>
                                          <p:spTgt spid="7171"/>
                                        </p:tgtEl>
                                        <p:attrNameLst>
                                          <p:attrName>style.visibility</p:attrName>
                                        </p:attrNameLst>
                                      </p:cBhvr>
                                      <p:to>
                                        <p:strVal val="visible"/>
                                      </p:to>
                                    </p:set>
                                    <p:animEffect transition="in" filter="box(out)">
                                      <p:cBhvr>
                                        <p:cTn id="15" dur="500"/>
                                        <p:tgtEl>
                                          <p:spTgt spid="7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7" descr="telegraph1"/>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rcRect/>
          <a:stretch>
            <a:fillRect/>
          </a:stretch>
        </p:blipFill>
        <p:spPr>
          <a:xfrm>
            <a:off x="2743201" y="838200"/>
            <a:ext cx="2765425" cy="1943100"/>
          </a:xfrm>
        </p:spPr>
      </p:pic>
      <p:pic>
        <p:nvPicPr>
          <p:cNvPr id="8195" name="Picture 8" descr="TelegraphOperattor"/>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6324600" y="1371600"/>
            <a:ext cx="3176588" cy="4038600"/>
          </a:xfrm>
        </p:spPr>
      </p:pic>
      <p:pic>
        <p:nvPicPr>
          <p:cNvPr id="8196" name="Picture 9" descr="2699484697_7afa89f6b0"/>
          <p:cNvPicPr>
            <a:picLocks noGrp="1" noChangeAspect="1" noChangeArrowheads="1"/>
          </p:cNvPicPr>
          <p:nvPr>
            <p:ph sz="quarter" idx="3"/>
          </p:nvPr>
        </p:nvPicPr>
        <p:blipFill>
          <a:blip r:embed="rId5">
            <a:extLst>
              <a:ext uri="{28A0092B-C50C-407E-A947-70E740481C1C}">
                <a14:useLocalDpi xmlns:a14="http://schemas.microsoft.com/office/drawing/2010/main" val="0"/>
              </a:ext>
            </a:extLst>
          </a:blip>
          <a:srcRect/>
          <a:stretch>
            <a:fillRect/>
          </a:stretch>
        </p:blipFill>
        <p:spPr>
          <a:xfrm>
            <a:off x="3200401" y="3276600"/>
            <a:ext cx="2028825" cy="3048000"/>
          </a:xfrm>
        </p:spPr>
      </p:pic>
    </p:spTree>
    <p:extLst>
      <p:ext uri="{BB962C8B-B14F-4D97-AF65-F5344CB8AC3E}">
        <p14:creationId xmlns:p14="http://schemas.microsoft.com/office/powerpoint/2010/main" val="554327741"/>
      </p:ext>
    </p:extLst>
  </p:cSld>
  <p:clrMapOvr>
    <a:masterClrMapping/>
  </p:clrMapOvr>
  <p:transition>
    <p:rand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0"/>
          <p:cNvSpPr>
            <a:spLocks noGrp="1" noChangeArrowheads="1"/>
          </p:cNvSpPr>
          <p:nvPr>
            <p:ph type="title"/>
          </p:nvPr>
        </p:nvSpPr>
        <p:spPr>
          <a:solidFill>
            <a:schemeClr val="bg1"/>
          </a:solidFill>
        </p:spPr>
        <p:txBody>
          <a:bodyPr rtlCol="0">
            <a:normAutofit/>
          </a:bodyPr>
          <a:lstStyle/>
          <a:p>
            <a:pPr>
              <a:defRPr/>
            </a:pPr>
            <a:r>
              <a:rPr lang="en-US" altLang="en-US" sz="3200" b="1" dirty="0">
                <a:latin typeface="Times New Roman" panose="02020603050405020304" pitchFamily="18" charset="0"/>
                <a:cs typeface="Times New Roman" panose="02020603050405020304" pitchFamily="18" charset="0"/>
              </a:rPr>
              <a:t>The Industrial Revolution – New Technology</a:t>
            </a:r>
          </a:p>
        </p:txBody>
      </p:sp>
      <p:sp>
        <p:nvSpPr>
          <p:cNvPr id="9219" name="Rectangle 11"/>
          <p:cNvSpPr>
            <a:spLocks noGrp="1" noChangeArrowheads="1"/>
          </p:cNvSpPr>
          <p:nvPr>
            <p:ph type="body" idx="1"/>
          </p:nvPr>
        </p:nvSpPr>
        <p:spPr>
          <a:solidFill>
            <a:schemeClr val="bg1"/>
          </a:solidFill>
        </p:spPr>
        <p:txBody>
          <a:bodyPr/>
          <a:lstStyle/>
          <a:p>
            <a:pPr marL="114300" indent="0" eaLnBrk="1" hangingPunct="1">
              <a:lnSpc>
                <a:spcPct val="90000"/>
              </a:lnSpc>
              <a:buNone/>
            </a:pPr>
            <a:r>
              <a:rPr lang="en-US" altLang="en-US" sz="2600" b="1" dirty="0">
                <a:latin typeface="Times New Roman" panose="02020603050405020304" pitchFamily="18" charset="0"/>
                <a:cs typeface="Times New Roman" panose="02020603050405020304" pitchFamily="18" charset="0"/>
              </a:rPr>
              <a:t>Manufacturing</a:t>
            </a:r>
          </a:p>
          <a:p>
            <a:pPr lvl="1" eaLnBrk="1" hangingPunct="1">
              <a:lnSpc>
                <a:spcPct val="90000"/>
              </a:lnSpc>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Steam engines</a:t>
            </a:r>
            <a:endParaRPr lang="en-US" altLang="en-US" sz="1600" dirty="0">
              <a:latin typeface="Times New Roman" panose="02020603050405020304" pitchFamily="18" charset="0"/>
              <a:cs typeface="Times New Roman" panose="02020603050405020304" pitchFamily="18" charset="0"/>
            </a:endParaRPr>
          </a:p>
          <a:p>
            <a:pPr lvl="1" eaLnBrk="1" hangingPunct="1">
              <a:lnSpc>
                <a:spcPct val="90000"/>
              </a:lnSpc>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Cotton gin</a:t>
            </a:r>
          </a:p>
          <a:p>
            <a:pPr lvl="1" eaLnBrk="1" hangingPunct="1">
              <a:lnSpc>
                <a:spcPct val="90000"/>
              </a:lnSpc>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Mass production through standardization and specialization</a:t>
            </a:r>
          </a:p>
          <a:p>
            <a:pPr marL="114300" indent="0" eaLnBrk="1" hangingPunct="1">
              <a:lnSpc>
                <a:spcPct val="90000"/>
              </a:lnSpc>
              <a:buNone/>
            </a:pPr>
            <a:r>
              <a:rPr lang="en-US" altLang="en-US" sz="2600" b="1" dirty="0">
                <a:latin typeface="Times New Roman" panose="02020603050405020304" pitchFamily="18" charset="0"/>
                <a:cs typeface="Times New Roman" panose="02020603050405020304" pitchFamily="18" charset="0"/>
              </a:rPr>
              <a:t>Transportation</a:t>
            </a:r>
          </a:p>
          <a:p>
            <a:pPr lvl="1" eaLnBrk="1" hangingPunct="1">
              <a:lnSpc>
                <a:spcPct val="90000"/>
              </a:lnSpc>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Steam powered ships</a:t>
            </a:r>
          </a:p>
          <a:p>
            <a:pPr lvl="1" eaLnBrk="1" hangingPunct="1">
              <a:lnSpc>
                <a:spcPct val="90000"/>
              </a:lnSpc>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Railroads</a:t>
            </a:r>
          </a:p>
          <a:p>
            <a:pPr marL="114300" indent="0" eaLnBrk="1" hangingPunct="1">
              <a:lnSpc>
                <a:spcPct val="90000"/>
              </a:lnSpc>
              <a:buNone/>
            </a:pPr>
            <a:r>
              <a:rPr lang="en-US" altLang="en-US" sz="2600" b="1" dirty="0">
                <a:latin typeface="Times New Roman" panose="02020603050405020304" pitchFamily="18" charset="0"/>
                <a:cs typeface="Times New Roman" panose="02020603050405020304" pitchFamily="18" charset="0"/>
              </a:rPr>
              <a:t>Communications</a:t>
            </a:r>
          </a:p>
          <a:p>
            <a:pPr lvl="1" eaLnBrk="1" hangingPunct="1">
              <a:lnSpc>
                <a:spcPct val="90000"/>
              </a:lnSpc>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Telegraph</a:t>
            </a:r>
          </a:p>
          <a:p>
            <a:pPr eaLnBrk="1" hangingPunct="1">
              <a:lnSpc>
                <a:spcPct val="90000"/>
              </a:lnSpc>
              <a:buFont typeface="Wingdings" panose="05000000000000000000" pitchFamily="2" charset="2"/>
              <a:buNone/>
            </a:pPr>
            <a:endParaRPr lang="en-US"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95113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Rectangle 4"/>
          <p:cNvSpPr>
            <a:spLocks noGrp="1" noChangeArrowheads="1"/>
          </p:cNvSpPr>
          <p:nvPr>
            <p:ph type="title"/>
          </p:nvPr>
        </p:nvSpPr>
        <p:spPr>
          <a:solidFill>
            <a:schemeClr val="bg1"/>
          </a:solidFill>
        </p:spPr>
        <p:txBody>
          <a:bodyPr rtlCol="0">
            <a:normAutofit/>
          </a:bodyPr>
          <a:lstStyle/>
          <a:p>
            <a:pPr>
              <a:defRPr/>
            </a:pPr>
            <a:r>
              <a:rPr lang="en-US" sz="3200" b="1" dirty="0">
                <a:latin typeface="Times New Roman" panose="02020603050405020304" pitchFamily="18" charset="0"/>
                <a:cs typeface="Times New Roman" panose="02020603050405020304" pitchFamily="18" charset="0"/>
              </a:rPr>
              <a:t>Large Organizations and New Approaches to Management</a:t>
            </a:r>
          </a:p>
        </p:txBody>
      </p:sp>
      <p:sp>
        <p:nvSpPr>
          <p:cNvPr id="10243" name="Rectangle 5"/>
          <p:cNvSpPr>
            <a:spLocks noGrp="1" noChangeArrowheads="1"/>
          </p:cNvSpPr>
          <p:nvPr>
            <p:ph type="body" idx="1"/>
          </p:nvPr>
        </p:nvSpPr>
        <p:spPr>
          <a:solidFill>
            <a:schemeClr val="bg1"/>
          </a:solidFill>
        </p:spPr>
        <p:txBody>
          <a:bodyPr/>
          <a:lstStyle/>
          <a:p>
            <a:pPr marL="114300" indent="0" eaLnBrk="1" hangingPunct="1">
              <a:lnSpc>
                <a:spcPct val="80000"/>
              </a:lnSpc>
              <a:buNone/>
            </a:pPr>
            <a:r>
              <a:rPr lang="en-US" altLang="en-US" b="1" dirty="0">
                <a:latin typeface="Times New Roman" panose="02020603050405020304" pitchFamily="18" charset="0"/>
                <a:cs typeface="Times New Roman" panose="02020603050405020304" pitchFamily="18" charset="0"/>
              </a:rPr>
              <a:t>Economic transformation</a:t>
            </a:r>
          </a:p>
          <a:p>
            <a:pPr lvl="1" eaLnBrk="1" hangingPunct="1">
              <a:lnSpc>
                <a:spcPct val="80000"/>
              </a:lnSpc>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Previously – family farms, small workshops.</a:t>
            </a:r>
          </a:p>
          <a:p>
            <a:pPr lvl="1" eaLnBrk="1" hangingPunct="1">
              <a:lnSpc>
                <a:spcPct val="80000"/>
              </a:lnSpc>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After Industrial Revolution – large organizations, requiring management skills .</a:t>
            </a:r>
          </a:p>
          <a:p>
            <a:pPr marL="114300" indent="0" eaLnBrk="1" hangingPunct="1">
              <a:lnSpc>
                <a:spcPct val="80000"/>
              </a:lnSpc>
              <a:buNone/>
            </a:pPr>
            <a:r>
              <a:rPr lang="en-US" altLang="en-US" b="1" dirty="0">
                <a:latin typeface="Times New Roman" panose="02020603050405020304" pitchFamily="18" charset="0"/>
                <a:cs typeface="Times New Roman" panose="02020603050405020304" pitchFamily="18" charset="0"/>
              </a:rPr>
              <a:t>New demands on management</a:t>
            </a:r>
            <a:r>
              <a:rPr lang="ar-SA" altLang="en-US" b="1" dirty="0">
                <a:latin typeface="Times New Roman" panose="02020603050405020304" pitchFamily="18" charset="0"/>
                <a:cs typeface="Times New Roman" panose="02020603050405020304" pitchFamily="18" charset="0"/>
              </a:rPr>
              <a:t>:</a:t>
            </a:r>
            <a:endParaRPr lang="en-US" altLang="en-US" b="1" dirty="0">
              <a:latin typeface="Times New Roman" panose="02020603050405020304" pitchFamily="18" charset="0"/>
              <a:cs typeface="Times New Roman" panose="02020603050405020304" pitchFamily="18" charset="0"/>
            </a:endParaRPr>
          </a:p>
          <a:p>
            <a:pPr marL="914400" indent="-457200" eaLnBrk="1" hangingPunct="1">
              <a:lnSpc>
                <a:spcPct val="80000"/>
              </a:lnSpc>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Need for professional managers (as opposed to owners)</a:t>
            </a:r>
          </a:p>
          <a:p>
            <a:pPr lvl="1" indent="-457200" eaLnBrk="1" hangingPunct="1">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Need to plan, structure, and schedule activities.</a:t>
            </a:r>
          </a:p>
          <a:p>
            <a:pPr lvl="1" indent="-457200" eaLnBrk="1" hangingPunct="1">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Need for worker training and socialization to factory work.</a:t>
            </a:r>
          </a:p>
        </p:txBody>
      </p:sp>
    </p:spTree>
    <p:extLst>
      <p:ext uri="{BB962C8B-B14F-4D97-AF65-F5344CB8AC3E}">
        <p14:creationId xmlns:p14="http://schemas.microsoft.com/office/powerpoint/2010/main" val="38929799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solidFill>
            <a:schemeClr val="bg1"/>
          </a:solidFill>
        </p:spPr>
        <p:txBody>
          <a:bodyPr rtlCol="0">
            <a:normAutofit/>
          </a:bodyPr>
          <a:lstStyle/>
          <a:p>
            <a:pPr>
              <a:defRPr/>
            </a:pPr>
            <a:r>
              <a:rPr lang="en-US" altLang="en-US" sz="3600" b="1" dirty="0">
                <a:latin typeface="Times New Roman" panose="02020603050405020304" pitchFamily="18" charset="0"/>
                <a:cs typeface="Times New Roman" panose="02020603050405020304" pitchFamily="18" charset="0"/>
              </a:rPr>
              <a:t>Management Perspectives Over Time</a:t>
            </a:r>
          </a:p>
        </p:txBody>
      </p:sp>
      <p:sp>
        <p:nvSpPr>
          <p:cNvPr id="11267" name="Rectangle 3"/>
          <p:cNvSpPr>
            <a:spLocks noChangeArrowheads="1"/>
          </p:cNvSpPr>
          <p:nvPr/>
        </p:nvSpPr>
        <p:spPr bwMode="auto">
          <a:xfrm>
            <a:off x="2318052" y="1686429"/>
            <a:ext cx="7812508" cy="4814604"/>
          </a:xfrm>
          <a:prstGeom prst="rect">
            <a:avLst/>
          </a:prstGeom>
          <a:solidFill>
            <a:schemeClr val="bg1"/>
          </a:solidFill>
          <a:ln w="1270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2400">
              <a:latin typeface="Times New Roman" panose="02020603050405020304" pitchFamily="18" charset="0"/>
              <a:cs typeface="Times New Roman" panose="02020603050405020304" pitchFamily="18" charset="0"/>
            </a:endParaRPr>
          </a:p>
        </p:txBody>
      </p:sp>
      <p:grpSp>
        <p:nvGrpSpPr>
          <p:cNvPr id="11268" name="Group 4"/>
          <p:cNvGrpSpPr>
            <a:grpSpLocks/>
          </p:cNvGrpSpPr>
          <p:nvPr/>
        </p:nvGrpSpPr>
        <p:grpSpPr bwMode="auto">
          <a:xfrm>
            <a:off x="2747963" y="5229225"/>
            <a:ext cx="6324600" cy="725488"/>
            <a:chOff x="624" y="3318"/>
            <a:chExt cx="3984" cy="457"/>
          </a:xfrm>
          <a:solidFill>
            <a:schemeClr val="bg1"/>
          </a:solidFill>
        </p:grpSpPr>
        <p:sp>
          <p:nvSpPr>
            <p:cNvPr id="11307" name="AutoShape 5"/>
            <p:cNvSpPr>
              <a:spLocks noChangeArrowheads="1"/>
            </p:cNvSpPr>
            <p:nvPr/>
          </p:nvSpPr>
          <p:spPr bwMode="auto">
            <a:xfrm>
              <a:off x="2112" y="3456"/>
              <a:ext cx="2352" cy="192"/>
            </a:xfrm>
            <a:prstGeom prst="rightArrow">
              <a:avLst>
                <a:gd name="adj1" fmla="val 50000"/>
                <a:gd name="adj2" fmla="val 306250"/>
              </a:avLst>
            </a:prstGeom>
            <a:grp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2400">
                <a:latin typeface="Times New Roman" panose="02020603050405020304" pitchFamily="18" charset="0"/>
                <a:cs typeface="Times New Roman" panose="02020603050405020304" pitchFamily="18" charset="0"/>
              </a:endParaRPr>
            </a:p>
          </p:txBody>
        </p:sp>
        <p:sp>
          <p:nvSpPr>
            <p:cNvPr id="11308" name="Text Box 6"/>
            <p:cNvSpPr txBox="1">
              <a:spLocks noChangeArrowheads="1"/>
            </p:cNvSpPr>
            <p:nvPr/>
          </p:nvSpPr>
          <p:spPr bwMode="auto">
            <a:xfrm>
              <a:off x="2064" y="3318"/>
              <a:ext cx="384" cy="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600">
                  <a:latin typeface="Times New Roman" panose="02020603050405020304" pitchFamily="18" charset="0"/>
                  <a:cs typeface="Times New Roman" panose="02020603050405020304" pitchFamily="18" charset="0"/>
                </a:rPr>
                <a:t>1930</a:t>
              </a:r>
            </a:p>
          </p:txBody>
        </p:sp>
        <p:sp>
          <p:nvSpPr>
            <p:cNvPr id="11309" name="Text Box 7"/>
            <p:cNvSpPr txBox="1">
              <a:spLocks noChangeArrowheads="1"/>
            </p:cNvSpPr>
            <p:nvPr/>
          </p:nvSpPr>
          <p:spPr bwMode="auto">
            <a:xfrm>
              <a:off x="624" y="3441"/>
              <a:ext cx="1488" cy="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a:spcBef>
                  <a:spcPct val="50000"/>
                </a:spcBef>
                <a:buFontTx/>
                <a:buNone/>
              </a:pPr>
              <a:r>
                <a:rPr lang="en-US" altLang="en-US" sz="1600" b="1">
                  <a:latin typeface="Times New Roman" panose="02020603050405020304" pitchFamily="18" charset="0"/>
                  <a:cs typeface="Times New Roman" panose="02020603050405020304" pitchFamily="18" charset="0"/>
                </a:rPr>
                <a:t>Humanistic Perspective</a:t>
              </a:r>
            </a:p>
          </p:txBody>
        </p:sp>
        <p:sp>
          <p:nvSpPr>
            <p:cNvPr id="11310" name="Text Box 8"/>
            <p:cNvSpPr txBox="1">
              <a:spLocks noChangeArrowheads="1"/>
            </p:cNvSpPr>
            <p:nvPr/>
          </p:nvSpPr>
          <p:spPr bwMode="auto">
            <a:xfrm>
              <a:off x="4224" y="3563"/>
              <a:ext cx="384" cy="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600">
                  <a:latin typeface="Times New Roman" panose="02020603050405020304" pitchFamily="18" charset="0"/>
                  <a:cs typeface="Times New Roman" panose="02020603050405020304" pitchFamily="18" charset="0"/>
                </a:rPr>
                <a:t>1990</a:t>
              </a:r>
            </a:p>
          </p:txBody>
        </p:sp>
      </p:grpSp>
      <p:grpSp>
        <p:nvGrpSpPr>
          <p:cNvPr id="11269" name="Group 9"/>
          <p:cNvGrpSpPr>
            <a:grpSpLocks/>
          </p:cNvGrpSpPr>
          <p:nvPr/>
        </p:nvGrpSpPr>
        <p:grpSpPr bwMode="auto">
          <a:xfrm>
            <a:off x="2495550" y="5661026"/>
            <a:ext cx="4191000" cy="614363"/>
            <a:chOff x="288" y="3665"/>
            <a:chExt cx="2640" cy="387"/>
          </a:xfrm>
          <a:solidFill>
            <a:schemeClr val="bg1"/>
          </a:solidFill>
        </p:grpSpPr>
        <p:sp>
          <p:nvSpPr>
            <p:cNvPr id="11303" name="AutoShape 10"/>
            <p:cNvSpPr>
              <a:spLocks noChangeArrowheads="1"/>
            </p:cNvSpPr>
            <p:nvPr/>
          </p:nvSpPr>
          <p:spPr bwMode="auto">
            <a:xfrm>
              <a:off x="1104" y="3792"/>
              <a:ext cx="1488" cy="192"/>
            </a:xfrm>
            <a:prstGeom prst="rightArrow">
              <a:avLst>
                <a:gd name="adj1" fmla="val 50000"/>
                <a:gd name="adj2" fmla="val 193750"/>
              </a:avLst>
            </a:prstGeom>
            <a:grp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2400">
                <a:latin typeface="Times New Roman" panose="02020603050405020304" pitchFamily="18" charset="0"/>
                <a:cs typeface="Times New Roman" panose="02020603050405020304" pitchFamily="18" charset="0"/>
              </a:endParaRPr>
            </a:p>
          </p:txBody>
        </p:sp>
        <p:sp>
          <p:nvSpPr>
            <p:cNvPr id="11304" name="Text Box 11"/>
            <p:cNvSpPr txBox="1">
              <a:spLocks noChangeArrowheads="1"/>
            </p:cNvSpPr>
            <p:nvPr/>
          </p:nvSpPr>
          <p:spPr bwMode="auto">
            <a:xfrm>
              <a:off x="1056" y="3665"/>
              <a:ext cx="384" cy="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600">
                  <a:latin typeface="Times New Roman" panose="02020603050405020304" pitchFamily="18" charset="0"/>
                  <a:cs typeface="Times New Roman" panose="02020603050405020304" pitchFamily="18" charset="0"/>
                </a:rPr>
                <a:t>1890</a:t>
              </a:r>
            </a:p>
          </p:txBody>
        </p:sp>
        <p:sp>
          <p:nvSpPr>
            <p:cNvPr id="11305" name="Text Box 12"/>
            <p:cNvSpPr txBox="1">
              <a:spLocks noChangeArrowheads="1"/>
            </p:cNvSpPr>
            <p:nvPr/>
          </p:nvSpPr>
          <p:spPr bwMode="auto">
            <a:xfrm>
              <a:off x="288" y="3772"/>
              <a:ext cx="768" cy="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a:spcBef>
                  <a:spcPct val="50000"/>
                </a:spcBef>
                <a:buFontTx/>
                <a:buNone/>
              </a:pPr>
              <a:r>
                <a:rPr lang="en-US" altLang="en-US" sz="1600" b="1">
                  <a:latin typeface="Times New Roman" panose="02020603050405020304" pitchFamily="18" charset="0"/>
                  <a:cs typeface="Times New Roman" panose="02020603050405020304" pitchFamily="18" charset="0"/>
                </a:rPr>
                <a:t>Classical</a:t>
              </a:r>
            </a:p>
          </p:txBody>
        </p:sp>
        <p:sp>
          <p:nvSpPr>
            <p:cNvPr id="11306" name="Text Box 13"/>
            <p:cNvSpPr txBox="1">
              <a:spLocks noChangeArrowheads="1"/>
            </p:cNvSpPr>
            <p:nvPr/>
          </p:nvSpPr>
          <p:spPr bwMode="auto">
            <a:xfrm>
              <a:off x="2544" y="3840"/>
              <a:ext cx="384" cy="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600">
                  <a:latin typeface="Times New Roman" panose="02020603050405020304" pitchFamily="18" charset="0"/>
                  <a:cs typeface="Times New Roman" panose="02020603050405020304" pitchFamily="18" charset="0"/>
                </a:rPr>
                <a:t>1940</a:t>
              </a:r>
            </a:p>
          </p:txBody>
        </p:sp>
      </p:grpSp>
      <p:grpSp>
        <p:nvGrpSpPr>
          <p:cNvPr id="11270" name="Group 14"/>
          <p:cNvGrpSpPr>
            <a:grpSpLocks/>
          </p:cNvGrpSpPr>
          <p:nvPr/>
        </p:nvGrpSpPr>
        <p:grpSpPr bwMode="auto">
          <a:xfrm>
            <a:off x="4835525" y="4292601"/>
            <a:ext cx="4648200" cy="735013"/>
            <a:chOff x="1968" y="2496"/>
            <a:chExt cx="2928" cy="463"/>
          </a:xfrm>
          <a:solidFill>
            <a:schemeClr val="bg1"/>
          </a:solidFill>
        </p:grpSpPr>
        <p:sp>
          <p:nvSpPr>
            <p:cNvPr id="11299" name="AutoShape 15"/>
            <p:cNvSpPr>
              <a:spLocks noChangeArrowheads="1"/>
            </p:cNvSpPr>
            <p:nvPr/>
          </p:nvSpPr>
          <p:spPr bwMode="auto">
            <a:xfrm>
              <a:off x="3024" y="2640"/>
              <a:ext cx="1680" cy="192"/>
            </a:xfrm>
            <a:prstGeom prst="rightArrow">
              <a:avLst>
                <a:gd name="adj1" fmla="val 50000"/>
                <a:gd name="adj2" fmla="val 218750"/>
              </a:avLst>
            </a:prstGeom>
            <a:grp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2400">
                <a:latin typeface="Times New Roman" panose="02020603050405020304" pitchFamily="18" charset="0"/>
                <a:cs typeface="Times New Roman" panose="02020603050405020304" pitchFamily="18" charset="0"/>
              </a:endParaRPr>
            </a:p>
          </p:txBody>
        </p:sp>
        <p:sp>
          <p:nvSpPr>
            <p:cNvPr id="11300" name="Text Box 16"/>
            <p:cNvSpPr txBox="1">
              <a:spLocks noChangeArrowheads="1"/>
            </p:cNvSpPr>
            <p:nvPr/>
          </p:nvSpPr>
          <p:spPr bwMode="auto">
            <a:xfrm>
              <a:off x="2976" y="2496"/>
              <a:ext cx="384" cy="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600">
                  <a:latin typeface="Times New Roman" panose="02020603050405020304" pitchFamily="18" charset="0"/>
                  <a:cs typeface="Times New Roman" panose="02020603050405020304" pitchFamily="18" charset="0"/>
                </a:rPr>
                <a:t>1950</a:t>
              </a:r>
            </a:p>
          </p:txBody>
        </p:sp>
        <p:sp>
          <p:nvSpPr>
            <p:cNvPr id="11301" name="Text Box 17"/>
            <p:cNvSpPr txBox="1">
              <a:spLocks noChangeArrowheads="1"/>
            </p:cNvSpPr>
            <p:nvPr/>
          </p:nvSpPr>
          <p:spPr bwMode="auto">
            <a:xfrm>
              <a:off x="4512" y="2747"/>
              <a:ext cx="384" cy="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600">
                  <a:latin typeface="Times New Roman" panose="02020603050405020304" pitchFamily="18" charset="0"/>
                  <a:cs typeface="Times New Roman" panose="02020603050405020304" pitchFamily="18" charset="0"/>
                </a:rPr>
                <a:t>2000</a:t>
              </a:r>
            </a:p>
          </p:txBody>
        </p:sp>
        <p:sp>
          <p:nvSpPr>
            <p:cNvPr id="11302" name="Text Box 18"/>
            <p:cNvSpPr txBox="1">
              <a:spLocks noChangeArrowheads="1"/>
            </p:cNvSpPr>
            <p:nvPr/>
          </p:nvSpPr>
          <p:spPr bwMode="auto">
            <a:xfrm>
              <a:off x="1968" y="2620"/>
              <a:ext cx="1056" cy="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a:spcBef>
                  <a:spcPct val="50000"/>
                </a:spcBef>
                <a:buFontTx/>
                <a:buNone/>
              </a:pPr>
              <a:r>
                <a:rPr lang="en-US" altLang="en-US" sz="1600" b="1">
                  <a:latin typeface="Times New Roman" panose="02020603050405020304" pitchFamily="18" charset="0"/>
                  <a:cs typeface="Times New Roman" panose="02020603050405020304" pitchFamily="18" charset="0"/>
                </a:rPr>
                <a:t>Systems Theory</a:t>
              </a:r>
            </a:p>
          </p:txBody>
        </p:sp>
      </p:grpSp>
      <p:grpSp>
        <p:nvGrpSpPr>
          <p:cNvPr id="11271" name="Group 19"/>
          <p:cNvGrpSpPr>
            <a:grpSpLocks/>
          </p:cNvGrpSpPr>
          <p:nvPr/>
        </p:nvGrpSpPr>
        <p:grpSpPr bwMode="auto">
          <a:xfrm>
            <a:off x="5556250" y="2457451"/>
            <a:ext cx="4572000" cy="766763"/>
            <a:chOff x="2448" y="1200"/>
            <a:chExt cx="2880" cy="483"/>
          </a:xfrm>
          <a:solidFill>
            <a:schemeClr val="bg1"/>
          </a:solidFill>
        </p:grpSpPr>
        <p:sp>
          <p:nvSpPr>
            <p:cNvPr id="11295" name="AutoShape 20"/>
            <p:cNvSpPr>
              <a:spLocks noChangeArrowheads="1"/>
            </p:cNvSpPr>
            <p:nvPr/>
          </p:nvSpPr>
          <p:spPr bwMode="auto">
            <a:xfrm>
              <a:off x="4560" y="1327"/>
              <a:ext cx="576" cy="209"/>
            </a:xfrm>
            <a:prstGeom prst="rightArrow">
              <a:avLst>
                <a:gd name="adj1" fmla="val 50000"/>
                <a:gd name="adj2" fmla="val 68900"/>
              </a:avLst>
            </a:prstGeom>
            <a:grp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2400">
                <a:latin typeface="Times New Roman" panose="02020603050405020304" pitchFamily="18" charset="0"/>
                <a:cs typeface="Times New Roman" panose="02020603050405020304" pitchFamily="18" charset="0"/>
              </a:endParaRPr>
            </a:p>
          </p:txBody>
        </p:sp>
        <p:sp>
          <p:nvSpPr>
            <p:cNvPr id="11296" name="Text Box 21"/>
            <p:cNvSpPr txBox="1">
              <a:spLocks noChangeArrowheads="1"/>
            </p:cNvSpPr>
            <p:nvPr/>
          </p:nvSpPr>
          <p:spPr bwMode="auto">
            <a:xfrm>
              <a:off x="4512" y="1200"/>
              <a:ext cx="384" cy="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600">
                  <a:latin typeface="Times New Roman" panose="02020603050405020304" pitchFamily="18" charset="0"/>
                  <a:cs typeface="Times New Roman" panose="02020603050405020304" pitchFamily="18" charset="0"/>
                </a:rPr>
                <a:t>2000</a:t>
              </a:r>
            </a:p>
          </p:txBody>
        </p:sp>
        <p:sp>
          <p:nvSpPr>
            <p:cNvPr id="11297" name="Text Box 22"/>
            <p:cNvSpPr txBox="1">
              <a:spLocks noChangeArrowheads="1"/>
            </p:cNvSpPr>
            <p:nvPr/>
          </p:nvSpPr>
          <p:spPr bwMode="auto">
            <a:xfrm>
              <a:off x="4944" y="1471"/>
              <a:ext cx="384" cy="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600">
                  <a:latin typeface="Times New Roman" panose="02020603050405020304" pitchFamily="18" charset="0"/>
                  <a:cs typeface="Times New Roman" panose="02020603050405020304" pitchFamily="18" charset="0"/>
                </a:rPr>
                <a:t>2010</a:t>
              </a:r>
            </a:p>
          </p:txBody>
        </p:sp>
        <p:sp>
          <p:nvSpPr>
            <p:cNvPr id="11298" name="Text Box 23"/>
            <p:cNvSpPr txBox="1">
              <a:spLocks noChangeArrowheads="1"/>
            </p:cNvSpPr>
            <p:nvPr/>
          </p:nvSpPr>
          <p:spPr bwMode="auto">
            <a:xfrm>
              <a:off x="2448" y="1307"/>
              <a:ext cx="2112" cy="19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a:spcBef>
                  <a:spcPct val="50000"/>
                </a:spcBef>
                <a:buFontTx/>
                <a:buNone/>
              </a:pPr>
              <a:r>
                <a:rPr lang="en-US" altLang="en-US" sz="1400" b="1">
                  <a:latin typeface="Times New Roman" panose="02020603050405020304" pitchFamily="18" charset="0"/>
                  <a:cs typeface="Times New Roman" panose="02020603050405020304" pitchFamily="18" charset="0"/>
                </a:rPr>
                <a:t>The Technology-Driven Workplace</a:t>
              </a:r>
            </a:p>
          </p:txBody>
        </p:sp>
      </p:grpSp>
      <p:grpSp>
        <p:nvGrpSpPr>
          <p:cNvPr id="11272" name="Group 24"/>
          <p:cNvGrpSpPr>
            <a:grpSpLocks/>
          </p:cNvGrpSpPr>
          <p:nvPr/>
        </p:nvGrpSpPr>
        <p:grpSpPr bwMode="auto">
          <a:xfrm>
            <a:off x="6059488" y="2889251"/>
            <a:ext cx="4114800" cy="766763"/>
            <a:chOff x="2592" y="1440"/>
            <a:chExt cx="2592" cy="483"/>
          </a:xfrm>
          <a:solidFill>
            <a:schemeClr val="bg1"/>
          </a:solidFill>
        </p:grpSpPr>
        <p:sp>
          <p:nvSpPr>
            <p:cNvPr id="11291" name="AutoShape 25"/>
            <p:cNvSpPr>
              <a:spLocks noChangeArrowheads="1"/>
            </p:cNvSpPr>
            <p:nvPr/>
          </p:nvSpPr>
          <p:spPr bwMode="auto">
            <a:xfrm>
              <a:off x="4224" y="1567"/>
              <a:ext cx="768" cy="192"/>
            </a:xfrm>
            <a:prstGeom prst="rightArrow">
              <a:avLst>
                <a:gd name="adj1" fmla="val 50000"/>
                <a:gd name="adj2" fmla="val 100000"/>
              </a:avLst>
            </a:prstGeom>
            <a:grp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2400">
                <a:latin typeface="Times New Roman" panose="02020603050405020304" pitchFamily="18" charset="0"/>
                <a:cs typeface="Times New Roman" panose="02020603050405020304" pitchFamily="18" charset="0"/>
              </a:endParaRPr>
            </a:p>
          </p:txBody>
        </p:sp>
        <p:sp>
          <p:nvSpPr>
            <p:cNvPr id="11292" name="Text Box 26"/>
            <p:cNvSpPr txBox="1">
              <a:spLocks noChangeArrowheads="1"/>
            </p:cNvSpPr>
            <p:nvPr/>
          </p:nvSpPr>
          <p:spPr bwMode="auto">
            <a:xfrm>
              <a:off x="4176" y="1440"/>
              <a:ext cx="384" cy="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600">
                  <a:latin typeface="Times New Roman" panose="02020603050405020304" pitchFamily="18" charset="0"/>
                  <a:cs typeface="Times New Roman" panose="02020603050405020304" pitchFamily="18" charset="0"/>
                </a:rPr>
                <a:t>1990</a:t>
              </a:r>
            </a:p>
          </p:txBody>
        </p:sp>
        <p:sp>
          <p:nvSpPr>
            <p:cNvPr id="11293" name="Text Box 27"/>
            <p:cNvSpPr txBox="1">
              <a:spLocks noChangeArrowheads="1"/>
            </p:cNvSpPr>
            <p:nvPr/>
          </p:nvSpPr>
          <p:spPr bwMode="auto">
            <a:xfrm>
              <a:off x="4800" y="1711"/>
              <a:ext cx="384" cy="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600">
                  <a:latin typeface="Times New Roman" panose="02020603050405020304" pitchFamily="18" charset="0"/>
                  <a:cs typeface="Times New Roman" panose="02020603050405020304" pitchFamily="18" charset="0"/>
                </a:rPr>
                <a:t>2010</a:t>
              </a:r>
            </a:p>
          </p:txBody>
        </p:sp>
        <p:sp>
          <p:nvSpPr>
            <p:cNvPr id="11294" name="Text Box 28"/>
            <p:cNvSpPr txBox="1">
              <a:spLocks noChangeArrowheads="1"/>
            </p:cNvSpPr>
            <p:nvPr/>
          </p:nvSpPr>
          <p:spPr bwMode="auto">
            <a:xfrm>
              <a:off x="2592" y="1547"/>
              <a:ext cx="1632" cy="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a:spcBef>
                  <a:spcPct val="50000"/>
                </a:spcBef>
                <a:buFontTx/>
                <a:buNone/>
              </a:pPr>
              <a:r>
                <a:rPr lang="en-US" altLang="en-US" sz="1400" b="1">
                  <a:latin typeface="Times New Roman" panose="02020603050405020304" pitchFamily="18" charset="0"/>
                  <a:cs typeface="Times New Roman" panose="02020603050405020304" pitchFamily="18" charset="0"/>
                </a:rPr>
                <a:t>The</a:t>
              </a:r>
              <a:r>
                <a:rPr lang="en-US" altLang="en-US" sz="1600" b="1">
                  <a:solidFill>
                    <a:schemeClr val="bg1"/>
                  </a:solidFill>
                  <a:latin typeface="Times New Roman" panose="02020603050405020304" pitchFamily="18" charset="0"/>
                  <a:cs typeface="Times New Roman" panose="02020603050405020304" pitchFamily="18" charset="0"/>
                </a:rPr>
                <a:t> </a:t>
              </a:r>
              <a:r>
                <a:rPr lang="en-US" altLang="en-US" sz="1600" b="1">
                  <a:latin typeface="Times New Roman" panose="02020603050405020304" pitchFamily="18" charset="0"/>
                  <a:cs typeface="Times New Roman" panose="02020603050405020304" pitchFamily="18" charset="0"/>
                </a:rPr>
                <a:t>Learning Organization</a:t>
              </a:r>
            </a:p>
          </p:txBody>
        </p:sp>
      </p:grpSp>
      <p:grpSp>
        <p:nvGrpSpPr>
          <p:cNvPr id="11273" name="Group 29"/>
          <p:cNvGrpSpPr>
            <a:grpSpLocks/>
          </p:cNvGrpSpPr>
          <p:nvPr/>
        </p:nvGrpSpPr>
        <p:grpSpPr bwMode="auto">
          <a:xfrm>
            <a:off x="5483225" y="3789364"/>
            <a:ext cx="4038600" cy="725487"/>
            <a:chOff x="2352" y="2117"/>
            <a:chExt cx="2544" cy="457"/>
          </a:xfrm>
          <a:solidFill>
            <a:schemeClr val="bg1"/>
          </a:solidFill>
        </p:grpSpPr>
        <p:sp>
          <p:nvSpPr>
            <p:cNvPr id="11287" name="AutoShape 30"/>
            <p:cNvSpPr>
              <a:spLocks noChangeArrowheads="1"/>
            </p:cNvSpPr>
            <p:nvPr/>
          </p:nvSpPr>
          <p:spPr bwMode="auto">
            <a:xfrm>
              <a:off x="3552" y="2239"/>
              <a:ext cx="1152" cy="192"/>
            </a:xfrm>
            <a:prstGeom prst="rightArrow">
              <a:avLst>
                <a:gd name="adj1" fmla="val 50000"/>
                <a:gd name="adj2" fmla="val 150000"/>
              </a:avLst>
            </a:prstGeom>
            <a:grp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2400">
                <a:latin typeface="Times New Roman" panose="02020603050405020304" pitchFamily="18" charset="0"/>
                <a:cs typeface="Times New Roman" panose="02020603050405020304" pitchFamily="18" charset="0"/>
              </a:endParaRPr>
            </a:p>
          </p:txBody>
        </p:sp>
        <p:sp>
          <p:nvSpPr>
            <p:cNvPr id="11288" name="Text Box 31"/>
            <p:cNvSpPr txBox="1">
              <a:spLocks noChangeArrowheads="1"/>
            </p:cNvSpPr>
            <p:nvPr/>
          </p:nvSpPr>
          <p:spPr bwMode="auto">
            <a:xfrm>
              <a:off x="3504" y="2117"/>
              <a:ext cx="384" cy="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600">
                  <a:latin typeface="Times New Roman" panose="02020603050405020304" pitchFamily="18" charset="0"/>
                  <a:cs typeface="Times New Roman" panose="02020603050405020304" pitchFamily="18" charset="0"/>
                </a:rPr>
                <a:t>1970</a:t>
              </a:r>
            </a:p>
          </p:txBody>
        </p:sp>
        <p:sp>
          <p:nvSpPr>
            <p:cNvPr id="11289" name="Text Box 32"/>
            <p:cNvSpPr txBox="1">
              <a:spLocks noChangeArrowheads="1"/>
            </p:cNvSpPr>
            <p:nvPr/>
          </p:nvSpPr>
          <p:spPr bwMode="auto">
            <a:xfrm>
              <a:off x="2352" y="2219"/>
              <a:ext cx="1200" cy="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a:spcBef>
                  <a:spcPct val="50000"/>
                </a:spcBef>
                <a:buFontTx/>
                <a:buNone/>
              </a:pPr>
              <a:r>
                <a:rPr lang="en-US" altLang="en-US" sz="1600" b="1">
                  <a:latin typeface="Times New Roman" panose="02020603050405020304" pitchFamily="18" charset="0"/>
                  <a:cs typeface="Times New Roman" panose="02020603050405020304" pitchFamily="18" charset="0"/>
                </a:rPr>
                <a:t>Contingency Views</a:t>
              </a:r>
            </a:p>
          </p:txBody>
        </p:sp>
        <p:sp>
          <p:nvSpPr>
            <p:cNvPr id="11290" name="Text Box 33"/>
            <p:cNvSpPr txBox="1">
              <a:spLocks noChangeArrowheads="1"/>
            </p:cNvSpPr>
            <p:nvPr/>
          </p:nvSpPr>
          <p:spPr bwMode="auto">
            <a:xfrm>
              <a:off x="4512" y="2362"/>
              <a:ext cx="384" cy="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600">
                  <a:latin typeface="Times New Roman" panose="02020603050405020304" pitchFamily="18" charset="0"/>
                  <a:cs typeface="Times New Roman" panose="02020603050405020304" pitchFamily="18" charset="0"/>
                </a:rPr>
                <a:t>2000</a:t>
              </a:r>
            </a:p>
          </p:txBody>
        </p:sp>
      </p:grpSp>
      <p:grpSp>
        <p:nvGrpSpPr>
          <p:cNvPr id="11274" name="Group 34"/>
          <p:cNvGrpSpPr>
            <a:grpSpLocks/>
          </p:cNvGrpSpPr>
          <p:nvPr/>
        </p:nvGrpSpPr>
        <p:grpSpPr bwMode="auto">
          <a:xfrm>
            <a:off x="4727575" y="3284539"/>
            <a:ext cx="5041900" cy="695325"/>
            <a:chOff x="2112" y="1770"/>
            <a:chExt cx="2880" cy="438"/>
          </a:xfrm>
          <a:solidFill>
            <a:schemeClr val="bg1"/>
          </a:solidFill>
        </p:grpSpPr>
        <p:sp>
          <p:nvSpPr>
            <p:cNvPr id="11283" name="AutoShape 35"/>
            <p:cNvSpPr>
              <a:spLocks noChangeArrowheads="1"/>
            </p:cNvSpPr>
            <p:nvPr/>
          </p:nvSpPr>
          <p:spPr bwMode="auto">
            <a:xfrm>
              <a:off x="3936" y="1903"/>
              <a:ext cx="768" cy="192"/>
            </a:xfrm>
            <a:prstGeom prst="rightArrow">
              <a:avLst>
                <a:gd name="adj1" fmla="val 50000"/>
                <a:gd name="adj2" fmla="val 100000"/>
              </a:avLst>
            </a:prstGeom>
            <a:grp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2400">
                <a:latin typeface="Times New Roman" panose="02020603050405020304" pitchFamily="18" charset="0"/>
                <a:cs typeface="Times New Roman" panose="02020603050405020304" pitchFamily="18" charset="0"/>
              </a:endParaRPr>
            </a:p>
          </p:txBody>
        </p:sp>
        <p:sp>
          <p:nvSpPr>
            <p:cNvPr id="11284" name="Text Box 36"/>
            <p:cNvSpPr txBox="1">
              <a:spLocks noChangeArrowheads="1"/>
            </p:cNvSpPr>
            <p:nvPr/>
          </p:nvSpPr>
          <p:spPr bwMode="auto">
            <a:xfrm>
              <a:off x="3888" y="1770"/>
              <a:ext cx="384" cy="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600">
                  <a:latin typeface="Times New Roman" panose="02020603050405020304" pitchFamily="18" charset="0"/>
                  <a:cs typeface="Times New Roman" panose="02020603050405020304" pitchFamily="18" charset="0"/>
                </a:rPr>
                <a:t>1980</a:t>
              </a:r>
            </a:p>
          </p:txBody>
        </p:sp>
        <p:sp>
          <p:nvSpPr>
            <p:cNvPr id="11285" name="Text Box 37"/>
            <p:cNvSpPr txBox="1">
              <a:spLocks noChangeArrowheads="1"/>
            </p:cNvSpPr>
            <p:nvPr/>
          </p:nvSpPr>
          <p:spPr bwMode="auto">
            <a:xfrm>
              <a:off x="2112" y="1883"/>
              <a:ext cx="1824" cy="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a:spcBef>
                  <a:spcPct val="50000"/>
                </a:spcBef>
                <a:buFontTx/>
                <a:buNone/>
              </a:pPr>
              <a:r>
                <a:rPr lang="en-US" altLang="en-US" sz="1600" b="1">
                  <a:latin typeface="Times New Roman" panose="02020603050405020304" pitchFamily="18" charset="0"/>
                  <a:cs typeface="Times New Roman" panose="02020603050405020304" pitchFamily="18" charset="0"/>
                </a:rPr>
                <a:t>Total Quality Management</a:t>
              </a:r>
            </a:p>
          </p:txBody>
        </p:sp>
        <p:sp>
          <p:nvSpPr>
            <p:cNvPr id="11286" name="Text Box 38"/>
            <p:cNvSpPr txBox="1">
              <a:spLocks noChangeArrowheads="1"/>
            </p:cNvSpPr>
            <p:nvPr/>
          </p:nvSpPr>
          <p:spPr bwMode="auto">
            <a:xfrm>
              <a:off x="4608" y="1996"/>
              <a:ext cx="384" cy="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600">
                  <a:latin typeface="Times New Roman" panose="02020603050405020304" pitchFamily="18" charset="0"/>
                  <a:cs typeface="Times New Roman" panose="02020603050405020304" pitchFamily="18" charset="0"/>
                </a:rPr>
                <a:t>2000</a:t>
              </a:r>
            </a:p>
          </p:txBody>
        </p:sp>
      </p:grpSp>
      <p:grpSp>
        <p:nvGrpSpPr>
          <p:cNvPr id="11275" name="Group 39"/>
          <p:cNvGrpSpPr>
            <a:grpSpLocks/>
          </p:cNvGrpSpPr>
          <p:nvPr/>
        </p:nvGrpSpPr>
        <p:grpSpPr bwMode="auto">
          <a:xfrm>
            <a:off x="3000375" y="4689476"/>
            <a:ext cx="6248400" cy="735013"/>
            <a:chOff x="672" y="2908"/>
            <a:chExt cx="3936" cy="463"/>
          </a:xfrm>
          <a:solidFill>
            <a:schemeClr val="bg1"/>
          </a:solidFill>
        </p:grpSpPr>
        <p:sp>
          <p:nvSpPr>
            <p:cNvPr id="11279" name="AutoShape 40"/>
            <p:cNvSpPr>
              <a:spLocks noChangeArrowheads="1"/>
            </p:cNvSpPr>
            <p:nvPr/>
          </p:nvSpPr>
          <p:spPr bwMode="auto">
            <a:xfrm>
              <a:off x="2640" y="3051"/>
              <a:ext cx="1824" cy="192"/>
            </a:xfrm>
            <a:prstGeom prst="rightArrow">
              <a:avLst>
                <a:gd name="adj1" fmla="val 50000"/>
                <a:gd name="adj2" fmla="val 237500"/>
              </a:avLst>
            </a:prstGeom>
            <a:grp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2400">
                <a:latin typeface="Times New Roman" panose="02020603050405020304" pitchFamily="18" charset="0"/>
                <a:cs typeface="Times New Roman" panose="02020603050405020304" pitchFamily="18" charset="0"/>
              </a:endParaRPr>
            </a:p>
          </p:txBody>
        </p:sp>
        <p:sp>
          <p:nvSpPr>
            <p:cNvPr id="11280" name="Text Box 41"/>
            <p:cNvSpPr txBox="1">
              <a:spLocks noChangeArrowheads="1"/>
            </p:cNvSpPr>
            <p:nvPr/>
          </p:nvSpPr>
          <p:spPr bwMode="auto">
            <a:xfrm>
              <a:off x="2592" y="2908"/>
              <a:ext cx="384" cy="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600">
                  <a:latin typeface="Times New Roman" panose="02020603050405020304" pitchFamily="18" charset="0"/>
                  <a:cs typeface="Times New Roman" panose="02020603050405020304" pitchFamily="18" charset="0"/>
                </a:rPr>
                <a:t>1940</a:t>
              </a:r>
            </a:p>
          </p:txBody>
        </p:sp>
        <p:sp>
          <p:nvSpPr>
            <p:cNvPr id="11281" name="Text Box 42"/>
            <p:cNvSpPr txBox="1">
              <a:spLocks noChangeArrowheads="1"/>
            </p:cNvSpPr>
            <p:nvPr/>
          </p:nvSpPr>
          <p:spPr bwMode="auto">
            <a:xfrm>
              <a:off x="672" y="3030"/>
              <a:ext cx="1968" cy="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a:spcBef>
                  <a:spcPct val="50000"/>
                </a:spcBef>
                <a:buFontTx/>
                <a:buNone/>
              </a:pPr>
              <a:r>
                <a:rPr lang="en-US" altLang="en-US" sz="1600" b="1">
                  <a:latin typeface="Times New Roman" panose="02020603050405020304" pitchFamily="18" charset="0"/>
                  <a:cs typeface="Times New Roman" panose="02020603050405020304" pitchFamily="18" charset="0"/>
                </a:rPr>
                <a:t>Management Science Perspective</a:t>
              </a:r>
            </a:p>
          </p:txBody>
        </p:sp>
        <p:sp>
          <p:nvSpPr>
            <p:cNvPr id="11282" name="Text Box 43"/>
            <p:cNvSpPr txBox="1">
              <a:spLocks noChangeArrowheads="1"/>
            </p:cNvSpPr>
            <p:nvPr/>
          </p:nvSpPr>
          <p:spPr bwMode="auto">
            <a:xfrm>
              <a:off x="4224" y="3159"/>
              <a:ext cx="384" cy="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600">
                  <a:latin typeface="Times New Roman" panose="02020603050405020304" pitchFamily="18" charset="0"/>
                  <a:cs typeface="Times New Roman" panose="02020603050405020304" pitchFamily="18" charset="0"/>
                </a:rPr>
                <a:t>1990</a:t>
              </a:r>
            </a:p>
          </p:txBody>
        </p:sp>
      </p:grpSp>
      <p:sp>
        <p:nvSpPr>
          <p:cNvPr id="11277" name="Text Box 45"/>
          <p:cNvSpPr txBox="1">
            <a:spLocks noChangeArrowheads="1"/>
          </p:cNvSpPr>
          <p:nvPr/>
        </p:nvSpPr>
        <p:spPr bwMode="auto">
          <a:xfrm>
            <a:off x="2674939" y="6057900"/>
            <a:ext cx="757237" cy="336550"/>
          </a:xfrm>
          <a:prstGeom prst="rect">
            <a:avLst/>
          </a:prstGeom>
          <a:solidFill>
            <a:schemeClr val="bg1"/>
          </a:solidFill>
          <a:ln>
            <a:noFill/>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600">
                <a:latin typeface="Times New Roman" panose="02020603050405020304" pitchFamily="18" charset="0"/>
                <a:cs typeface="Times New Roman" panose="02020603050405020304" pitchFamily="18" charset="0"/>
              </a:rPr>
              <a:t>1870</a:t>
            </a:r>
          </a:p>
        </p:txBody>
      </p:sp>
    </p:spTree>
    <p:extLst>
      <p:ext uri="{BB962C8B-B14F-4D97-AF65-F5344CB8AC3E}">
        <p14:creationId xmlns:p14="http://schemas.microsoft.com/office/powerpoint/2010/main" val="2751407885"/>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solidFill>
            <a:schemeClr val="bg1"/>
          </a:solidFill>
        </p:spPr>
        <p:txBody>
          <a:bodyPr rtlCol="0">
            <a:normAutofit/>
          </a:bodyPr>
          <a:lstStyle/>
          <a:p>
            <a:pPr>
              <a:defRPr/>
            </a:pPr>
            <a:r>
              <a:rPr lang="en-US" altLang="en-US" sz="3200" b="1" dirty="0">
                <a:solidFill>
                  <a:schemeClr val="tx1"/>
                </a:solidFill>
                <a:latin typeface="Times New Roman" panose="02020603050405020304" pitchFamily="18" charset="0"/>
                <a:cs typeface="Times New Roman" panose="02020603050405020304" pitchFamily="18" charset="0"/>
              </a:rPr>
              <a:t>Schools of Management Thought</a:t>
            </a:r>
          </a:p>
        </p:txBody>
      </p:sp>
      <p:sp>
        <p:nvSpPr>
          <p:cNvPr id="63491" name="Rectangle 3"/>
          <p:cNvSpPr>
            <a:spLocks noGrp="1" noChangeArrowheads="1"/>
          </p:cNvSpPr>
          <p:nvPr>
            <p:ph type="body" idx="1"/>
          </p:nvPr>
        </p:nvSpPr>
        <p:spPr>
          <a:solidFill>
            <a:schemeClr val="bg1"/>
          </a:solidFill>
        </p:spPr>
        <p:txBody>
          <a:bodyPr/>
          <a:lstStyle/>
          <a:p>
            <a:pPr marL="114300" indent="0" eaLnBrk="1" hangingPunct="1">
              <a:buNone/>
            </a:pPr>
            <a:r>
              <a:rPr lang="en-US" altLang="en-US" b="1" dirty="0">
                <a:solidFill>
                  <a:schemeClr val="tx1"/>
                </a:solidFill>
                <a:latin typeface="Times New Roman" panose="02020603050405020304" pitchFamily="18" charset="0"/>
                <a:cs typeface="Times New Roman" panose="02020603050405020304" pitchFamily="18" charset="0"/>
              </a:rPr>
              <a:t>Classical School</a:t>
            </a:r>
          </a:p>
          <a:p>
            <a:pPr marL="571500" lvl="1" indent="0" eaLnBrk="1" hangingPunct="1">
              <a:buNone/>
            </a:pPr>
            <a:r>
              <a:rPr lang="en-US" altLang="en-US" dirty="0">
                <a:solidFill>
                  <a:schemeClr val="tx1"/>
                </a:solidFill>
                <a:latin typeface="Times New Roman" panose="02020603050405020304" pitchFamily="18" charset="0"/>
                <a:cs typeface="Times New Roman" panose="02020603050405020304" pitchFamily="18" charset="0"/>
              </a:rPr>
              <a:t>Scientific management.</a:t>
            </a:r>
          </a:p>
          <a:p>
            <a:pPr marL="571500" lvl="1" indent="0" eaLnBrk="1" hangingPunct="1">
              <a:buNone/>
            </a:pPr>
            <a:r>
              <a:rPr lang="en-US" altLang="en-US" dirty="0">
                <a:solidFill>
                  <a:schemeClr val="tx1"/>
                </a:solidFill>
                <a:latin typeface="Times New Roman" panose="02020603050405020304" pitchFamily="18" charset="0"/>
                <a:cs typeface="Times New Roman" panose="02020603050405020304" pitchFamily="18" charset="0"/>
              </a:rPr>
              <a:t>Administrative Principles.</a:t>
            </a:r>
          </a:p>
          <a:p>
            <a:pPr marL="571500" lvl="1" indent="-452438" eaLnBrk="1" hangingPunct="1">
              <a:buNone/>
            </a:pPr>
            <a:r>
              <a:rPr lang="en-US" altLang="en-US" b="1" dirty="0">
                <a:solidFill>
                  <a:schemeClr val="tx1"/>
                </a:solidFill>
                <a:latin typeface="Times New Roman" panose="02020603050405020304" pitchFamily="18" charset="0"/>
                <a:cs typeface="Times New Roman" panose="02020603050405020304" pitchFamily="18" charset="0"/>
              </a:rPr>
              <a:t>Behavioral School</a:t>
            </a:r>
          </a:p>
          <a:p>
            <a:pPr marL="571500" lvl="1" indent="0" eaLnBrk="1" hangingPunct="1">
              <a:buNone/>
            </a:pPr>
            <a:r>
              <a:rPr lang="en-US" altLang="en-US" dirty="0">
                <a:solidFill>
                  <a:schemeClr val="tx1"/>
                </a:solidFill>
                <a:latin typeface="Times New Roman" panose="02020603050405020304" pitchFamily="18" charset="0"/>
                <a:cs typeface="Times New Roman" panose="02020603050405020304" pitchFamily="18" charset="0"/>
              </a:rPr>
              <a:t>Human  Relationships Approach</a:t>
            </a:r>
          </a:p>
          <a:p>
            <a:pPr marL="114300" indent="0" eaLnBrk="1" hangingPunct="1">
              <a:buNone/>
            </a:pPr>
            <a:r>
              <a:rPr lang="en-US" altLang="en-US" b="1" dirty="0">
                <a:solidFill>
                  <a:schemeClr val="tx1"/>
                </a:solidFill>
                <a:latin typeface="Times New Roman" panose="02020603050405020304" pitchFamily="18" charset="0"/>
                <a:cs typeface="Times New Roman" panose="02020603050405020304" pitchFamily="18" charset="0"/>
              </a:rPr>
              <a:t>Management Science School</a:t>
            </a:r>
          </a:p>
          <a:p>
            <a:pPr marL="114300" indent="0" eaLnBrk="1" hangingPunct="1">
              <a:buNone/>
            </a:pPr>
            <a:r>
              <a:rPr lang="en-US" altLang="en-US" b="1" dirty="0">
                <a:solidFill>
                  <a:schemeClr val="tx1"/>
                </a:solidFill>
                <a:latin typeface="Times New Roman" panose="02020603050405020304" pitchFamily="18" charset="0"/>
                <a:cs typeface="Times New Roman" panose="02020603050405020304" pitchFamily="18" charset="0"/>
              </a:rPr>
              <a:t>Recent Historical Development</a:t>
            </a:r>
          </a:p>
          <a:p>
            <a:pPr marL="571500" lvl="1" indent="0">
              <a:buNone/>
            </a:pPr>
            <a:r>
              <a:rPr lang="en-US" altLang="en-US" sz="2000" dirty="0">
                <a:solidFill>
                  <a:schemeClr val="tx1"/>
                </a:solidFill>
                <a:latin typeface="Times New Roman" panose="02020603050405020304" pitchFamily="18" charset="0"/>
                <a:cs typeface="Times New Roman" panose="02020603050405020304" pitchFamily="18" charset="0"/>
              </a:rPr>
              <a:t>Systems Theory</a:t>
            </a:r>
          </a:p>
          <a:p>
            <a:pPr marL="571500" lvl="1" indent="0">
              <a:buNone/>
            </a:pPr>
            <a:r>
              <a:rPr lang="en-US" altLang="en-US" sz="2000" dirty="0">
                <a:solidFill>
                  <a:schemeClr val="tx1"/>
                </a:solidFill>
                <a:latin typeface="Times New Roman" panose="02020603050405020304" pitchFamily="18" charset="0"/>
                <a:cs typeface="Times New Roman" panose="02020603050405020304" pitchFamily="18" charset="0"/>
              </a:rPr>
              <a:t>Contingency Theory</a:t>
            </a:r>
          </a:p>
          <a:p>
            <a:pPr eaLnBrk="1" hangingPunct="1">
              <a:buFont typeface="Wingdings" panose="05000000000000000000" pitchFamily="2" charset="2"/>
              <a:buNone/>
            </a:pPr>
            <a:endParaRPr lang="en-US" alt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09220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34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6349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6349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63491">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63491">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63491">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63491">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63491">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6349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0"/>
          <p:cNvSpPr>
            <a:spLocks noGrp="1" noChangeArrowheads="1"/>
          </p:cNvSpPr>
          <p:nvPr>
            <p:ph type="title"/>
          </p:nvPr>
        </p:nvSpPr>
        <p:spPr>
          <a:xfrm>
            <a:off x="1947864" y="500064"/>
            <a:ext cx="8440737" cy="1057275"/>
          </a:xfrm>
          <a:solidFill>
            <a:schemeClr val="bg1"/>
          </a:solidFill>
        </p:spPr>
        <p:txBody>
          <a:bodyPr rtlCol="0">
            <a:normAutofit/>
          </a:bodyPr>
          <a:lstStyle/>
          <a:p>
            <a:pPr>
              <a:defRPr/>
            </a:pPr>
            <a:r>
              <a:rPr lang="en-US" altLang="en-US" sz="3200" b="1" dirty="0">
                <a:solidFill>
                  <a:srgbClr val="000000"/>
                </a:solidFill>
                <a:latin typeface="Times"/>
                <a:cs typeface="Times"/>
              </a:rPr>
              <a:t>Scientific Management: Frederick Taylor </a:t>
            </a:r>
            <a:br>
              <a:rPr lang="en-US" altLang="en-US" sz="3200" b="1" dirty="0">
                <a:solidFill>
                  <a:srgbClr val="000000"/>
                </a:solidFill>
                <a:latin typeface="Times"/>
                <a:cs typeface="Times"/>
              </a:rPr>
            </a:br>
            <a:r>
              <a:rPr lang="en-US" altLang="en-US" sz="2800" b="1" dirty="0">
                <a:solidFill>
                  <a:srgbClr val="000000"/>
                </a:solidFill>
                <a:latin typeface="Times"/>
                <a:cs typeface="Times"/>
              </a:rPr>
              <a:t>(1856-1915)</a:t>
            </a:r>
          </a:p>
        </p:txBody>
      </p:sp>
      <p:sp>
        <p:nvSpPr>
          <p:cNvPr id="13315" name="Rectangle 11"/>
          <p:cNvSpPr>
            <a:spLocks noGrp="1" noChangeArrowheads="1"/>
          </p:cNvSpPr>
          <p:nvPr>
            <p:ph idx="1"/>
          </p:nvPr>
        </p:nvSpPr>
        <p:spPr>
          <a:xfrm>
            <a:off x="1947863" y="1714500"/>
            <a:ext cx="8451850" cy="4738688"/>
          </a:xfrm>
        </p:spPr>
        <p:txBody>
          <a:bodyPr/>
          <a:lstStyle/>
          <a:p>
            <a:pPr eaLnBrk="1" hangingPunct="1">
              <a:lnSpc>
                <a:spcPct val="90000"/>
              </a:lnSpc>
              <a:buFont typeface="Wingdings" panose="05000000000000000000" pitchFamily="2" charset="2"/>
              <a:buChar char="Ø"/>
            </a:pPr>
            <a:r>
              <a:rPr lang="en-US" altLang="en-US" b="1" dirty="0">
                <a:solidFill>
                  <a:srgbClr val="000000"/>
                </a:solidFill>
                <a:latin typeface="Times"/>
                <a:cs typeface="Times"/>
              </a:rPr>
              <a:t>Frederick Taylor</a:t>
            </a:r>
            <a:r>
              <a:rPr lang="en-US" altLang="en-US" dirty="0">
                <a:solidFill>
                  <a:srgbClr val="000000"/>
                </a:solidFill>
                <a:latin typeface="Times"/>
                <a:cs typeface="Times"/>
              </a:rPr>
              <a:t> was an American mechanical engineer who wanted to improve industrial efficiency.</a:t>
            </a:r>
            <a:endParaRPr lang="en-US" dirty="0"/>
          </a:p>
          <a:p>
            <a:pPr eaLnBrk="1" hangingPunct="1">
              <a:lnSpc>
                <a:spcPct val="90000"/>
              </a:lnSpc>
              <a:buFont typeface="Wingdings" panose="05000000000000000000" pitchFamily="2" charset="2"/>
              <a:buChar char="Ø"/>
            </a:pPr>
            <a:r>
              <a:rPr lang="en-US" altLang="en-US" dirty="0">
                <a:solidFill>
                  <a:srgbClr val="000000"/>
                </a:solidFill>
                <a:latin typeface="Times"/>
                <a:cs typeface="Times"/>
              </a:rPr>
              <a:t>He is considered as the </a:t>
            </a:r>
            <a:r>
              <a:rPr lang="en-US" altLang="en-US" b="1" dirty="0">
                <a:solidFill>
                  <a:srgbClr val="000000"/>
                </a:solidFill>
                <a:latin typeface="Times"/>
                <a:cs typeface="Times"/>
              </a:rPr>
              <a:t>father</a:t>
            </a:r>
            <a:r>
              <a:rPr lang="en-US" altLang="en-US" dirty="0">
                <a:solidFill>
                  <a:srgbClr val="000000"/>
                </a:solidFill>
                <a:latin typeface="Times"/>
                <a:cs typeface="Times"/>
              </a:rPr>
              <a:t> of scientific management.</a:t>
            </a:r>
          </a:p>
          <a:p>
            <a:pPr eaLnBrk="1" hangingPunct="1">
              <a:lnSpc>
                <a:spcPct val="90000"/>
              </a:lnSpc>
              <a:buFont typeface="Wingdings"/>
              <a:buChar char="Ø"/>
            </a:pPr>
            <a:r>
              <a:rPr lang="en-US" altLang="en-US" dirty="0">
                <a:solidFill>
                  <a:srgbClr val="000000"/>
                </a:solidFill>
                <a:latin typeface="Times"/>
                <a:cs typeface="Times"/>
              </a:rPr>
              <a:t>Worked at Midvale Steel (beginning as a common worker, chief engineer, in 6 years)</a:t>
            </a:r>
          </a:p>
          <a:p>
            <a:pPr eaLnBrk="1" hangingPunct="1">
              <a:lnSpc>
                <a:spcPct val="90000"/>
              </a:lnSpc>
              <a:buFont typeface="Wingdings"/>
              <a:buChar char="Ø"/>
            </a:pPr>
            <a:r>
              <a:rPr lang="en-US" altLang="en-US" i="1" dirty="0">
                <a:solidFill>
                  <a:srgbClr val="000000"/>
                </a:solidFill>
                <a:latin typeface="Times"/>
                <a:cs typeface="Times"/>
              </a:rPr>
              <a:t>Started with time study and motivation plans.</a:t>
            </a:r>
          </a:p>
          <a:p>
            <a:pPr eaLnBrk="1" hangingPunct="1">
              <a:lnSpc>
                <a:spcPct val="90000"/>
              </a:lnSpc>
              <a:buFont typeface="Wingdings"/>
              <a:buChar char="Ø"/>
            </a:pPr>
            <a:r>
              <a:rPr lang="en-US" altLang="en-US" i="1" dirty="0">
                <a:solidFill>
                  <a:srgbClr val="000000"/>
                </a:solidFill>
                <a:latin typeface="Times"/>
                <a:cs typeface="Times"/>
              </a:rPr>
              <a:t>Taylor</a:t>
            </a:r>
            <a:r>
              <a:rPr lang="en-US" altLang="en-US" dirty="0">
                <a:solidFill>
                  <a:srgbClr val="000000"/>
                </a:solidFill>
                <a:latin typeface="Times"/>
                <a:cs typeface="Times"/>
              </a:rPr>
              <a:t> wanted to reduce the time a worker spent on each task by optimizing the way the task was done.</a:t>
            </a:r>
          </a:p>
          <a:p>
            <a:pPr eaLnBrk="1" hangingPunct="1">
              <a:lnSpc>
                <a:spcPct val="90000"/>
              </a:lnSpc>
              <a:buFont typeface="Wingdings"/>
              <a:buChar char="Ø"/>
            </a:pPr>
            <a:endParaRPr lang="en-US" altLang="en-US" i="1" dirty="0">
              <a:solidFill>
                <a:srgbClr val="000000"/>
              </a:solidFill>
              <a:latin typeface="Times"/>
              <a:cs typeface="Times"/>
            </a:endParaRPr>
          </a:p>
        </p:txBody>
      </p:sp>
    </p:spTree>
    <p:extLst>
      <p:ext uri="{BB962C8B-B14F-4D97-AF65-F5344CB8AC3E}">
        <p14:creationId xmlns:p14="http://schemas.microsoft.com/office/powerpoint/2010/main" val="226342077"/>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Grp="1" noChangeArrowheads="1"/>
          </p:cNvSpPr>
          <p:nvPr>
            <p:ph idx="1"/>
          </p:nvPr>
        </p:nvSpPr>
        <p:spPr>
          <a:xfrm>
            <a:off x="1947864" y="1700213"/>
            <a:ext cx="8396287" cy="4800600"/>
          </a:xfrm>
          <a:ln>
            <a:solidFill>
              <a:schemeClr val="bg1"/>
            </a:solidFill>
          </a:ln>
        </p:spPr>
        <p:txBody>
          <a:bodyPr spcFirstLastPara="1" wrap="square" lIns="90488" tIns="44450" rIns="90488" bIns="44450" anchor="t" anchorCtr="0">
            <a:noAutofit/>
          </a:bodyPr>
          <a:lstStyle/>
          <a:p>
            <a:pPr eaLnBrk="1" hangingPunct="1">
              <a:lnSpc>
                <a:spcPct val="90000"/>
              </a:lnSpc>
              <a:buFont typeface="Wingdings"/>
              <a:buChar char="Ø"/>
            </a:pPr>
            <a:r>
              <a:rPr lang="en-US" altLang="en-US" dirty="0">
                <a:latin typeface="Times"/>
                <a:cs typeface="Times"/>
              </a:rPr>
              <a:t>Scientific Management as defined by </a:t>
            </a:r>
            <a:r>
              <a:rPr lang="en-US" altLang="en-US" i="1" dirty="0">
                <a:latin typeface="Times"/>
                <a:cs typeface="Times"/>
              </a:rPr>
              <a:t>Frederick Taylor</a:t>
            </a:r>
            <a:r>
              <a:rPr lang="en-US" altLang="en-US" b="1" i="1" dirty="0">
                <a:latin typeface="Times"/>
                <a:cs typeface="Times"/>
              </a:rPr>
              <a:t>: </a:t>
            </a:r>
            <a:endParaRPr lang="en-US" dirty="0"/>
          </a:p>
          <a:p>
            <a:pPr eaLnBrk="1" hangingPunct="1">
              <a:buFont typeface="Wingdings"/>
              <a:buChar char="Ø"/>
            </a:pPr>
            <a:r>
              <a:rPr lang="en-US" altLang="en-US" b="1" dirty="0">
                <a:latin typeface="Times"/>
                <a:cs typeface="Times"/>
              </a:rPr>
              <a:t>The systematic study of the relationships between people and tasks to redesign the work for higher efficiency.</a:t>
            </a:r>
            <a:endParaRPr lang="en-US" altLang="en-US" dirty="0">
              <a:latin typeface="Times"/>
              <a:cs typeface="Times"/>
            </a:endParaRPr>
          </a:p>
        </p:txBody>
      </p:sp>
      <p:sp>
        <p:nvSpPr>
          <p:cNvPr id="5" name="Rectangle 10"/>
          <p:cNvSpPr>
            <a:spLocks noGrp="1" noChangeArrowheads="1"/>
          </p:cNvSpPr>
          <p:nvPr>
            <p:ph type="title"/>
          </p:nvPr>
        </p:nvSpPr>
        <p:spPr>
          <a:xfrm>
            <a:off x="1981200" y="476250"/>
            <a:ext cx="8229600" cy="941388"/>
          </a:xfrm>
          <a:solidFill>
            <a:schemeClr val="bg1"/>
          </a:solidFill>
          <a:ln>
            <a:noFill/>
          </a:ln>
        </p:spPr>
        <p:txBody>
          <a:bodyPr rtlCol="0">
            <a:normAutofit/>
          </a:bodyPr>
          <a:lstStyle/>
          <a:p>
            <a:pPr>
              <a:defRPr/>
            </a:pPr>
            <a:r>
              <a:rPr lang="en-US" altLang="en-US" sz="3200" b="1" dirty="0">
                <a:latin typeface="Times"/>
                <a:cs typeface="Times"/>
              </a:rPr>
              <a:t>Scientific Management: Frederick Taylor </a:t>
            </a:r>
            <a:br>
              <a:rPr lang="en-US" altLang="en-US" sz="3200" b="1" dirty="0">
                <a:latin typeface="Times"/>
                <a:cs typeface="Times"/>
              </a:rPr>
            </a:br>
            <a:r>
              <a:rPr lang="en-US" altLang="en-US" sz="2800" b="1" dirty="0">
                <a:latin typeface="Times"/>
                <a:cs typeface="Times"/>
              </a:rPr>
              <a:t>(</a:t>
            </a:r>
            <a:r>
              <a:rPr lang="en-US" altLang="en-US" sz="2800" b="1" dirty="0">
                <a:solidFill>
                  <a:srgbClr val="000000"/>
                </a:solidFill>
                <a:latin typeface="Times"/>
                <a:cs typeface="Times"/>
              </a:rPr>
              <a:t>1856</a:t>
            </a:r>
            <a:r>
              <a:rPr lang="en-US" altLang="en-US" sz="2800" b="1" dirty="0">
                <a:latin typeface="Times"/>
                <a:cs typeface="Times"/>
              </a:rPr>
              <a:t>-1915)</a:t>
            </a:r>
          </a:p>
        </p:txBody>
      </p:sp>
    </p:spTree>
    <p:extLst>
      <p:ext uri="{BB962C8B-B14F-4D97-AF65-F5344CB8AC3E}">
        <p14:creationId xmlns:p14="http://schemas.microsoft.com/office/powerpoint/2010/main" val="1997828039"/>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2135188" y="404813"/>
            <a:ext cx="7239000" cy="792162"/>
          </a:xfrm>
          <a:solidFill>
            <a:schemeClr val="bg1"/>
          </a:solidFill>
          <a:ln>
            <a:noFill/>
          </a:ln>
          <a:effectLst>
            <a:outerShdw dist="17961" dir="13500000" algn="ctr" rotWithShape="0">
              <a:schemeClr val="tx1"/>
            </a:outerShdw>
          </a:effectLst>
        </p:spPr>
        <p:txBody>
          <a:bodyPr spcFirstLastPara="1" wrap="square" lIns="90488" tIns="44450" rIns="90488" bIns="44450" rtlCol="0" anchor="ctr" anchorCtr="0">
            <a:normAutofit/>
          </a:bodyPr>
          <a:lstStyle/>
          <a:p>
            <a:pPr>
              <a:defRPr/>
            </a:pPr>
            <a:r>
              <a:rPr lang="en-US" altLang="en-US" sz="3600" b="1" dirty="0">
                <a:latin typeface="Times"/>
                <a:cs typeface="Times"/>
              </a:rPr>
              <a:t>The 4 Principles </a:t>
            </a:r>
          </a:p>
        </p:txBody>
      </p:sp>
      <p:sp>
        <p:nvSpPr>
          <p:cNvPr id="15363" name="Rectangle 3"/>
          <p:cNvSpPr>
            <a:spLocks noGrp="1" noChangeArrowheads="1"/>
          </p:cNvSpPr>
          <p:nvPr>
            <p:ph idx="1"/>
          </p:nvPr>
        </p:nvSpPr>
        <p:spPr>
          <a:xfrm>
            <a:off x="1847851" y="1341438"/>
            <a:ext cx="8424863" cy="5256212"/>
          </a:xfrm>
          <a:solidFill>
            <a:schemeClr val="bg1"/>
          </a:solidFill>
          <a:ln>
            <a:noFill/>
          </a:ln>
        </p:spPr>
        <p:txBody>
          <a:bodyPr spcFirstLastPara="1" wrap="square" lIns="90488" tIns="44450" rIns="90488" bIns="44450" anchor="t" anchorCtr="0">
            <a:noAutofit/>
          </a:bodyPr>
          <a:lstStyle/>
          <a:p>
            <a:pPr marL="114300" indent="0" eaLnBrk="1" hangingPunct="1">
              <a:lnSpc>
                <a:spcPct val="90000"/>
              </a:lnSpc>
              <a:buNone/>
            </a:pPr>
            <a:r>
              <a:rPr lang="en-US" altLang="en-US" b="1" dirty="0">
                <a:latin typeface="Times"/>
                <a:cs typeface="Times"/>
              </a:rPr>
              <a:t>Four Principles to increase efficiency:</a:t>
            </a:r>
            <a:endParaRPr lang="en-US" altLang="en-US" dirty="0">
              <a:latin typeface="Times"/>
              <a:cs typeface="Times"/>
            </a:endParaRPr>
          </a:p>
          <a:p>
            <a:pPr marL="1085850" lvl="1" indent="-514350" eaLnBrk="1" hangingPunct="1">
              <a:buAutoNum type="arabicPeriod"/>
            </a:pPr>
            <a:r>
              <a:rPr lang="en-US" altLang="en-US" dirty="0">
                <a:latin typeface="Times"/>
                <a:cs typeface="Times"/>
              </a:rPr>
              <a:t>Study the way the job is performed now &amp; determine new ways to do it.</a:t>
            </a:r>
          </a:p>
          <a:p>
            <a:pPr marL="1028700" lvl="1" indent="-457200" eaLnBrk="1" hangingPunct="1">
              <a:buAutoNum type="arabicPeriod"/>
            </a:pPr>
            <a:r>
              <a:rPr lang="en-US" altLang="en-US" dirty="0">
                <a:latin typeface="Times"/>
                <a:cs typeface="Times"/>
              </a:rPr>
              <a:t>Organize the new method into rules.</a:t>
            </a:r>
          </a:p>
          <a:p>
            <a:pPr marL="1028700" lvl="1" indent="-457200" eaLnBrk="1" hangingPunct="1">
              <a:buAutoNum type="arabicPeriod"/>
            </a:pPr>
            <a:r>
              <a:rPr lang="en-US" altLang="en-US" dirty="0">
                <a:latin typeface="Times"/>
                <a:cs typeface="Times"/>
              </a:rPr>
              <a:t>Select workers whose skills match the rules.</a:t>
            </a:r>
          </a:p>
          <a:p>
            <a:pPr marL="1028700" lvl="1" indent="-457200" eaLnBrk="1" hangingPunct="1">
              <a:buAutoNum type="arabicPeriod"/>
            </a:pPr>
            <a:r>
              <a:rPr lang="en-US" altLang="en-US" dirty="0">
                <a:latin typeface="Times"/>
                <a:cs typeface="Times"/>
              </a:rPr>
              <a:t>Establish a fair level of performance and pay for higher performance.</a:t>
            </a:r>
          </a:p>
        </p:txBody>
      </p:sp>
    </p:spTree>
    <p:extLst>
      <p:ext uri="{BB962C8B-B14F-4D97-AF65-F5344CB8AC3E}">
        <p14:creationId xmlns:p14="http://schemas.microsoft.com/office/powerpoint/2010/main" val="4050695051"/>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2279650" y="476250"/>
            <a:ext cx="7696200" cy="674688"/>
          </a:xfrm>
          <a:solidFill>
            <a:schemeClr val="bg1"/>
          </a:solidFill>
        </p:spPr>
        <p:txBody>
          <a:bodyPr rtlCol="0">
            <a:normAutofit/>
          </a:bodyPr>
          <a:lstStyle/>
          <a:p>
            <a:pPr>
              <a:defRPr/>
            </a:pPr>
            <a:r>
              <a:rPr lang="en-US" altLang="en-US" sz="3200" b="1">
                <a:latin typeface="Times"/>
                <a:cs typeface="Times"/>
              </a:rPr>
              <a:t>Scientific Management: summarize</a:t>
            </a:r>
          </a:p>
        </p:txBody>
      </p:sp>
      <p:sp>
        <p:nvSpPr>
          <p:cNvPr id="16387" name="Rectangle 3"/>
          <p:cNvSpPr>
            <a:spLocks noGrp="1" noChangeArrowheads="1"/>
          </p:cNvSpPr>
          <p:nvPr>
            <p:ph idx="1"/>
          </p:nvPr>
        </p:nvSpPr>
        <p:spPr>
          <a:xfrm>
            <a:off x="2063750" y="1412876"/>
            <a:ext cx="8104188" cy="4752975"/>
          </a:xfrm>
          <a:solidFill>
            <a:schemeClr val="bg1"/>
          </a:solidFill>
        </p:spPr>
        <p:txBody>
          <a:bodyPr/>
          <a:lstStyle/>
          <a:p>
            <a:pPr marL="114300" indent="0" eaLnBrk="1" hangingPunct="1">
              <a:lnSpc>
                <a:spcPct val="90000"/>
              </a:lnSpc>
              <a:buNone/>
            </a:pPr>
            <a:r>
              <a:rPr lang="en-US" altLang="en-US" b="1" i="1">
                <a:latin typeface="Times"/>
                <a:cs typeface="Times"/>
              </a:rPr>
              <a:t>Contributions:</a:t>
            </a:r>
            <a:endParaRPr lang="en-US"/>
          </a:p>
          <a:p>
            <a:pPr lvl="1" eaLnBrk="1" hangingPunct="1">
              <a:lnSpc>
                <a:spcPct val="90000"/>
              </a:lnSpc>
              <a:buFont typeface="Wingdings"/>
              <a:buChar char="Ø"/>
            </a:pPr>
            <a:r>
              <a:rPr lang="en-US" altLang="en-US">
                <a:latin typeface="Times"/>
                <a:cs typeface="Times"/>
              </a:rPr>
              <a:t>Pay for performance.</a:t>
            </a:r>
          </a:p>
          <a:p>
            <a:pPr lvl="1" eaLnBrk="1" hangingPunct="1">
              <a:lnSpc>
                <a:spcPct val="90000"/>
              </a:lnSpc>
              <a:buFont typeface="Wingdings"/>
              <a:buChar char="Ø"/>
            </a:pPr>
            <a:r>
              <a:rPr lang="en-US" altLang="en-US">
                <a:latin typeface="Times"/>
                <a:cs typeface="Times"/>
              </a:rPr>
              <a:t>Careful examination of job tasks.</a:t>
            </a:r>
          </a:p>
          <a:p>
            <a:pPr lvl="1" eaLnBrk="1" hangingPunct="1">
              <a:lnSpc>
                <a:spcPct val="90000"/>
              </a:lnSpc>
              <a:buFont typeface="Wingdings"/>
              <a:buChar char="Ø"/>
            </a:pPr>
            <a:r>
              <a:rPr lang="en-US" altLang="en-US">
                <a:latin typeface="Times"/>
                <a:cs typeface="Times"/>
              </a:rPr>
              <a:t>Importance of training and selection.</a:t>
            </a:r>
          </a:p>
          <a:p>
            <a:pPr marL="114300" indent="0" eaLnBrk="1" hangingPunct="1">
              <a:lnSpc>
                <a:spcPct val="90000"/>
              </a:lnSpc>
              <a:buNone/>
            </a:pPr>
            <a:r>
              <a:rPr lang="en-US" altLang="en-US" b="1" i="1" u="sng">
                <a:latin typeface="Times"/>
                <a:cs typeface="Times"/>
              </a:rPr>
              <a:t>But……..* Problems </a:t>
            </a:r>
          </a:p>
          <a:p>
            <a:pPr lvl="1" eaLnBrk="1" hangingPunct="1">
              <a:lnSpc>
                <a:spcPct val="90000"/>
              </a:lnSpc>
              <a:buFont typeface="Wingdings"/>
              <a:buChar char="Ø"/>
            </a:pPr>
            <a:r>
              <a:rPr lang="en-US" altLang="en-US">
                <a:latin typeface="Times"/>
                <a:cs typeface="Times"/>
              </a:rPr>
              <a:t>Assumed workers were robot without social needs or  human needs.</a:t>
            </a:r>
          </a:p>
          <a:p>
            <a:pPr lvl="1" eaLnBrk="1" hangingPunct="1">
              <a:lnSpc>
                <a:spcPct val="90000"/>
              </a:lnSpc>
              <a:buFont typeface="Wingdings"/>
              <a:buChar char="Ø"/>
            </a:pPr>
            <a:r>
              <a:rPr lang="en-US" altLang="en-US">
                <a:latin typeface="Times"/>
                <a:cs typeface="Times"/>
              </a:rPr>
              <a:t>Assumed all individuals were the same.</a:t>
            </a:r>
          </a:p>
        </p:txBody>
      </p:sp>
    </p:spTree>
    <p:extLst>
      <p:ext uri="{BB962C8B-B14F-4D97-AF65-F5344CB8AC3E}">
        <p14:creationId xmlns:p14="http://schemas.microsoft.com/office/powerpoint/2010/main" val="25017182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9"/>
          <p:cNvSpPr>
            <a:spLocks noGrp="1" noChangeArrowheads="1"/>
          </p:cNvSpPr>
          <p:nvPr>
            <p:ph type="title"/>
          </p:nvPr>
        </p:nvSpPr>
        <p:spPr>
          <a:xfrm>
            <a:off x="1947864" y="476251"/>
            <a:ext cx="8440737" cy="1008063"/>
          </a:xfrm>
          <a:solidFill>
            <a:schemeClr val="bg1"/>
          </a:solidFill>
        </p:spPr>
        <p:txBody>
          <a:bodyPr rtlCol="0">
            <a:normAutofit/>
          </a:bodyPr>
          <a:lstStyle/>
          <a:p>
            <a:pPr>
              <a:defRPr/>
            </a:pPr>
            <a:r>
              <a:rPr lang="en-US" altLang="en-US" sz="3200" b="1" dirty="0">
                <a:latin typeface="Times New Roman"/>
                <a:cs typeface="Times New Roman"/>
              </a:rPr>
              <a:t>Administrative Principles Theory: </a:t>
            </a:r>
            <a:br>
              <a:rPr lang="en-US" altLang="en-US" sz="3200" b="1" dirty="0">
                <a:latin typeface="Times New Roman"/>
                <a:cs typeface="Times New Roman"/>
              </a:rPr>
            </a:br>
            <a:r>
              <a:rPr lang="en-US" altLang="en-US" sz="3200" b="1" dirty="0">
                <a:latin typeface="Times New Roman"/>
                <a:cs typeface="Times New Roman"/>
              </a:rPr>
              <a:t>Henry Fayol (1841–1925)</a:t>
            </a:r>
          </a:p>
        </p:txBody>
      </p:sp>
      <p:sp>
        <p:nvSpPr>
          <p:cNvPr id="17411" name="Rectangle 10"/>
          <p:cNvSpPr>
            <a:spLocks noGrp="1" noChangeArrowheads="1"/>
          </p:cNvSpPr>
          <p:nvPr>
            <p:ph idx="1"/>
          </p:nvPr>
        </p:nvSpPr>
        <p:spPr>
          <a:xfrm>
            <a:off x="1947863" y="1773238"/>
            <a:ext cx="8451850" cy="4608512"/>
          </a:xfrm>
          <a:solidFill>
            <a:schemeClr val="bg1"/>
          </a:solidFill>
        </p:spPr>
        <p:txBody>
          <a:bodyPr/>
          <a:lstStyle/>
          <a:p>
            <a:pPr eaLnBrk="1" hangingPunct="1">
              <a:buFont typeface="Wingdings"/>
              <a:buChar char="Ø"/>
            </a:pPr>
            <a:r>
              <a:rPr lang="en-US" altLang="en-US" b="1" dirty="0">
                <a:latin typeface="Times New Roman"/>
                <a:cs typeface="Times New Roman"/>
              </a:rPr>
              <a:t>Henri Fayol</a:t>
            </a:r>
            <a:r>
              <a:rPr lang="en-US" altLang="en-US" dirty="0">
                <a:latin typeface="Times New Roman"/>
                <a:cs typeface="Times New Roman"/>
              </a:rPr>
              <a:t> </a:t>
            </a:r>
            <a:r>
              <a:rPr lang="en-US" altLang="en-US" sz="2400" dirty="0">
                <a:latin typeface="Times New Roman"/>
                <a:cs typeface="Times New Roman"/>
              </a:rPr>
              <a:t>(1841- 1925) </a:t>
            </a:r>
            <a:r>
              <a:rPr lang="en-US" altLang="en-US" dirty="0">
                <a:latin typeface="Times New Roman"/>
                <a:cs typeface="Times New Roman"/>
              </a:rPr>
              <a:t>was a French mining engineer.</a:t>
            </a:r>
            <a:endParaRPr lang="en-US"/>
          </a:p>
          <a:p>
            <a:pPr eaLnBrk="1" hangingPunct="1">
              <a:buFont typeface="Wingdings"/>
              <a:buChar char="Ø"/>
            </a:pPr>
            <a:r>
              <a:rPr lang="en-US" altLang="en-US" dirty="0">
                <a:latin typeface="Times New Roman"/>
                <a:cs typeface="Times New Roman"/>
              </a:rPr>
              <a:t>He was one of the most influential contributors to modern concepts of management.</a:t>
            </a:r>
          </a:p>
          <a:p>
            <a:pPr marL="114300" indent="0" eaLnBrk="1" hangingPunct="1">
              <a:buNone/>
            </a:pPr>
            <a:r>
              <a:rPr lang="en-US" altLang="en-US" b="1" dirty="0">
                <a:solidFill>
                  <a:schemeClr val="tx1"/>
                </a:solidFill>
                <a:latin typeface="Times New Roman"/>
                <a:cs typeface="Times New Roman"/>
              </a:rPr>
              <a:t>Focus:  </a:t>
            </a:r>
          </a:p>
          <a:p>
            <a:pPr lvl="1" eaLnBrk="1" hangingPunct="1">
              <a:buFont typeface="Wingdings"/>
              <a:buChar char="Ø"/>
            </a:pPr>
            <a:r>
              <a:rPr lang="en-US" altLang="en-US" sz="2700" dirty="0">
                <a:latin typeface="Times New Roman"/>
                <a:cs typeface="Times New Roman"/>
              </a:rPr>
              <a:t>Organization rather than the individual.</a:t>
            </a:r>
          </a:p>
          <a:p>
            <a:pPr lvl="1" eaLnBrk="1" hangingPunct="1">
              <a:buFont typeface="Wingdings"/>
              <a:buChar char="Ø"/>
            </a:pPr>
            <a:r>
              <a:rPr lang="en-US" altLang="en-US" sz="2700" dirty="0">
                <a:latin typeface="Times New Roman"/>
                <a:cs typeface="Times New Roman"/>
              </a:rPr>
              <a:t>Described the management functions of planning, organizing, coordinating, and controlling.</a:t>
            </a:r>
          </a:p>
          <a:p>
            <a:pPr eaLnBrk="1" hangingPunct="1">
              <a:buFont typeface="Wingdings" panose="05000000000000000000" pitchFamily="2" charset="2"/>
              <a:buNone/>
            </a:pPr>
            <a:endParaRPr lang="en-US" altLang="en-US">
              <a:latin typeface="Times New Roman"/>
              <a:cs typeface="Times New Roman"/>
            </a:endParaRPr>
          </a:p>
        </p:txBody>
      </p:sp>
    </p:spTree>
    <p:extLst>
      <p:ext uri="{BB962C8B-B14F-4D97-AF65-F5344CB8AC3E}">
        <p14:creationId xmlns:p14="http://schemas.microsoft.com/office/powerpoint/2010/main" val="2120757684"/>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2667000" y="404813"/>
            <a:ext cx="6934200" cy="792162"/>
          </a:xfrm>
          <a:solidFill>
            <a:schemeClr val="bg1"/>
          </a:solidFill>
          <a:ln>
            <a:noFill/>
          </a:ln>
          <a:effectLst>
            <a:outerShdw dist="17961" dir="13500000" algn="ctr" rotWithShape="0">
              <a:schemeClr val="tx1"/>
            </a:outerShdw>
          </a:effectLst>
        </p:spPr>
        <p:txBody>
          <a:bodyPr spcFirstLastPara="1" wrap="square" lIns="90488" tIns="44450" rIns="90488" bIns="44450" rtlCol="0" anchor="ctr" anchorCtr="0">
            <a:normAutofit/>
          </a:bodyPr>
          <a:lstStyle/>
          <a:p>
            <a:pPr>
              <a:defRPr/>
            </a:pPr>
            <a:r>
              <a:rPr lang="en-US" altLang="en-US" sz="3600" b="1" dirty="0" err="1">
                <a:latin typeface="Times New Roman"/>
                <a:cs typeface="Times New Roman"/>
              </a:rPr>
              <a:t>Fayol’s</a:t>
            </a:r>
            <a:r>
              <a:rPr lang="en-US" altLang="en-US" sz="3600" b="1" dirty="0">
                <a:latin typeface="Times New Roman"/>
                <a:cs typeface="Times New Roman"/>
              </a:rPr>
              <a:t> Principles</a:t>
            </a:r>
          </a:p>
        </p:txBody>
      </p:sp>
      <p:sp>
        <p:nvSpPr>
          <p:cNvPr id="18435" name="Rectangle 3"/>
          <p:cNvSpPr>
            <a:spLocks noGrp="1" noChangeArrowheads="1"/>
          </p:cNvSpPr>
          <p:nvPr>
            <p:ph idx="1"/>
          </p:nvPr>
        </p:nvSpPr>
        <p:spPr>
          <a:xfrm>
            <a:off x="1905001" y="1390650"/>
            <a:ext cx="8512175" cy="5162550"/>
          </a:xfrm>
          <a:solidFill>
            <a:schemeClr val="bg1"/>
          </a:solidFill>
          <a:ln>
            <a:noFill/>
          </a:ln>
        </p:spPr>
        <p:txBody>
          <a:bodyPr spcFirstLastPara="1" wrap="square" lIns="90488" tIns="44450" rIns="90488" bIns="44450" anchor="t" anchorCtr="0">
            <a:noAutofit/>
          </a:bodyPr>
          <a:lstStyle/>
          <a:p>
            <a:pPr marL="114300" indent="0" eaLnBrk="1" hangingPunct="1">
              <a:lnSpc>
                <a:spcPct val="90000"/>
              </a:lnSpc>
              <a:buNone/>
            </a:pPr>
            <a:r>
              <a:rPr lang="en-US" altLang="en-US" b="1" dirty="0">
                <a:latin typeface="Times New Roman"/>
                <a:cs typeface="Times New Roman"/>
              </a:rPr>
              <a:t>Henri Fayol, developed a set of 14 principles:</a:t>
            </a:r>
            <a:endParaRPr lang="en-US" altLang="en-US" dirty="0">
              <a:latin typeface="Times New Roman"/>
              <a:cs typeface="Times New Roman"/>
            </a:endParaRPr>
          </a:p>
          <a:p>
            <a:pPr lvl="1" eaLnBrk="1" hangingPunct="1">
              <a:lnSpc>
                <a:spcPct val="90000"/>
              </a:lnSpc>
              <a:buFont typeface="Wingdings" panose="05000000000000000000" pitchFamily="2" charset="2"/>
              <a:buNone/>
            </a:pPr>
            <a:r>
              <a:rPr lang="en-US" altLang="en-US" sz="2600" dirty="0">
                <a:latin typeface="Times New Roman"/>
                <a:cs typeface="Times New Roman"/>
              </a:rPr>
              <a:t>1. </a:t>
            </a:r>
            <a:r>
              <a:rPr lang="en-US" altLang="en-US" sz="2600" b="1" i="1" dirty="0">
                <a:solidFill>
                  <a:srgbClr val="790015"/>
                </a:solidFill>
                <a:latin typeface="Times New Roman"/>
                <a:cs typeface="Times New Roman"/>
              </a:rPr>
              <a:t>Division of work:</a:t>
            </a:r>
            <a:r>
              <a:rPr lang="en-US" altLang="en-US" sz="2600" dirty="0">
                <a:solidFill>
                  <a:srgbClr val="790015"/>
                </a:solidFill>
                <a:latin typeface="Times New Roman"/>
                <a:cs typeface="Times New Roman"/>
              </a:rPr>
              <a:t> </a:t>
            </a:r>
            <a:r>
              <a:rPr lang="en-US" altLang="en-US" sz="2600" dirty="0">
                <a:latin typeface="Times New Roman"/>
                <a:cs typeface="Times New Roman"/>
              </a:rPr>
              <a:t>allows for job specialization. </a:t>
            </a:r>
          </a:p>
          <a:p>
            <a:pPr lvl="1">
              <a:buNone/>
            </a:pPr>
            <a:r>
              <a:rPr lang="en-US" altLang="en-US" sz="2600" dirty="0">
                <a:latin typeface="Times New Roman"/>
                <a:cs typeface="Times New Roman"/>
              </a:rPr>
              <a:t>2. </a:t>
            </a:r>
            <a:r>
              <a:rPr lang="en-US" altLang="en-US" sz="2600" b="1" i="1" dirty="0">
                <a:solidFill>
                  <a:srgbClr val="790015"/>
                </a:solidFill>
                <a:latin typeface="Times New Roman"/>
                <a:cs typeface="Times New Roman"/>
              </a:rPr>
              <a:t>Authority and Responsibility:</a:t>
            </a:r>
            <a:r>
              <a:rPr lang="en-US" altLang="en-US" sz="2600" dirty="0">
                <a:solidFill>
                  <a:srgbClr val="790015"/>
                </a:solidFill>
                <a:latin typeface="Times New Roman"/>
                <a:cs typeface="Times New Roman"/>
              </a:rPr>
              <a:t> </a:t>
            </a:r>
            <a:endParaRPr lang="en-US" altLang="en-US" sz="2000" dirty="0">
              <a:latin typeface="Times New Roman"/>
              <a:cs typeface="Times New Roman"/>
            </a:endParaRPr>
          </a:p>
          <a:p>
            <a:pPr lvl="1">
              <a:buNone/>
            </a:pPr>
            <a:r>
              <a:rPr lang="en-US" altLang="en-US" sz="2600" dirty="0">
                <a:latin typeface="Times New Roman"/>
                <a:cs typeface="Times New Roman"/>
              </a:rPr>
              <a:t>3. </a:t>
            </a:r>
            <a:r>
              <a:rPr lang="en-US" altLang="en-US" sz="2600" b="1" i="1" dirty="0">
                <a:solidFill>
                  <a:srgbClr val="790015"/>
                </a:solidFill>
                <a:latin typeface="Times New Roman"/>
                <a:cs typeface="Times New Roman"/>
              </a:rPr>
              <a:t>Unity of Command:</a:t>
            </a:r>
            <a:r>
              <a:rPr lang="en-US" altLang="en-US" sz="2600" dirty="0">
                <a:solidFill>
                  <a:srgbClr val="790015"/>
                </a:solidFill>
                <a:latin typeface="Times New Roman"/>
                <a:cs typeface="Times New Roman"/>
              </a:rPr>
              <a:t> </a:t>
            </a:r>
            <a:r>
              <a:rPr lang="en-US" altLang="en-US" sz="2600" dirty="0">
                <a:latin typeface="Times New Roman"/>
                <a:cs typeface="Times New Roman"/>
              </a:rPr>
              <a:t>Employees should have only one boss. </a:t>
            </a:r>
            <a:r>
              <a:rPr lang="en-US" altLang="en-US" sz="2000" dirty="0">
                <a:latin typeface="Times New Roman"/>
                <a:cs typeface="Times New Roman"/>
              </a:rPr>
              <a:t>  </a:t>
            </a:r>
          </a:p>
          <a:p>
            <a:pPr lvl="1" eaLnBrk="1" hangingPunct="1">
              <a:lnSpc>
                <a:spcPct val="90000"/>
              </a:lnSpc>
              <a:buFont typeface="Wingdings" panose="05000000000000000000" pitchFamily="2" charset="2"/>
              <a:buNone/>
            </a:pPr>
            <a:r>
              <a:rPr lang="en-US" altLang="en-US" sz="2600" dirty="0">
                <a:latin typeface="Times New Roman"/>
                <a:cs typeface="Times New Roman"/>
              </a:rPr>
              <a:t>4. </a:t>
            </a:r>
            <a:r>
              <a:rPr lang="en-US" altLang="en-US" sz="2600" b="1" i="1" dirty="0">
                <a:solidFill>
                  <a:srgbClr val="790015"/>
                </a:solidFill>
                <a:latin typeface="Times New Roman"/>
                <a:cs typeface="Times New Roman"/>
              </a:rPr>
              <a:t>Line of Authority:</a:t>
            </a:r>
            <a:r>
              <a:rPr lang="en-US" altLang="en-US" sz="2600" dirty="0">
                <a:solidFill>
                  <a:srgbClr val="790015"/>
                </a:solidFill>
                <a:latin typeface="Times New Roman"/>
                <a:cs typeface="Times New Roman"/>
              </a:rPr>
              <a:t> </a:t>
            </a:r>
            <a:r>
              <a:rPr lang="en-US" altLang="en-US" sz="2600" dirty="0">
                <a:latin typeface="Times New Roman"/>
                <a:cs typeface="Times New Roman"/>
              </a:rPr>
              <a:t>a clear chain from top to bottom of the firm.</a:t>
            </a:r>
            <a:r>
              <a:rPr lang="ar-SA" altLang="en-US" sz="2000" dirty="0">
                <a:latin typeface="Times New Roman"/>
                <a:cs typeface="Times New Roman"/>
              </a:rPr>
              <a:t> </a:t>
            </a:r>
            <a:endParaRPr lang="en-US" altLang="en-US" sz="2000">
              <a:latin typeface="Times New Roman"/>
              <a:cs typeface="Times New Roman"/>
            </a:endParaRPr>
          </a:p>
          <a:p>
            <a:pPr lvl="1" eaLnBrk="1" hangingPunct="1">
              <a:lnSpc>
                <a:spcPct val="90000"/>
              </a:lnSpc>
              <a:buFont typeface="Wingdings" panose="05000000000000000000" pitchFamily="2" charset="2"/>
              <a:buNone/>
            </a:pPr>
            <a:r>
              <a:rPr lang="en-US" altLang="en-US" sz="2600" dirty="0">
                <a:latin typeface="Times New Roman"/>
                <a:cs typeface="Times New Roman"/>
              </a:rPr>
              <a:t>5. </a:t>
            </a:r>
            <a:r>
              <a:rPr lang="en-US" altLang="en-US" sz="2600" b="1" i="1" dirty="0">
                <a:solidFill>
                  <a:srgbClr val="790015"/>
                </a:solidFill>
                <a:latin typeface="Times New Roman"/>
                <a:cs typeface="Times New Roman"/>
              </a:rPr>
              <a:t>Centralization:</a:t>
            </a:r>
            <a:r>
              <a:rPr lang="en-US" altLang="en-US" sz="2600" dirty="0">
                <a:solidFill>
                  <a:srgbClr val="790015"/>
                </a:solidFill>
                <a:latin typeface="Times New Roman"/>
                <a:cs typeface="Times New Roman"/>
              </a:rPr>
              <a:t> </a:t>
            </a:r>
            <a:r>
              <a:rPr lang="en-US" altLang="en-US" sz="2600" dirty="0">
                <a:latin typeface="Times New Roman"/>
                <a:cs typeface="Times New Roman"/>
              </a:rPr>
              <a:t>the degree to which authority rests at the very top.</a:t>
            </a:r>
            <a:r>
              <a:rPr lang="ar-SA" altLang="en-US" sz="2000" dirty="0">
                <a:latin typeface="Times New Roman"/>
                <a:cs typeface="Times New Roman"/>
              </a:rPr>
              <a:t> </a:t>
            </a:r>
            <a:endParaRPr lang="en-US" altLang="en-US" sz="2000" dirty="0">
              <a:latin typeface="Times New Roman"/>
              <a:cs typeface="Times New Roman"/>
            </a:endParaRPr>
          </a:p>
        </p:txBody>
      </p:sp>
    </p:spTree>
    <p:extLst>
      <p:ext uri="{BB962C8B-B14F-4D97-AF65-F5344CB8AC3E}">
        <p14:creationId xmlns:p14="http://schemas.microsoft.com/office/powerpoint/2010/main" val="2426409426"/>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Grp="1" noChangeArrowheads="1"/>
          </p:cNvSpPr>
          <p:nvPr>
            <p:ph idx="1"/>
          </p:nvPr>
        </p:nvSpPr>
        <p:spPr>
          <a:xfrm>
            <a:off x="1919289" y="1484314"/>
            <a:ext cx="8137525" cy="4778375"/>
          </a:xfrm>
        </p:spPr>
        <p:txBody>
          <a:bodyPr spcFirstLastPara="1" wrap="square" lIns="90488" tIns="44450" rIns="90488" bIns="44450" anchor="t" anchorCtr="0">
            <a:noAutofit/>
          </a:bodyPr>
          <a:lstStyle/>
          <a:p>
            <a:pPr marL="852170" lvl="1" indent="-454025">
              <a:spcBef>
                <a:spcPct val="40000"/>
              </a:spcBef>
              <a:buNone/>
            </a:pPr>
            <a:r>
              <a:rPr lang="en-US" altLang="en-US" dirty="0">
                <a:latin typeface="Times New Roman"/>
                <a:cs typeface="Times New Roman"/>
              </a:rPr>
              <a:t> </a:t>
            </a:r>
            <a:r>
              <a:rPr lang="en-US" altLang="en-US" sz="2600" dirty="0">
                <a:latin typeface="Times New Roman"/>
                <a:cs typeface="Times New Roman"/>
              </a:rPr>
              <a:t>6.  </a:t>
            </a:r>
            <a:r>
              <a:rPr lang="en-US" altLang="en-US" sz="2600" b="1" i="1" dirty="0">
                <a:solidFill>
                  <a:srgbClr val="790015"/>
                </a:solidFill>
                <a:latin typeface="Times New Roman"/>
                <a:cs typeface="Times New Roman"/>
              </a:rPr>
              <a:t>Unity of Direction:</a:t>
            </a:r>
            <a:r>
              <a:rPr lang="en-US" altLang="en-US" sz="2600" dirty="0">
                <a:solidFill>
                  <a:srgbClr val="790015"/>
                </a:solidFill>
                <a:latin typeface="Times New Roman"/>
                <a:cs typeface="Times New Roman"/>
              </a:rPr>
              <a:t> </a:t>
            </a:r>
            <a:r>
              <a:rPr lang="en-US" altLang="en-US" sz="2600" dirty="0">
                <a:latin typeface="Times New Roman"/>
                <a:cs typeface="Times New Roman"/>
              </a:rPr>
              <a:t>One plan of action to guide the organization.</a:t>
            </a:r>
            <a:r>
              <a:rPr lang="ar-SA" altLang="en-US" sz="2600" dirty="0">
                <a:latin typeface="Times New Roman"/>
                <a:cs typeface="Times New Roman"/>
              </a:rPr>
              <a:t> </a:t>
            </a:r>
            <a:r>
              <a:rPr lang="ar-SA" altLang="en-US" sz="2000" dirty="0">
                <a:latin typeface="Times New Roman"/>
                <a:cs typeface="Times New Roman"/>
              </a:rPr>
              <a:t> </a:t>
            </a:r>
            <a:endParaRPr lang="en-US" altLang="en-US" sz="2000" dirty="0">
              <a:latin typeface="Times New Roman"/>
              <a:cs typeface="Times New Roman"/>
            </a:endParaRPr>
          </a:p>
          <a:p>
            <a:pPr marL="852170" lvl="1" indent="-454025">
              <a:spcBef>
                <a:spcPct val="40000"/>
              </a:spcBef>
              <a:buNone/>
            </a:pPr>
            <a:r>
              <a:rPr lang="en-US" altLang="en-US" sz="2600" dirty="0">
                <a:latin typeface="Times New Roman"/>
                <a:cs typeface="Times New Roman"/>
              </a:rPr>
              <a:t> 7.  </a:t>
            </a:r>
            <a:r>
              <a:rPr lang="en-US" altLang="en-US" sz="2600" b="1" i="1" dirty="0">
                <a:solidFill>
                  <a:srgbClr val="790015"/>
                </a:solidFill>
                <a:latin typeface="Times New Roman"/>
                <a:cs typeface="Times New Roman"/>
              </a:rPr>
              <a:t>Equity:</a:t>
            </a:r>
            <a:r>
              <a:rPr lang="en-US" altLang="en-US" sz="2600" dirty="0">
                <a:solidFill>
                  <a:srgbClr val="790015"/>
                </a:solidFill>
                <a:latin typeface="Times New Roman"/>
                <a:cs typeface="Times New Roman"/>
              </a:rPr>
              <a:t> </a:t>
            </a:r>
            <a:r>
              <a:rPr lang="en-US" altLang="en-US" sz="2600" dirty="0">
                <a:latin typeface="Times New Roman"/>
                <a:cs typeface="Times New Roman"/>
              </a:rPr>
              <a:t>Treat all employees fairly in justice and  respect.</a:t>
            </a:r>
            <a:r>
              <a:rPr lang="ar-SA" altLang="en-US" sz="2600" dirty="0">
                <a:latin typeface="Times New Roman"/>
                <a:cs typeface="Times New Roman"/>
              </a:rPr>
              <a:t> </a:t>
            </a:r>
            <a:r>
              <a:rPr lang="ar-SA" altLang="en-US" sz="2000" dirty="0">
                <a:latin typeface="Times New Roman"/>
                <a:cs typeface="Times New Roman"/>
              </a:rPr>
              <a:t> </a:t>
            </a:r>
            <a:endParaRPr lang="ar-SA" altLang="en-US" sz="2600" b="1" dirty="0">
              <a:latin typeface="Times New Roman"/>
              <a:cs typeface="Times New Roman"/>
            </a:endParaRPr>
          </a:p>
          <a:p>
            <a:pPr marL="852170" lvl="1" indent="-454025">
              <a:spcBef>
                <a:spcPct val="40000"/>
              </a:spcBef>
              <a:buNone/>
            </a:pPr>
            <a:r>
              <a:rPr lang="en-US" altLang="en-US" sz="2600" dirty="0">
                <a:latin typeface="Times New Roman"/>
                <a:cs typeface="Times New Roman"/>
              </a:rPr>
              <a:t> 8.  </a:t>
            </a:r>
            <a:r>
              <a:rPr lang="en-US" altLang="en-US" sz="2600" b="1" i="1" dirty="0">
                <a:solidFill>
                  <a:srgbClr val="790015"/>
                </a:solidFill>
                <a:latin typeface="Times New Roman"/>
                <a:cs typeface="Times New Roman"/>
              </a:rPr>
              <a:t>Order:</a:t>
            </a:r>
            <a:r>
              <a:rPr lang="en-US" altLang="en-US" sz="2600" dirty="0">
                <a:solidFill>
                  <a:srgbClr val="790015"/>
                </a:solidFill>
                <a:latin typeface="Times New Roman"/>
                <a:cs typeface="Times New Roman"/>
              </a:rPr>
              <a:t> </a:t>
            </a:r>
            <a:r>
              <a:rPr lang="en-US" altLang="en-US" sz="2600" dirty="0">
                <a:latin typeface="Times New Roman"/>
                <a:cs typeface="Times New Roman"/>
              </a:rPr>
              <a:t>Each employee is put where they have  the most value.</a:t>
            </a:r>
            <a:endParaRPr lang="ar-SA" altLang="en-US" sz="2000" dirty="0">
              <a:latin typeface="Times New Roman"/>
              <a:cs typeface="Times New Roman"/>
            </a:endParaRPr>
          </a:p>
          <a:p>
            <a:pPr marL="852170" lvl="1" indent="-454025">
              <a:spcBef>
                <a:spcPct val="40000"/>
              </a:spcBef>
              <a:buNone/>
            </a:pPr>
            <a:r>
              <a:rPr lang="en-US" altLang="en-US" sz="2600" dirty="0">
                <a:latin typeface="Times New Roman"/>
                <a:cs typeface="Times New Roman"/>
              </a:rPr>
              <a:t> 9.  </a:t>
            </a:r>
            <a:r>
              <a:rPr lang="en-US" altLang="en-US" sz="2600" b="1" i="1" dirty="0">
                <a:solidFill>
                  <a:srgbClr val="790015"/>
                </a:solidFill>
                <a:latin typeface="Times New Roman"/>
                <a:cs typeface="Times New Roman"/>
              </a:rPr>
              <a:t>Initiative:</a:t>
            </a:r>
            <a:r>
              <a:rPr lang="en-US" altLang="en-US" sz="2600" dirty="0">
                <a:solidFill>
                  <a:srgbClr val="790015"/>
                </a:solidFill>
                <a:latin typeface="Times New Roman"/>
                <a:cs typeface="Times New Roman"/>
              </a:rPr>
              <a:t> </a:t>
            </a:r>
            <a:r>
              <a:rPr lang="en-US" altLang="en-US" sz="2600" dirty="0">
                <a:latin typeface="Times New Roman"/>
                <a:cs typeface="Times New Roman"/>
              </a:rPr>
              <a:t>Encourage innovation.</a:t>
            </a:r>
            <a:r>
              <a:rPr lang="ar-SA" altLang="en-US" sz="2600" dirty="0">
                <a:latin typeface="Times New Roman"/>
                <a:cs typeface="Times New Roman"/>
              </a:rPr>
              <a:t> </a:t>
            </a:r>
            <a:r>
              <a:rPr lang="ar-SA" altLang="en-US" sz="2000" dirty="0">
                <a:latin typeface="Times New Roman"/>
                <a:cs typeface="Times New Roman"/>
              </a:rPr>
              <a:t> </a:t>
            </a:r>
            <a:r>
              <a:rPr lang="ar-SA" altLang="en-US" sz="2600" dirty="0">
                <a:latin typeface="Times New Roman"/>
                <a:cs typeface="Times New Roman"/>
              </a:rPr>
              <a:t> </a:t>
            </a:r>
            <a:endParaRPr lang="en-US" altLang="en-US" sz="2600" dirty="0">
              <a:latin typeface="Times New Roman"/>
              <a:cs typeface="Times New Roman"/>
            </a:endParaRPr>
          </a:p>
          <a:p>
            <a:pPr marL="852170" lvl="1" indent="-454025">
              <a:spcBef>
                <a:spcPct val="40000"/>
              </a:spcBef>
              <a:buNone/>
            </a:pPr>
            <a:r>
              <a:rPr lang="en-US" altLang="en-US" sz="2600" dirty="0">
                <a:latin typeface="Times New Roman"/>
                <a:cs typeface="Times New Roman"/>
              </a:rPr>
              <a:t>10. </a:t>
            </a:r>
            <a:r>
              <a:rPr lang="en-US" altLang="en-US" sz="2600" b="1" i="1" dirty="0">
                <a:solidFill>
                  <a:srgbClr val="790015"/>
                </a:solidFill>
                <a:latin typeface="Times New Roman"/>
                <a:cs typeface="Times New Roman"/>
              </a:rPr>
              <a:t>Discipline:</a:t>
            </a:r>
            <a:r>
              <a:rPr lang="en-US" altLang="en-US" sz="2600" dirty="0">
                <a:solidFill>
                  <a:srgbClr val="790015"/>
                </a:solidFill>
                <a:latin typeface="Times New Roman"/>
                <a:cs typeface="Times New Roman"/>
              </a:rPr>
              <a:t> </a:t>
            </a:r>
            <a:r>
              <a:rPr lang="en-US" altLang="en-US" sz="2600" dirty="0">
                <a:latin typeface="Times New Roman"/>
                <a:cs typeface="Times New Roman"/>
              </a:rPr>
              <a:t>respectful employees needed</a:t>
            </a:r>
            <a:r>
              <a:rPr lang="en-US" altLang="en-US" sz="2600" b="1" dirty="0">
                <a:latin typeface="Times New Roman"/>
                <a:cs typeface="Times New Roman"/>
              </a:rPr>
              <a:t>.</a:t>
            </a:r>
            <a:r>
              <a:rPr lang="ar-SA" altLang="en-US" sz="2600" b="1" dirty="0">
                <a:latin typeface="Times New Roman"/>
                <a:cs typeface="Times New Roman"/>
              </a:rPr>
              <a:t> </a:t>
            </a:r>
            <a:endParaRPr lang="ar-SA" altLang="en-US" sz="2000" dirty="0">
              <a:latin typeface="Times New Roman"/>
              <a:cs typeface="Times New Roman"/>
            </a:endParaRPr>
          </a:p>
        </p:txBody>
      </p:sp>
      <p:sp>
        <p:nvSpPr>
          <p:cNvPr id="4" name="Rectangle 2"/>
          <p:cNvSpPr>
            <a:spLocks noGrp="1" noChangeArrowheads="1"/>
          </p:cNvSpPr>
          <p:nvPr>
            <p:ph type="title"/>
          </p:nvPr>
        </p:nvSpPr>
        <p:spPr>
          <a:xfrm>
            <a:off x="2927350" y="404813"/>
            <a:ext cx="6553200" cy="792162"/>
          </a:xfrm>
          <a:solidFill>
            <a:schemeClr val="bg1"/>
          </a:solidFill>
          <a:ln>
            <a:noFill/>
          </a:ln>
          <a:effectLst>
            <a:outerShdw dist="17961" dir="13500000" algn="ctr" rotWithShape="0">
              <a:schemeClr val="tx1"/>
            </a:outerShdw>
          </a:effectLst>
        </p:spPr>
        <p:txBody>
          <a:bodyPr spcFirstLastPara="1" wrap="square" lIns="90488" tIns="44450" rIns="90488" bIns="44450" rtlCol="0" anchor="ctr" anchorCtr="0">
            <a:normAutofit/>
          </a:bodyPr>
          <a:lstStyle/>
          <a:p>
            <a:pPr>
              <a:defRPr/>
            </a:pPr>
            <a:r>
              <a:rPr lang="en-US" altLang="en-US" sz="3600" b="1" dirty="0" err="1">
                <a:latin typeface="Times New Roman"/>
                <a:cs typeface="Times New Roman"/>
              </a:rPr>
              <a:t>Fayol’s</a:t>
            </a:r>
            <a:r>
              <a:rPr lang="en-US" altLang="en-US" sz="3600" b="1" dirty="0">
                <a:latin typeface="Times New Roman"/>
                <a:cs typeface="Times New Roman"/>
              </a:rPr>
              <a:t> Principles</a:t>
            </a:r>
          </a:p>
        </p:txBody>
      </p:sp>
    </p:spTree>
    <p:extLst>
      <p:ext uri="{BB962C8B-B14F-4D97-AF65-F5344CB8AC3E}">
        <p14:creationId xmlns:p14="http://schemas.microsoft.com/office/powerpoint/2010/main" val="1879561993"/>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noChangeArrowheads="1"/>
          </p:cNvSpPr>
          <p:nvPr>
            <p:ph idx="1"/>
          </p:nvPr>
        </p:nvSpPr>
        <p:spPr>
          <a:xfrm>
            <a:off x="1909763" y="1557338"/>
            <a:ext cx="8451850" cy="4743450"/>
          </a:xfrm>
        </p:spPr>
        <p:txBody>
          <a:bodyPr spcFirstLastPara="1" wrap="square" lIns="90488" tIns="44450" rIns="90488" bIns="44450" anchor="t" anchorCtr="0">
            <a:noAutofit/>
          </a:bodyPr>
          <a:lstStyle/>
          <a:p>
            <a:pPr marL="969645" lvl="1" indent="-588645">
              <a:spcBef>
                <a:spcPct val="45000"/>
              </a:spcBef>
              <a:buNone/>
            </a:pPr>
            <a:r>
              <a:rPr lang="en-US" altLang="en-US" sz="2600" dirty="0">
                <a:latin typeface="Times New Roman"/>
                <a:cs typeface="Times New Roman"/>
              </a:rPr>
              <a:t>11. </a:t>
            </a:r>
            <a:r>
              <a:rPr lang="en-US" altLang="en-US" sz="2600" b="1" i="1" dirty="0">
                <a:solidFill>
                  <a:srgbClr val="790015"/>
                </a:solidFill>
                <a:latin typeface="Times New Roman"/>
                <a:cs typeface="Times New Roman"/>
              </a:rPr>
              <a:t>Compensation of Employees :</a:t>
            </a:r>
            <a:r>
              <a:rPr lang="en-US" altLang="en-US" sz="2600" dirty="0">
                <a:solidFill>
                  <a:srgbClr val="790015"/>
                </a:solidFill>
                <a:latin typeface="Times New Roman"/>
                <a:cs typeface="Times New Roman"/>
              </a:rPr>
              <a:t> </a:t>
            </a:r>
            <a:r>
              <a:rPr lang="en-US" altLang="en-US" sz="2600" dirty="0">
                <a:latin typeface="Times New Roman"/>
                <a:cs typeface="Times New Roman"/>
              </a:rPr>
              <a:t>The payment system contributes to success.</a:t>
            </a:r>
            <a:endParaRPr lang="ar-SA" altLang="en-US" sz="2000" dirty="0">
              <a:latin typeface="Times New Roman"/>
              <a:cs typeface="Times New Roman"/>
            </a:endParaRPr>
          </a:p>
          <a:p>
            <a:pPr marL="969645" lvl="1" indent="-588645">
              <a:spcBef>
                <a:spcPct val="45000"/>
              </a:spcBef>
              <a:buNone/>
            </a:pPr>
            <a:r>
              <a:rPr lang="en-US" altLang="en-US" sz="2600" dirty="0">
                <a:latin typeface="Times New Roman"/>
                <a:cs typeface="Times New Roman"/>
              </a:rPr>
              <a:t>12. </a:t>
            </a:r>
            <a:r>
              <a:rPr lang="en-US" altLang="en-US" sz="2600" b="1" i="1" dirty="0">
                <a:solidFill>
                  <a:srgbClr val="790015"/>
                </a:solidFill>
                <a:latin typeface="Times New Roman"/>
                <a:cs typeface="Times New Roman"/>
              </a:rPr>
              <a:t>Stability of Employees :</a:t>
            </a:r>
            <a:r>
              <a:rPr lang="en-US" altLang="en-US" sz="2600" dirty="0">
                <a:solidFill>
                  <a:srgbClr val="790015"/>
                </a:solidFill>
                <a:latin typeface="Times New Roman"/>
                <a:cs typeface="Times New Roman"/>
              </a:rPr>
              <a:t> </a:t>
            </a:r>
            <a:r>
              <a:rPr lang="en-US" altLang="en-US" sz="2600" dirty="0">
                <a:latin typeface="Times New Roman"/>
                <a:cs typeface="Times New Roman"/>
              </a:rPr>
              <a:t>Long-term employment is important.</a:t>
            </a:r>
            <a:r>
              <a:rPr lang="ar-SA" altLang="en-US" sz="2600" b="1" dirty="0">
                <a:latin typeface="Times New Roman"/>
                <a:cs typeface="Times New Roman"/>
              </a:rPr>
              <a:t> </a:t>
            </a:r>
            <a:r>
              <a:rPr lang="ar-SA" altLang="en-US" sz="2000" dirty="0">
                <a:latin typeface="Times New Roman"/>
                <a:cs typeface="Times New Roman"/>
              </a:rPr>
              <a:t>  </a:t>
            </a:r>
            <a:endParaRPr lang="en-US" altLang="en-US" sz="2000" dirty="0">
              <a:latin typeface="Times New Roman"/>
              <a:cs typeface="Times New Roman"/>
            </a:endParaRPr>
          </a:p>
          <a:p>
            <a:pPr marL="969645" lvl="1" indent="-588645">
              <a:spcBef>
                <a:spcPct val="45000"/>
              </a:spcBef>
              <a:buNone/>
            </a:pPr>
            <a:r>
              <a:rPr lang="en-US" altLang="en-US" sz="2600" dirty="0">
                <a:latin typeface="Times New Roman"/>
                <a:cs typeface="Times New Roman"/>
              </a:rPr>
              <a:t>13. </a:t>
            </a:r>
            <a:r>
              <a:rPr lang="en-US" altLang="en-US" sz="2600" b="1" i="1" dirty="0">
                <a:solidFill>
                  <a:srgbClr val="790015"/>
                </a:solidFill>
                <a:latin typeface="Times New Roman"/>
                <a:cs typeface="Times New Roman"/>
              </a:rPr>
              <a:t>General interest over individual interest:</a:t>
            </a:r>
            <a:r>
              <a:rPr lang="en-US" altLang="en-US" sz="2600" dirty="0">
                <a:solidFill>
                  <a:srgbClr val="790015"/>
                </a:solidFill>
                <a:latin typeface="Times New Roman"/>
                <a:cs typeface="Times New Roman"/>
              </a:rPr>
              <a:t> </a:t>
            </a:r>
            <a:r>
              <a:rPr lang="en-US" altLang="en-US" sz="2600" dirty="0">
                <a:latin typeface="Times New Roman"/>
                <a:cs typeface="Times New Roman"/>
              </a:rPr>
              <a:t>The organization takes priority over the individual.</a:t>
            </a:r>
          </a:p>
          <a:p>
            <a:pPr marL="969645" lvl="1" indent="-588645">
              <a:spcBef>
                <a:spcPct val="45000"/>
              </a:spcBef>
              <a:buNone/>
            </a:pPr>
            <a:r>
              <a:rPr lang="en-US" altLang="en-US" sz="2600" dirty="0">
                <a:latin typeface="Times New Roman"/>
                <a:cs typeface="Times New Roman"/>
              </a:rPr>
              <a:t>14. </a:t>
            </a:r>
            <a:r>
              <a:rPr lang="en-US" altLang="en-US" sz="2600" b="1" i="1" dirty="0">
                <a:solidFill>
                  <a:srgbClr val="790015"/>
                </a:solidFill>
                <a:latin typeface="Times New Roman"/>
                <a:cs typeface="Times New Roman"/>
              </a:rPr>
              <a:t>Common spirit:</a:t>
            </a:r>
            <a:r>
              <a:rPr lang="en-US" altLang="en-US" sz="2600" dirty="0">
                <a:solidFill>
                  <a:srgbClr val="790015"/>
                </a:solidFill>
                <a:latin typeface="Times New Roman"/>
                <a:cs typeface="Times New Roman"/>
              </a:rPr>
              <a:t> </a:t>
            </a:r>
            <a:r>
              <a:rPr lang="en-US" altLang="en-US" sz="2600" dirty="0">
                <a:latin typeface="Times New Roman"/>
                <a:cs typeface="Times New Roman"/>
              </a:rPr>
              <a:t>Share enthusiasm or loyalty to the organization.</a:t>
            </a:r>
            <a:endParaRPr lang="ar-SA" altLang="en-US" sz="2000" dirty="0">
              <a:latin typeface="Times New Roman"/>
              <a:cs typeface="Times New Roman"/>
            </a:endParaRPr>
          </a:p>
        </p:txBody>
      </p:sp>
      <p:sp>
        <p:nvSpPr>
          <p:cNvPr id="4" name="Rectangle 2"/>
          <p:cNvSpPr>
            <a:spLocks noGrp="1" noChangeArrowheads="1"/>
          </p:cNvSpPr>
          <p:nvPr>
            <p:ph type="title"/>
          </p:nvPr>
        </p:nvSpPr>
        <p:spPr>
          <a:xfrm>
            <a:off x="2566988" y="549276"/>
            <a:ext cx="7345362" cy="792163"/>
          </a:xfrm>
          <a:solidFill>
            <a:schemeClr val="bg1"/>
          </a:solidFill>
          <a:effectLst>
            <a:outerShdw dist="17961" dir="13500000" algn="ctr" rotWithShape="0">
              <a:schemeClr val="tx1"/>
            </a:outerShdw>
          </a:effectLst>
        </p:spPr>
        <p:txBody>
          <a:bodyPr spcFirstLastPara="1" wrap="square" lIns="90488" tIns="44450" rIns="90488" bIns="44450" rtlCol="0" anchor="ctr" anchorCtr="0">
            <a:normAutofit/>
          </a:bodyPr>
          <a:lstStyle/>
          <a:p>
            <a:pPr>
              <a:defRPr/>
            </a:pPr>
            <a:r>
              <a:rPr lang="en-US" altLang="en-US" sz="3600" b="1" dirty="0" err="1">
                <a:latin typeface="Times New Roman"/>
                <a:cs typeface="Times New Roman"/>
              </a:rPr>
              <a:t>Fayol’s</a:t>
            </a:r>
            <a:r>
              <a:rPr lang="en-US" altLang="en-US" sz="3600" b="1" dirty="0">
                <a:latin typeface="Times New Roman"/>
                <a:cs typeface="Times New Roman"/>
              </a:rPr>
              <a:t> Principles</a:t>
            </a:r>
          </a:p>
        </p:txBody>
      </p:sp>
    </p:spTree>
    <p:extLst>
      <p:ext uri="{BB962C8B-B14F-4D97-AF65-F5344CB8AC3E}">
        <p14:creationId xmlns:p14="http://schemas.microsoft.com/office/powerpoint/2010/main" val="1915529985"/>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2424114" y="404813"/>
            <a:ext cx="7343775" cy="863600"/>
          </a:xfrm>
          <a:solidFill>
            <a:schemeClr val="bg1"/>
          </a:solidFill>
          <a:ln>
            <a:solidFill>
              <a:schemeClr val="bg1"/>
            </a:solidFill>
          </a:ln>
        </p:spPr>
        <p:txBody>
          <a:bodyPr rtlCol="0">
            <a:normAutofit/>
          </a:bodyPr>
          <a:lstStyle/>
          <a:p>
            <a:pPr>
              <a:defRPr/>
            </a:pPr>
            <a:r>
              <a:rPr lang="en-US" altLang="en-US" b="1" dirty="0" err="1">
                <a:latin typeface="Times New Roman"/>
                <a:cs typeface="Times New Roman"/>
              </a:rPr>
              <a:t>Fayol’s</a:t>
            </a:r>
            <a:r>
              <a:rPr lang="en-US" altLang="en-US" b="1" dirty="0">
                <a:latin typeface="Times New Roman"/>
                <a:cs typeface="Times New Roman"/>
              </a:rPr>
              <a:t> 14 Principles</a:t>
            </a:r>
          </a:p>
        </p:txBody>
      </p:sp>
      <p:sp>
        <p:nvSpPr>
          <p:cNvPr id="16387" name="Rectangle 3"/>
          <p:cNvSpPr>
            <a:spLocks noGrp="1" noChangeArrowheads="1"/>
          </p:cNvSpPr>
          <p:nvPr>
            <p:ph sz="half" idx="1"/>
          </p:nvPr>
        </p:nvSpPr>
        <p:spPr>
          <a:xfrm>
            <a:off x="2135189" y="1412876"/>
            <a:ext cx="3455987" cy="5184775"/>
          </a:xfrm>
        </p:spPr>
        <p:txBody>
          <a:bodyPr rtlCol="0">
            <a:normAutofit fontScale="77500" lnSpcReduction="20000"/>
          </a:bodyPr>
          <a:lstStyle/>
          <a:p>
            <a:pPr marL="609600" indent="-609600">
              <a:lnSpc>
                <a:spcPct val="160000"/>
              </a:lnSpc>
              <a:spcBef>
                <a:spcPct val="10000"/>
              </a:spcBef>
              <a:buClr>
                <a:schemeClr val="tx1"/>
              </a:buClr>
              <a:buFont typeface="Wingdings" pitchFamily="2" charset="2"/>
              <a:buAutoNum type="arabicPeriod"/>
              <a:defRPr/>
            </a:pPr>
            <a:r>
              <a:rPr lang="en-US" altLang="en-US" dirty="0">
                <a:latin typeface="Times New Roman"/>
                <a:cs typeface="Times New Roman"/>
              </a:rPr>
              <a:t>Division of work</a:t>
            </a:r>
          </a:p>
          <a:p>
            <a:pPr marL="609600" indent="-609600">
              <a:lnSpc>
                <a:spcPct val="160000"/>
              </a:lnSpc>
              <a:spcBef>
                <a:spcPct val="10000"/>
              </a:spcBef>
              <a:buClr>
                <a:schemeClr val="tx1"/>
              </a:buClr>
              <a:buFont typeface="Wingdings" pitchFamily="2" charset="2"/>
              <a:buAutoNum type="arabicPeriod"/>
              <a:defRPr/>
            </a:pPr>
            <a:r>
              <a:rPr lang="en-US" altLang="en-US" sz="3100" dirty="0">
                <a:latin typeface="Times New Roman"/>
                <a:cs typeface="Times New Roman"/>
              </a:rPr>
              <a:t>Authority and Responsibility</a:t>
            </a:r>
          </a:p>
          <a:p>
            <a:pPr marL="609600" indent="-609600">
              <a:lnSpc>
                <a:spcPct val="160000"/>
              </a:lnSpc>
              <a:spcBef>
                <a:spcPct val="10000"/>
              </a:spcBef>
              <a:buClr>
                <a:schemeClr val="tx1"/>
              </a:buClr>
              <a:buFont typeface="Wingdings" pitchFamily="2" charset="2"/>
              <a:buAutoNum type="arabicPeriod"/>
              <a:defRPr/>
            </a:pPr>
            <a:r>
              <a:rPr lang="en-US" altLang="en-US" sz="3100" dirty="0">
                <a:latin typeface="Times New Roman"/>
                <a:cs typeface="Times New Roman"/>
              </a:rPr>
              <a:t>Unity of command</a:t>
            </a:r>
          </a:p>
          <a:p>
            <a:pPr marL="609600" indent="-609600">
              <a:lnSpc>
                <a:spcPct val="160000"/>
              </a:lnSpc>
              <a:spcBef>
                <a:spcPct val="10000"/>
              </a:spcBef>
              <a:buClr>
                <a:schemeClr val="tx1"/>
              </a:buClr>
              <a:buFont typeface="Wingdings" pitchFamily="2" charset="2"/>
              <a:buAutoNum type="arabicPeriod"/>
              <a:defRPr/>
            </a:pPr>
            <a:r>
              <a:rPr lang="en-US" altLang="en-US" sz="3100" dirty="0">
                <a:latin typeface="Times New Roman"/>
                <a:cs typeface="Times New Roman"/>
              </a:rPr>
              <a:t>Line of authority</a:t>
            </a:r>
          </a:p>
          <a:p>
            <a:pPr marL="609600" indent="-609600">
              <a:lnSpc>
                <a:spcPct val="160000"/>
              </a:lnSpc>
              <a:spcBef>
                <a:spcPct val="10000"/>
              </a:spcBef>
              <a:buClr>
                <a:schemeClr val="tx1"/>
              </a:buClr>
              <a:buFont typeface="Wingdings" pitchFamily="2" charset="2"/>
              <a:buAutoNum type="arabicPeriod"/>
              <a:defRPr/>
            </a:pPr>
            <a:r>
              <a:rPr lang="en-US" altLang="en-US" sz="3100" dirty="0">
                <a:latin typeface="Times New Roman"/>
                <a:cs typeface="Times New Roman"/>
              </a:rPr>
              <a:t>Centralization</a:t>
            </a:r>
          </a:p>
          <a:p>
            <a:pPr marL="609600" indent="-609600">
              <a:lnSpc>
                <a:spcPct val="160000"/>
              </a:lnSpc>
              <a:spcBef>
                <a:spcPct val="10000"/>
              </a:spcBef>
              <a:buClr>
                <a:schemeClr val="tx1"/>
              </a:buClr>
              <a:buFont typeface="Wingdings" pitchFamily="2" charset="2"/>
              <a:buAutoNum type="arabicPeriod"/>
              <a:defRPr/>
            </a:pPr>
            <a:r>
              <a:rPr lang="en-US" altLang="en-US" sz="3100" dirty="0">
                <a:latin typeface="Times New Roman"/>
                <a:cs typeface="Times New Roman"/>
              </a:rPr>
              <a:t>Unity of Direction</a:t>
            </a:r>
            <a:endParaRPr lang="en-US" altLang="en-US" sz="2000" dirty="0">
              <a:latin typeface="Times New Roman"/>
              <a:cs typeface="Times New Roman"/>
            </a:endParaRPr>
          </a:p>
        </p:txBody>
      </p:sp>
      <p:sp>
        <p:nvSpPr>
          <p:cNvPr id="16388" name="Rectangle 4"/>
          <p:cNvSpPr>
            <a:spLocks noGrp="1" noChangeArrowheads="1"/>
          </p:cNvSpPr>
          <p:nvPr>
            <p:ph sz="half" idx="2"/>
          </p:nvPr>
        </p:nvSpPr>
        <p:spPr>
          <a:xfrm>
            <a:off x="6600825" y="1341439"/>
            <a:ext cx="3455988" cy="5183187"/>
          </a:xfrm>
        </p:spPr>
        <p:txBody>
          <a:bodyPr rtlCol="0">
            <a:normAutofit fontScale="77500" lnSpcReduction="20000"/>
          </a:bodyPr>
          <a:lstStyle/>
          <a:p>
            <a:pPr marL="533400" indent="-533400">
              <a:lnSpc>
                <a:spcPct val="160000"/>
              </a:lnSpc>
              <a:spcBef>
                <a:spcPct val="10000"/>
              </a:spcBef>
              <a:buClr>
                <a:schemeClr val="tx1"/>
              </a:buClr>
              <a:buFont typeface="+mj-lt"/>
              <a:buAutoNum type="arabicPeriod" startAt="7"/>
              <a:defRPr/>
            </a:pPr>
            <a:r>
              <a:rPr lang="en-US" altLang="en-US" dirty="0">
                <a:latin typeface="Times New Roman"/>
                <a:cs typeface="Times New Roman"/>
              </a:rPr>
              <a:t>Equity</a:t>
            </a:r>
          </a:p>
          <a:p>
            <a:pPr marL="533400" indent="-533400">
              <a:lnSpc>
                <a:spcPct val="160000"/>
              </a:lnSpc>
              <a:spcBef>
                <a:spcPct val="10000"/>
              </a:spcBef>
              <a:buClr>
                <a:schemeClr val="tx1"/>
              </a:buClr>
              <a:buFont typeface="Wingdings" pitchFamily="2" charset="2"/>
              <a:buAutoNum type="arabicPeriod" startAt="7"/>
              <a:defRPr/>
            </a:pPr>
            <a:r>
              <a:rPr lang="en-US" altLang="en-US" dirty="0">
                <a:latin typeface="Times New Roman"/>
                <a:cs typeface="Times New Roman"/>
              </a:rPr>
              <a:t>Order</a:t>
            </a:r>
          </a:p>
          <a:p>
            <a:pPr marL="533400" indent="-533400">
              <a:lnSpc>
                <a:spcPct val="160000"/>
              </a:lnSpc>
              <a:spcBef>
                <a:spcPct val="10000"/>
              </a:spcBef>
              <a:buClr>
                <a:schemeClr val="tx1"/>
              </a:buClr>
              <a:buFont typeface="Wingdings" pitchFamily="2" charset="2"/>
              <a:buAutoNum type="arabicPeriod" startAt="7"/>
              <a:defRPr/>
            </a:pPr>
            <a:r>
              <a:rPr lang="en-US" altLang="en-US" dirty="0">
                <a:latin typeface="Times New Roman"/>
                <a:cs typeface="Times New Roman"/>
              </a:rPr>
              <a:t>Initiative</a:t>
            </a:r>
          </a:p>
          <a:p>
            <a:pPr marL="533400" indent="-533400">
              <a:lnSpc>
                <a:spcPct val="160000"/>
              </a:lnSpc>
              <a:spcBef>
                <a:spcPct val="10000"/>
              </a:spcBef>
              <a:buClr>
                <a:schemeClr val="tx1"/>
              </a:buClr>
              <a:buFont typeface="Wingdings" pitchFamily="2" charset="2"/>
              <a:buAutoNum type="arabicPeriod" startAt="7"/>
              <a:defRPr/>
            </a:pPr>
            <a:r>
              <a:rPr lang="en-US" altLang="en-US" dirty="0">
                <a:latin typeface="Times New Roman"/>
                <a:cs typeface="Times New Roman"/>
              </a:rPr>
              <a:t>Discipline</a:t>
            </a:r>
          </a:p>
          <a:p>
            <a:pPr marL="533400" indent="-533400">
              <a:lnSpc>
                <a:spcPct val="160000"/>
              </a:lnSpc>
              <a:spcBef>
                <a:spcPct val="10000"/>
              </a:spcBef>
              <a:buClr>
                <a:schemeClr val="tx1"/>
              </a:buClr>
              <a:buFont typeface="Wingdings" pitchFamily="2" charset="2"/>
              <a:buAutoNum type="arabicPeriod" startAt="7"/>
              <a:defRPr/>
            </a:pPr>
            <a:r>
              <a:rPr lang="en-US" altLang="en-US" dirty="0">
                <a:latin typeface="Times New Roman"/>
                <a:cs typeface="Times New Roman"/>
              </a:rPr>
              <a:t>Compensation</a:t>
            </a:r>
          </a:p>
          <a:p>
            <a:pPr marL="533400" indent="-533400">
              <a:lnSpc>
                <a:spcPct val="160000"/>
              </a:lnSpc>
              <a:spcBef>
                <a:spcPct val="10000"/>
              </a:spcBef>
              <a:buClr>
                <a:schemeClr val="tx1"/>
              </a:buClr>
              <a:buFont typeface="Wingdings" pitchFamily="2" charset="2"/>
              <a:buAutoNum type="arabicPeriod" startAt="7"/>
              <a:defRPr/>
            </a:pPr>
            <a:r>
              <a:rPr lang="en-US" altLang="en-US" dirty="0">
                <a:latin typeface="Times New Roman"/>
                <a:cs typeface="Times New Roman"/>
              </a:rPr>
              <a:t>Stability of Employees</a:t>
            </a:r>
          </a:p>
          <a:p>
            <a:pPr marL="533400" indent="-533400">
              <a:lnSpc>
                <a:spcPct val="160000"/>
              </a:lnSpc>
              <a:spcBef>
                <a:spcPct val="10000"/>
              </a:spcBef>
              <a:buClr>
                <a:schemeClr val="tx1"/>
              </a:buClr>
              <a:buFont typeface="Wingdings" pitchFamily="2" charset="2"/>
              <a:buAutoNum type="arabicPeriod" startAt="7"/>
              <a:defRPr/>
            </a:pPr>
            <a:r>
              <a:rPr lang="en-US" altLang="en-US" dirty="0">
                <a:latin typeface="Times New Roman"/>
                <a:cs typeface="Times New Roman"/>
              </a:rPr>
              <a:t>General interest over individual interest</a:t>
            </a:r>
          </a:p>
          <a:p>
            <a:pPr marL="533400" indent="-533400">
              <a:lnSpc>
                <a:spcPct val="160000"/>
              </a:lnSpc>
              <a:spcBef>
                <a:spcPct val="10000"/>
              </a:spcBef>
              <a:buClr>
                <a:schemeClr val="tx1"/>
              </a:buClr>
              <a:buFont typeface="Wingdings" pitchFamily="2" charset="2"/>
              <a:buAutoNum type="arabicPeriod" startAt="7"/>
              <a:defRPr/>
            </a:pPr>
            <a:r>
              <a:rPr lang="en-US" altLang="en-US" dirty="0">
                <a:latin typeface="Times New Roman"/>
                <a:cs typeface="Times New Roman"/>
              </a:rPr>
              <a:t>Common spirit</a:t>
            </a:r>
          </a:p>
        </p:txBody>
      </p:sp>
    </p:spTree>
    <p:extLst>
      <p:ext uri="{BB962C8B-B14F-4D97-AF65-F5344CB8AC3E}">
        <p14:creationId xmlns:p14="http://schemas.microsoft.com/office/powerpoint/2010/main" val="38097231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2279651" y="414459"/>
            <a:ext cx="7561263" cy="863600"/>
          </a:xfrm>
          <a:solidFill>
            <a:schemeClr val="bg1"/>
          </a:solidFill>
          <a:ln>
            <a:solidFill>
              <a:schemeClr val="bg1"/>
            </a:solidFill>
          </a:ln>
          <a:effectLst>
            <a:outerShdw dist="17961" dir="13500000" algn="ctr" rotWithShape="0">
              <a:schemeClr val="tx1"/>
            </a:outerShdw>
          </a:effectLst>
        </p:spPr>
        <p:txBody>
          <a:bodyPr spcFirstLastPara="1" wrap="square" lIns="90488" tIns="44450" rIns="90488" bIns="44450" rtlCol="0" anchor="ctr" anchorCtr="0">
            <a:normAutofit/>
          </a:bodyPr>
          <a:lstStyle/>
          <a:p>
            <a:pPr>
              <a:defRPr/>
            </a:pPr>
            <a:r>
              <a:rPr lang="en-US" altLang="en-US" sz="3600" b="1" dirty="0">
                <a:latin typeface="Times New Roman"/>
                <a:cs typeface="Times New Roman"/>
              </a:rPr>
              <a:t>Behavioral Management School </a:t>
            </a:r>
          </a:p>
        </p:txBody>
      </p:sp>
      <p:sp>
        <p:nvSpPr>
          <p:cNvPr id="22531" name="Rectangle 3"/>
          <p:cNvSpPr>
            <a:spLocks noGrp="1" noChangeArrowheads="1"/>
          </p:cNvSpPr>
          <p:nvPr>
            <p:ph idx="1"/>
          </p:nvPr>
        </p:nvSpPr>
        <p:spPr>
          <a:xfrm>
            <a:off x="2024064" y="1566984"/>
            <a:ext cx="8110537" cy="4679950"/>
          </a:xfrm>
          <a:solidFill>
            <a:schemeClr val="bg1"/>
          </a:solidFill>
          <a:ln>
            <a:solidFill>
              <a:schemeClr val="bg1"/>
            </a:solidFill>
          </a:ln>
        </p:spPr>
        <p:txBody>
          <a:bodyPr spcFirstLastPara="1" wrap="square" lIns="90488" tIns="44450" rIns="90488" bIns="44450" anchor="t" anchorCtr="0">
            <a:noAutofit/>
          </a:bodyPr>
          <a:lstStyle/>
          <a:p>
            <a:pPr eaLnBrk="1" hangingPunct="1">
              <a:lnSpc>
                <a:spcPct val="90000"/>
              </a:lnSpc>
              <a:buFont typeface="Wingdings"/>
              <a:buChar char="Ø"/>
            </a:pPr>
            <a:r>
              <a:rPr lang="en-US" altLang="en-US" b="1" i="1">
                <a:latin typeface="Times New Roman"/>
                <a:cs typeface="Times New Roman"/>
              </a:rPr>
              <a:t>Focuses on the way a manager should personally manage to motivate employees.</a:t>
            </a:r>
            <a:endParaRPr lang="ar-SA" altLang="en-US" b="1" i="1">
              <a:latin typeface="Times New Roman"/>
              <a:cs typeface="Times New Roman"/>
            </a:endParaRPr>
          </a:p>
          <a:p>
            <a:pPr eaLnBrk="1" hangingPunct="1">
              <a:lnSpc>
                <a:spcPct val="90000"/>
              </a:lnSpc>
              <a:buFont typeface="Wingdings"/>
              <a:buChar char="Ø"/>
            </a:pPr>
            <a:endParaRPr lang="ar-SA" altLang="en-US" sz="1000" b="1" i="1">
              <a:latin typeface="Times New Roman"/>
              <a:cs typeface="Times New Roman"/>
            </a:endParaRPr>
          </a:p>
          <a:p>
            <a:pPr eaLnBrk="1" hangingPunct="1">
              <a:lnSpc>
                <a:spcPct val="90000"/>
              </a:lnSpc>
              <a:buFont typeface="Wingdings"/>
              <a:buChar char="Ø"/>
            </a:pPr>
            <a:r>
              <a:rPr lang="en-US" altLang="en-US" b="1">
                <a:latin typeface="Times New Roman"/>
                <a:cs typeface="Times New Roman"/>
              </a:rPr>
              <a:t>Behavioral</a:t>
            </a:r>
            <a:r>
              <a:rPr lang="ar-SA" altLang="en-US" b="1" dirty="0">
                <a:latin typeface="Times New Roman"/>
                <a:cs typeface="Times New Roman"/>
              </a:rPr>
              <a:t> </a:t>
            </a:r>
            <a:r>
              <a:rPr lang="en-US" altLang="en-US" b="1">
                <a:latin typeface="Times New Roman"/>
                <a:cs typeface="Times New Roman"/>
              </a:rPr>
              <a:t>management theory</a:t>
            </a:r>
            <a:r>
              <a:rPr lang="en-US" altLang="en-US">
                <a:latin typeface="Times New Roman"/>
                <a:cs typeface="Times New Roman"/>
              </a:rPr>
              <a:t> is often called the human relations movement because it addresses the human dimension of work. </a:t>
            </a:r>
            <a:endParaRPr lang="ar-SA" altLang="en-US">
              <a:latin typeface="Times New Roman"/>
              <a:cs typeface="Times New Roman"/>
            </a:endParaRPr>
          </a:p>
          <a:p>
            <a:pPr eaLnBrk="1" hangingPunct="1">
              <a:lnSpc>
                <a:spcPct val="90000"/>
              </a:lnSpc>
              <a:buFont typeface="Wingdings"/>
              <a:buChar char="Ø"/>
            </a:pPr>
            <a:endParaRPr lang="ar-SA" altLang="en-US" sz="1000" b="1" i="1">
              <a:latin typeface="Times New Roman"/>
              <a:cs typeface="Times New Roman"/>
            </a:endParaRPr>
          </a:p>
          <a:p>
            <a:pPr eaLnBrk="1" hangingPunct="1">
              <a:lnSpc>
                <a:spcPct val="90000"/>
              </a:lnSpc>
              <a:buFont typeface="Wingdings"/>
              <a:buChar char="Ø"/>
            </a:pPr>
            <a:r>
              <a:rPr lang="en-US" altLang="en-US">
                <a:latin typeface="Times New Roman"/>
                <a:cs typeface="Times New Roman"/>
              </a:rPr>
              <a:t>The theorists who contributed to this school viewed employees as individuals, resources, and assets to be developed and worked with — </a:t>
            </a:r>
            <a:r>
              <a:rPr lang="en-US" altLang="en-US">
                <a:solidFill>
                  <a:srgbClr val="FF0000"/>
                </a:solidFill>
                <a:latin typeface="Times New Roman"/>
                <a:cs typeface="Times New Roman"/>
              </a:rPr>
              <a:t>not as machines</a:t>
            </a:r>
            <a:r>
              <a:rPr lang="en-US" altLang="en-US">
                <a:latin typeface="Times New Roman"/>
                <a:cs typeface="Times New Roman"/>
              </a:rPr>
              <a:t>, as in the past</a:t>
            </a:r>
            <a:r>
              <a:rPr lang="ar-SA" altLang="en-US">
                <a:latin typeface="Times New Roman"/>
                <a:cs typeface="Times New Roman"/>
              </a:rPr>
              <a:t>. </a:t>
            </a:r>
            <a:endParaRPr lang="en-US" altLang="en-US">
              <a:latin typeface="Times New Roman"/>
              <a:cs typeface="Times New Roman"/>
            </a:endParaRPr>
          </a:p>
        </p:txBody>
      </p:sp>
    </p:spTree>
    <p:extLst>
      <p:ext uri="{BB962C8B-B14F-4D97-AF65-F5344CB8AC3E}">
        <p14:creationId xmlns:p14="http://schemas.microsoft.com/office/powerpoint/2010/main" val="1266141118"/>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2063750" y="333376"/>
            <a:ext cx="7920038" cy="792163"/>
          </a:xfrm>
          <a:solidFill>
            <a:schemeClr val="bg1"/>
          </a:solidFill>
          <a:ln>
            <a:solidFill>
              <a:schemeClr val="bg1"/>
            </a:solidFill>
          </a:ln>
          <a:effectLst>
            <a:outerShdw dist="17961" dir="13500000" algn="ctr" rotWithShape="0">
              <a:schemeClr val="tx1"/>
            </a:outerShdw>
          </a:effectLst>
        </p:spPr>
        <p:txBody>
          <a:bodyPr spcFirstLastPara="1" wrap="square" lIns="90488" tIns="44450" rIns="90488" bIns="44450" rtlCol="0" anchor="ctr" anchorCtr="0">
            <a:normAutofit/>
          </a:bodyPr>
          <a:lstStyle/>
          <a:p>
            <a:pPr>
              <a:defRPr/>
            </a:pPr>
            <a:r>
              <a:rPr lang="en-US" altLang="en-US" sz="3600" b="1" dirty="0">
                <a:latin typeface="Times New Roman"/>
                <a:cs typeface="Times New Roman"/>
              </a:rPr>
              <a:t>Theory X and Y</a:t>
            </a:r>
          </a:p>
        </p:txBody>
      </p:sp>
      <p:sp>
        <p:nvSpPr>
          <p:cNvPr id="36867" name="Rectangle 3"/>
          <p:cNvSpPr>
            <a:spLocks noGrp="1" noChangeArrowheads="1"/>
          </p:cNvSpPr>
          <p:nvPr>
            <p:ph idx="1"/>
          </p:nvPr>
        </p:nvSpPr>
        <p:spPr>
          <a:xfrm>
            <a:off x="1905000" y="1268414"/>
            <a:ext cx="8382000" cy="5303837"/>
          </a:xfrm>
          <a:solidFill>
            <a:schemeClr val="bg1"/>
          </a:solidFill>
          <a:ln>
            <a:solidFill>
              <a:schemeClr val="bg1"/>
            </a:solidFill>
          </a:ln>
        </p:spPr>
        <p:txBody>
          <a:bodyPr spcFirstLastPara="1" wrap="square" lIns="90488" tIns="44450" rIns="90488" bIns="44450" rtlCol="0" anchor="t" anchorCtr="0">
            <a:normAutofit/>
          </a:bodyPr>
          <a:lstStyle/>
          <a:p>
            <a:pPr marL="400050" indent="-285750">
              <a:buNone/>
              <a:defRPr/>
            </a:pPr>
            <a:r>
              <a:rPr lang="en-US" altLang="en-US" b="1" dirty="0">
                <a:latin typeface="Times New Roman"/>
                <a:cs typeface="Times New Roman"/>
              </a:rPr>
              <a:t>Douglas McGregor proposed the two different sets of worker molds.</a:t>
            </a:r>
            <a:endParaRPr lang="en-US" altLang="en-US" dirty="0">
              <a:latin typeface="Times New Roman"/>
              <a:cs typeface="Times New Roman"/>
            </a:endParaRPr>
          </a:p>
          <a:p>
            <a:pPr marL="400050" lvl="1" indent="171450">
              <a:buSzPct val="75000"/>
              <a:buNone/>
              <a:defRPr/>
            </a:pPr>
            <a:r>
              <a:rPr lang="en-US" altLang="en-US" sz="2900" b="1" i="1" dirty="0">
                <a:solidFill>
                  <a:srgbClr val="790015"/>
                </a:solidFill>
                <a:latin typeface="Times New Roman"/>
                <a:cs typeface="Times New Roman"/>
              </a:rPr>
              <a:t>Theory X</a:t>
            </a:r>
            <a:r>
              <a:rPr lang="en-US" sz="3200" b="1" dirty="0">
                <a:effectLst>
                  <a:outerShdw blurRad="38100" dist="38100" dir="2700000" algn="tl">
                    <a:srgbClr val="FFFFFF"/>
                  </a:outerShdw>
                </a:effectLst>
                <a:latin typeface="Times New Roman"/>
                <a:cs typeface="Times New Roman"/>
              </a:rPr>
              <a:t> </a:t>
            </a:r>
            <a:r>
              <a:rPr lang="en-US" altLang="en-US" sz="2900" b="1" i="1" dirty="0">
                <a:solidFill>
                  <a:srgbClr val="790015"/>
                </a:solidFill>
                <a:latin typeface="Times New Roman"/>
                <a:cs typeface="Times New Roman"/>
              </a:rPr>
              <a:t>- Classical Theory : </a:t>
            </a:r>
          </a:p>
          <a:p>
            <a:pPr marL="400050" lvl="1" indent="171450">
              <a:buSzPct val="75000"/>
              <a:buNone/>
              <a:defRPr/>
            </a:pPr>
            <a:r>
              <a:rPr lang="en-US" altLang="en-US" sz="2300" b="1" dirty="0">
                <a:latin typeface="Times New Roman"/>
                <a:cs typeface="Times New Roman"/>
              </a:rPr>
              <a:t>1.   </a:t>
            </a:r>
            <a:r>
              <a:rPr lang="en-US" altLang="en-US" dirty="0">
                <a:latin typeface="Times New Roman"/>
                <a:cs typeface="Times New Roman"/>
              </a:rPr>
              <a:t>Assumes the average worker is lazy, dislikes work and will do as little as possible</a:t>
            </a:r>
            <a:r>
              <a:rPr lang="en-US" altLang="en-US" sz="2300" dirty="0">
                <a:latin typeface="Times New Roman"/>
                <a:cs typeface="Times New Roman"/>
              </a:rPr>
              <a:t>.</a:t>
            </a:r>
          </a:p>
          <a:p>
            <a:pPr marL="400050" lvl="1" indent="171450">
              <a:buSzPct val="75000"/>
              <a:buNone/>
              <a:defRPr/>
            </a:pPr>
            <a:r>
              <a:rPr lang="en-US" altLang="en-US" b="1" dirty="0">
                <a:latin typeface="Times New Roman"/>
                <a:cs typeface="Times New Roman"/>
              </a:rPr>
              <a:t>2.</a:t>
            </a:r>
            <a:r>
              <a:rPr lang="en-US" altLang="en-US" dirty="0">
                <a:latin typeface="Times New Roman"/>
                <a:cs typeface="Times New Roman"/>
              </a:rPr>
              <a:t>  Managers must closely supervise and control through reward and punishment.</a:t>
            </a:r>
          </a:p>
          <a:p>
            <a:pPr marL="400050" lvl="1" indent="171450">
              <a:buSzPct val="75000"/>
              <a:buNone/>
              <a:defRPr/>
            </a:pPr>
            <a:r>
              <a:rPr lang="en-US" altLang="en-US" sz="2900" b="1" i="1" dirty="0">
                <a:solidFill>
                  <a:srgbClr val="790015"/>
                </a:solidFill>
                <a:latin typeface="Times New Roman"/>
                <a:cs typeface="Times New Roman"/>
              </a:rPr>
              <a:t>Theory Y- Human relationships Theory : </a:t>
            </a:r>
          </a:p>
          <a:p>
            <a:pPr marL="400050" lvl="1" indent="171450">
              <a:buSzPct val="75000"/>
              <a:buNone/>
              <a:defRPr/>
            </a:pPr>
            <a:r>
              <a:rPr lang="en-US" altLang="en-US" sz="2300" dirty="0">
                <a:latin typeface="Times New Roman"/>
                <a:cs typeface="Times New Roman"/>
              </a:rPr>
              <a:t>     </a:t>
            </a:r>
            <a:r>
              <a:rPr lang="en-US" altLang="en-US" sz="2300" b="1" dirty="0">
                <a:latin typeface="Times New Roman"/>
                <a:cs typeface="Times New Roman"/>
              </a:rPr>
              <a:t>1. </a:t>
            </a:r>
            <a:r>
              <a:rPr lang="en-US" altLang="en-US" sz="2300" dirty="0">
                <a:latin typeface="Times New Roman"/>
                <a:cs typeface="Times New Roman"/>
              </a:rPr>
              <a:t>Assumes workers are not lazy, want to do a good job and the job itself will determine if the worker likes the work.</a:t>
            </a:r>
          </a:p>
          <a:p>
            <a:pPr marL="400050" lvl="2" indent="628650">
              <a:buSzPct val="65000"/>
              <a:buNone/>
              <a:defRPr/>
            </a:pPr>
            <a:r>
              <a:rPr lang="en-US" altLang="en-US" b="1" dirty="0">
                <a:latin typeface="Times New Roman"/>
                <a:cs typeface="Times New Roman"/>
              </a:rPr>
              <a:t>2.  </a:t>
            </a:r>
            <a:r>
              <a:rPr lang="en-US" altLang="en-US" dirty="0">
                <a:latin typeface="Times New Roman"/>
                <a:cs typeface="Times New Roman"/>
              </a:rPr>
              <a:t>Managers should allow the workers feel freedom, and exercise initiative and self-direction. </a:t>
            </a:r>
          </a:p>
        </p:txBody>
      </p:sp>
    </p:spTree>
    <p:extLst>
      <p:ext uri="{BB962C8B-B14F-4D97-AF65-F5344CB8AC3E}">
        <p14:creationId xmlns:p14="http://schemas.microsoft.com/office/powerpoint/2010/main" val="2779171409"/>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p:cNvSpPr>
            <a:spLocks noGrp="1" noChangeArrowheads="1"/>
          </p:cNvSpPr>
          <p:nvPr>
            <p:ph type="title"/>
          </p:nvPr>
        </p:nvSpPr>
        <p:spPr>
          <a:xfrm>
            <a:off x="1890714" y="481014"/>
            <a:ext cx="8440737" cy="966787"/>
          </a:xfrm>
          <a:solidFill>
            <a:schemeClr val="bg1"/>
          </a:solidFill>
          <a:ln>
            <a:solidFill>
              <a:schemeClr val="bg1"/>
            </a:solidFill>
          </a:ln>
          <a:effectLst>
            <a:outerShdw dist="17961" dir="13500000" algn="ctr" rotWithShape="0">
              <a:schemeClr val="tx1"/>
            </a:outerShdw>
          </a:effectLst>
        </p:spPr>
        <p:txBody>
          <a:bodyPr spcFirstLastPara="1" wrap="square" lIns="90488" tIns="44450" rIns="90488" bIns="44450" rtlCol="0" anchor="ctr" anchorCtr="0">
            <a:normAutofit/>
          </a:bodyPr>
          <a:lstStyle/>
          <a:p>
            <a:pPr>
              <a:defRPr/>
            </a:pPr>
            <a:r>
              <a:rPr lang="en-US" altLang="en-US" sz="2400" b="1" dirty="0">
                <a:latin typeface="Times New Roman"/>
                <a:cs typeface="Times New Roman"/>
              </a:rPr>
              <a:t>Theory X  </a:t>
            </a:r>
            <a:r>
              <a:rPr lang="en-US" altLang="en-US" sz="2400" b="1" i="1" dirty="0">
                <a:latin typeface="Times New Roman"/>
                <a:cs typeface="Times New Roman"/>
              </a:rPr>
              <a:t>/</a:t>
            </a:r>
            <a:r>
              <a:rPr lang="en-US" altLang="en-US" sz="2400" b="1" dirty="0">
                <a:latin typeface="Times New Roman"/>
                <a:cs typeface="Times New Roman"/>
              </a:rPr>
              <a:t> Theory Y</a:t>
            </a:r>
          </a:p>
        </p:txBody>
      </p:sp>
      <p:sp>
        <p:nvSpPr>
          <p:cNvPr id="24579" name="Rectangle 2"/>
          <p:cNvSpPr>
            <a:spLocks noChangeArrowheads="1"/>
          </p:cNvSpPr>
          <p:nvPr/>
        </p:nvSpPr>
        <p:spPr bwMode="auto">
          <a:xfrm>
            <a:off x="6743701" y="2957514"/>
            <a:ext cx="2963863" cy="3201987"/>
          </a:xfrm>
          <a:prstGeom prst="rect">
            <a:avLst/>
          </a:prstGeom>
          <a:solidFill>
            <a:srgbClr val="790015"/>
          </a:solidFill>
          <a:ln w="12700">
            <a:solidFill>
              <a:schemeClr val="tx1"/>
            </a:solidFill>
            <a:prstDash val="lgDash"/>
            <a:miter lim="800000"/>
            <a:headEnd/>
            <a:tailEnd/>
          </a:ln>
          <a:effectLst>
            <a:outerShdw dist="89803" dir="2700000" algn="ctr" rotWithShape="0">
              <a:srgbClr val="474747"/>
            </a:outerShdw>
          </a:effec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24580" name="Rectangle 3"/>
          <p:cNvSpPr>
            <a:spLocks noChangeArrowheads="1"/>
          </p:cNvSpPr>
          <p:nvPr/>
        </p:nvSpPr>
        <p:spPr bwMode="auto">
          <a:xfrm>
            <a:off x="6743701" y="2008189"/>
            <a:ext cx="2957513" cy="923925"/>
          </a:xfrm>
          <a:prstGeom prst="rect">
            <a:avLst/>
          </a:prstGeom>
          <a:solidFill>
            <a:schemeClr val="hlink"/>
          </a:solidFill>
          <a:ln w="25400">
            <a:solidFill>
              <a:schemeClr val="hlink"/>
            </a:solidFill>
            <a:miter lim="800000"/>
            <a:headEnd/>
            <a:tailEnd/>
          </a:ln>
          <a:effectLst>
            <a:outerShdw dist="89803" dir="2700000" algn="ctr" rotWithShape="0">
              <a:srgbClr val="474747"/>
            </a:outerShdw>
          </a:effec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38917" name="Rectangle 5"/>
          <p:cNvSpPr>
            <a:spLocks noChangeArrowheads="1"/>
          </p:cNvSpPr>
          <p:nvPr/>
        </p:nvSpPr>
        <p:spPr bwMode="auto">
          <a:xfrm>
            <a:off x="7424738" y="2219326"/>
            <a:ext cx="1439498" cy="459100"/>
          </a:xfrm>
          <a:prstGeom prst="rect">
            <a:avLst/>
          </a:prstGeom>
          <a:noFill/>
          <a:ln w="12700">
            <a:noFill/>
            <a:miter lim="800000"/>
            <a:headEnd/>
            <a:tailEnd/>
          </a:ln>
          <a:effectLst/>
        </p:spPr>
        <p:txBody>
          <a:bodyPr wrap="none" lIns="90488" tIns="44450" rIns="90488" bIns="44450">
            <a:spAutoFit/>
          </a:bodyPr>
          <a:lstStyle/>
          <a:p>
            <a:pPr>
              <a:defRPr/>
            </a:pPr>
            <a:r>
              <a:rPr lang="en-US" altLang="en-US" sz="2400" b="1">
                <a:solidFill>
                  <a:schemeClr val="bg1"/>
                </a:solidFill>
                <a:effectLst>
                  <a:outerShdw blurRad="38100" dist="38100" dir="2700000" algn="tl">
                    <a:srgbClr val="000000"/>
                  </a:outerShdw>
                </a:effectLst>
                <a:latin typeface="Times New Roman" charset="0"/>
              </a:rPr>
              <a:t>Theory Y</a:t>
            </a:r>
          </a:p>
        </p:txBody>
      </p:sp>
      <p:sp>
        <p:nvSpPr>
          <p:cNvPr id="38918" name="Rectangle 6"/>
          <p:cNvSpPr>
            <a:spLocks noChangeArrowheads="1"/>
          </p:cNvSpPr>
          <p:nvPr/>
        </p:nvSpPr>
        <p:spPr bwMode="auto">
          <a:xfrm>
            <a:off x="6743700" y="2905126"/>
            <a:ext cx="3240088" cy="3081356"/>
          </a:xfrm>
          <a:prstGeom prst="rect">
            <a:avLst/>
          </a:prstGeom>
          <a:noFill/>
          <a:ln w="12700">
            <a:noFill/>
            <a:miter lim="800000"/>
            <a:headEnd/>
            <a:tailEnd/>
          </a:ln>
          <a:effectLst/>
        </p:spPr>
        <p:txBody>
          <a:bodyPr lIns="90488" tIns="44450" rIns="90488" bIns="44450">
            <a:spAutoFit/>
          </a:bodyPr>
          <a:lstStyle/>
          <a:p>
            <a:pPr>
              <a:lnSpc>
                <a:spcPct val="90000"/>
              </a:lnSpc>
              <a:defRPr/>
            </a:pPr>
            <a:r>
              <a:rPr lang="en-US" altLang="en-US" sz="2400" b="1" dirty="0">
                <a:solidFill>
                  <a:schemeClr val="bg1"/>
                </a:solidFill>
                <a:effectLst>
                  <a:outerShdw blurRad="38100" dist="38100" dir="2700000" algn="tl">
                    <a:srgbClr val="000000"/>
                  </a:outerShdw>
                </a:effectLst>
                <a:latin typeface="Times New Roman" charset="0"/>
              </a:rPr>
              <a:t>Employee is not lazy.</a:t>
            </a:r>
          </a:p>
          <a:p>
            <a:pPr>
              <a:lnSpc>
                <a:spcPct val="90000"/>
              </a:lnSpc>
              <a:defRPr/>
            </a:pPr>
            <a:endParaRPr lang="en-US" altLang="en-US" sz="2400" b="1" dirty="0">
              <a:solidFill>
                <a:schemeClr val="bg1"/>
              </a:solidFill>
              <a:effectLst>
                <a:outerShdw blurRad="38100" dist="38100" dir="2700000" algn="tl">
                  <a:srgbClr val="000000"/>
                </a:outerShdw>
              </a:effectLst>
              <a:latin typeface="Times New Roman" charset="0"/>
            </a:endParaRPr>
          </a:p>
          <a:p>
            <a:pPr>
              <a:lnSpc>
                <a:spcPct val="90000"/>
              </a:lnSpc>
              <a:defRPr/>
            </a:pPr>
            <a:r>
              <a:rPr lang="en-US" altLang="en-US" sz="2400" b="1" dirty="0">
                <a:solidFill>
                  <a:schemeClr val="bg1"/>
                </a:solidFill>
                <a:effectLst>
                  <a:outerShdw blurRad="38100" dist="38100" dir="2700000" algn="tl">
                    <a:srgbClr val="000000"/>
                  </a:outerShdw>
                </a:effectLst>
                <a:latin typeface="Times New Roman" charset="0"/>
              </a:rPr>
              <a:t>Must create work setting to build initiative.</a:t>
            </a:r>
          </a:p>
          <a:p>
            <a:pPr>
              <a:lnSpc>
                <a:spcPct val="90000"/>
              </a:lnSpc>
              <a:defRPr/>
            </a:pPr>
            <a:endParaRPr lang="en-US" altLang="en-US" sz="2400" b="1" dirty="0">
              <a:solidFill>
                <a:schemeClr val="bg1"/>
              </a:solidFill>
              <a:effectLst>
                <a:outerShdw blurRad="38100" dist="38100" dir="2700000" algn="tl">
                  <a:srgbClr val="000000"/>
                </a:outerShdw>
              </a:effectLst>
              <a:latin typeface="Times New Roman" charset="0"/>
            </a:endParaRPr>
          </a:p>
          <a:p>
            <a:pPr>
              <a:lnSpc>
                <a:spcPct val="90000"/>
              </a:lnSpc>
              <a:defRPr/>
            </a:pPr>
            <a:r>
              <a:rPr lang="en-US" altLang="en-US" sz="2400" b="1" dirty="0">
                <a:solidFill>
                  <a:schemeClr val="bg1"/>
                </a:solidFill>
                <a:effectLst>
                  <a:outerShdw blurRad="38100" dist="38100" dir="2700000" algn="tl">
                    <a:srgbClr val="000000"/>
                  </a:outerShdw>
                </a:effectLst>
                <a:latin typeface="Times New Roman" charset="0"/>
              </a:rPr>
              <a:t>Provide authority to workers.</a:t>
            </a:r>
          </a:p>
          <a:p>
            <a:pPr>
              <a:lnSpc>
                <a:spcPct val="90000"/>
              </a:lnSpc>
              <a:defRPr/>
            </a:pPr>
            <a:endParaRPr lang="en-US" altLang="en-US" sz="2400" b="1" dirty="0">
              <a:solidFill>
                <a:schemeClr val="bg1"/>
              </a:solidFill>
              <a:effectLst>
                <a:outerShdw blurRad="38100" dist="38100" dir="2700000" algn="tl">
                  <a:srgbClr val="000000"/>
                </a:outerShdw>
              </a:effectLst>
              <a:latin typeface="Times New Roman" charset="0"/>
            </a:endParaRPr>
          </a:p>
        </p:txBody>
      </p:sp>
      <p:sp>
        <p:nvSpPr>
          <p:cNvPr id="24583" name="Rectangle 8"/>
          <p:cNvSpPr>
            <a:spLocks noChangeArrowheads="1"/>
          </p:cNvSpPr>
          <p:nvPr/>
        </p:nvSpPr>
        <p:spPr bwMode="auto">
          <a:xfrm>
            <a:off x="2279650" y="2905125"/>
            <a:ext cx="2967038" cy="3201988"/>
          </a:xfrm>
          <a:prstGeom prst="rect">
            <a:avLst/>
          </a:prstGeom>
          <a:solidFill>
            <a:schemeClr val="accent1"/>
          </a:solidFill>
          <a:ln w="12700">
            <a:solidFill>
              <a:schemeClr val="tx1"/>
            </a:solidFill>
            <a:prstDash val="lgDash"/>
            <a:miter lim="800000"/>
            <a:headEnd/>
            <a:tailEnd/>
          </a:ln>
          <a:effectLst>
            <a:outerShdw dist="89803" dir="2700000" algn="ctr" rotWithShape="0">
              <a:srgbClr val="474747"/>
            </a:outerShdw>
          </a:effec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2400">
              <a:latin typeface="Times New Roman" panose="02020603050405020304" pitchFamily="18" charset="0"/>
            </a:endParaRPr>
          </a:p>
        </p:txBody>
      </p:sp>
      <p:sp>
        <p:nvSpPr>
          <p:cNvPr id="24584" name="Rectangle 9"/>
          <p:cNvSpPr>
            <a:spLocks noChangeArrowheads="1"/>
          </p:cNvSpPr>
          <p:nvPr/>
        </p:nvSpPr>
        <p:spPr bwMode="auto">
          <a:xfrm>
            <a:off x="2279651" y="2008189"/>
            <a:ext cx="3006725" cy="923925"/>
          </a:xfrm>
          <a:prstGeom prst="rect">
            <a:avLst/>
          </a:prstGeom>
          <a:solidFill>
            <a:schemeClr val="hlink"/>
          </a:solidFill>
          <a:ln w="25400">
            <a:solidFill>
              <a:schemeClr val="hlink"/>
            </a:solidFill>
            <a:miter lim="800000"/>
            <a:headEnd/>
            <a:tailEnd/>
          </a:ln>
          <a:effectLst>
            <a:outerShdw dist="89803" dir="2700000" algn="ctr" rotWithShape="0">
              <a:srgbClr val="474747"/>
            </a:outerShdw>
          </a:effec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2400">
              <a:solidFill>
                <a:schemeClr val="hlink"/>
              </a:solidFill>
              <a:latin typeface="Times New Roman" panose="02020603050405020304" pitchFamily="18" charset="0"/>
            </a:endParaRPr>
          </a:p>
        </p:txBody>
      </p:sp>
      <p:sp>
        <p:nvSpPr>
          <p:cNvPr id="38922" name="Rectangle 10"/>
          <p:cNvSpPr>
            <a:spLocks noChangeArrowheads="1"/>
          </p:cNvSpPr>
          <p:nvPr/>
        </p:nvSpPr>
        <p:spPr bwMode="auto">
          <a:xfrm>
            <a:off x="2986088" y="2200276"/>
            <a:ext cx="1439498" cy="459100"/>
          </a:xfrm>
          <a:prstGeom prst="rect">
            <a:avLst/>
          </a:prstGeom>
          <a:noFill/>
          <a:ln w="12700">
            <a:noFill/>
            <a:miter lim="800000"/>
            <a:headEnd/>
            <a:tailEnd/>
          </a:ln>
          <a:effectLst/>
        </p:spPr>
        <p:txBody>
          <a:bodyPr wrap="none" lIns="90488" tIns="44450" rIns="90488" bIns="44450">
            <a:spAutoFit/>
          </a:bodyPr>
          <a:lstStyle/>
          <a:p>
            <a:pPr>
              <a:defRPr/>
            </a:pPr>
            <a:r>
              <a:rPr lang="en-US" altLang="en-US" sz="2400" b="1" dirty="0">
                <a:solidFill>
                  <a:schemeClr val="bg1"/>
                </a:solidFill>
                <a:effectLst>
                  <a:outerShdw blurRad="38100" dist="38100" dir="2700000" algn="tl">
                    <a:srgbClr val="000000"/>
                  </a:outerShdw>
                </a:effectLst>
                <a:latin typeface="Times New Roman" charset="0"/>
              </a:rPr>
              <a:t>Theory X</a:t>
            </a:r>
          </a:p>
        </p:txBody>
      </p:sp>
      <p:sp>
        <p:nvSpPr>
          <p:cNvPr id="38923" name="Rectangle 11"/>
          <p:cNvSpPr>
            <a:spLocks noChangeArrowheads="1"/>
          </p:cNvSpPr>
          <p:nvPr/>
        </p:nvSpPr>
        <p:spPr bwMode="auto">
          <a:xfrm>
            <a:off x="2438400" y="3038475"/>
            <a:ext cx="3009900" cy="2416559"/>
          </a:xfrm>
          <a:prstGeom prst="rect">
            <a:avLst/>
          </a:prstGeom>
          <a:noFill/>
          <a:ln w="12700">
            <a:noFill/>
            <a:miter lim="800000"/>
            <a:headEnd/>
            <a:tailEnd/>
          </a:ln>
          <a:effectLst/>
        </p:spPr>
        <p:txBody>
          <a:bodyPr lIns="90488" tIns="44450" rIns="90488" bIns="44450">
            <a:spAutoFit/>
          </a:bodyPr>
          <a:lstStyle/>
          <a:p>
            <a:pPr>
              <a:lnSpc>
                <a:spcPct val="90000"/>
              </a:lnSpc>
              <a:defRPr/>
            </a:pPr>
            <a:r>
              <a:rPr lang="en-US" altLang="en-US" sz="2400" b="1" dirty="0">
                <a:solidFill>
                  <a:schemeClr val="bg1"/>
                </a:solidFill>
                <a:effectLst>
                  <a:outerShdw blurRad="38100" dist="38100" dir="2700000" algn="tl">
                    <a:srgbClr val="000000"/>
                  </a:outerShdw>
                </a:effectLst>
                <a:latin typeface="Times New Roman" charset="0"/>
              </a:rPr>
              <a:t>Employee is lazy.</a:t>
            </a:r>
          </a:p>
          <a:p>
            <a:pPr>
              <a:lnSpc>
                <a:spcPct val="90000"/>
              </a:lnSpc>
              <a:defRPr/>
            </a:pPr>
            <a:endParaRPr lang="en-US" altLang="en-US" sz="2400" b="1" dirty="0">
              <a:solidFill>
                <a:schemeClr val="bg1"/>
              </a:solidFill>
              <a:effectLst>
                <a:outerShdw blurRad="38100" dist="38100" dir="2700000" algn="tl">
                  <a:srgbClr val="000000"/>
                </a:outerShdw>
              </a:effectLst>
              <a:latin typeface="Times New Roman" charset="0"/>
            </a:endParaRPr>
          </a:p>
          <a:p>
            <a:pPr>
              <a:lnSpc>
                <a:spcPct val="90000"/>
              </a:lnSpc>
              <a:defRPr/>
            </a:pPr>
            <a:r>
              <a:rPr lang="en-US" altLang="en-US" sz="2400" b="1" dirty="0">
                <a:solidFill>
                  <a:schemeClr val="bg1"/>
                </a:solidFill>
                <a:effectLst>
                  <a:outerShdw blurRad="38100" dist="38100" dir="2700000" algn="tl">
                    <a:srgbClr val="000000"/>
                  </a:outerShdw>
                </a:effectLst>
                <a:latin typeface="Times New Roman" charset="0"/>
              </a:rPr>
              <a:t>Managers must</a:t>
            </a:r>
          </a:p>
          <a:p>
            <a:pPr>
              <a:lnSpc>
                <a:spcPct val="90000"/>
              </a:lnSpc>
              <a:defRPr/>
            </a:pPr>
            <a:r>
              <a:rPr lang="en-US" altLang="en-US" sz="2400" b="1" dirty="0">
                <a:solidFill>
                  <a:schemeClr val="bg1"/>
                </a:solidFill>
                <a:effectLst>
                  <a:outerShdw blurRad="38100" dist="38100" dir="2700000" algn="tl">
                    <a:srgbClr val="000000"/>
                  </a:outerShdw>
                </a:effectLst>
                <a:latin typeface="Times New Roman" charset="0"/>
              </a:rPr>
              <a:t> closely supervise.</a:t>
            </a:r>
          </a:p>
          <a:p>
            <a:pPr>
              <a:lnSpc>
                <a:spcPct val="90000"/>
              </a:lnSpc>
              <a:defRPr/>
            </a:pPr>
            <a:endParaRPr lang="en-US" altLang="en-US" sz="2400" b="1" dirty="0">
              <a:solidFill>
                <a:schemeClr val="bg1"/>
              </a:solidFill>
              <a:effectLst>
                <a:outerShdw blurRad="38100" dist="38100" dir="2700000" algn="tl">
                  <a:srgbClr val="000000"/>
                </a:outerShdw>
              </a:effectLst>
              <a:latin typeface="Times New Roman" charset="0"/>
            </a:endParaRPr>
          </a:p>
          <a:p>
            <a:pPr>
              <a:lnSpc>
                <a:spcPct val="90000"/>
              </a:lnSpc>
              <a:defRPr/>
            </a:pPr>
            <a:r>
              <a:rPr lang="en-US" altLang="en-US" sz="2400" b="1" dirty="0">
                <a:solidFill>
                  <a:schemeClr val="bg1"/>
                </a:solidFill>
                <a:effectLst>
                  <a:outerShdw blurRad="38100" dist="38100" dir="2700000" algn="tl">
                    <a:srgbClr val="000000"/>
                  </a:outerShdw>
                </a:effectLst>
                <a:latin typeface="Times New Roman" charset="0"/>
              </a:rPr>
              <a:t>Create strict rules &amp; defined rewards</a:t>
            </a:r>
          </a:p>
        </p:txBody>
      </p:sp>
      <p:sp>
        <p:nvSpPr>
          <p:cNvPr id="24587" name="Rectangle 12"/>
          <p:cNvSpPr>
            <a:spLocks noChangeArrowheads="1"/>
          </p:cNvSpPr>
          <p:nvPr/>
        </p:nvSpPr>
        <p:spPr bwMode="auto">
          <a:xfrm>
            <a:off x="2438401" y="6165850"/>
            <a:ext cx="2867025" cy="6350"/>
          </a:xfrm>
          <a:prstGeom prst="rect">
            <a:avLst/>
          </a:prstGeom>
          <a:solidFill>
            <a:srgbClr val="000000"/>
          </a:solidFill>
          <a:ln>
            <a:noFill/>
          </a:ln>
          <a:effectLst>
            <a:outerShdw dist="89803" dir="2700000" algn="ctr" rotWithShape="0">
              <a:srgbClr val="474747"/>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2400">
              <a:latin typeface="Times New Roman" panose="02020603050405020304" pitchFamily="18" charset="0"/>
            </a:endParaRPr>
          </a:p>
        </p:txBody>
      </p:sp>
    </p:spTree>
    <p:extLst>
      <p:ext uri="{BB962C8B-B14F-4D97-AF65-F5344CB8AC3E}">
        <p14:creationId xmlns:p14="http://schemas.microsoft.com/office/powerpoint/2010/main" val="3880221723"/>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2279651" y="476250"/>
            <a:ext cx="7777163" cy="865188"/>
          </a:xfrm>
          <a:solidFill>
            <a:schemeClr val="bg1"/>
          </a:solidFill>
          <a:ln>
            <a:solidFill>
              <a:schemeClr val="bg1"/>
            </a:solidFill>
          </a:ln>
        </p:spPr>
        <p:txBody>
          <a:bodyPr rtlCol="0">
            <a:normAutofit/>
          </a:bodyPr>
          <a:lstStyle/>
          <a:p>
            <a:pPr>
              <a:defRPr/>
            </a:pPr>
            <a:r>
              <a:rPr lang="en-US" altLang="en-US" sz="3600" b="1" dirty="0">
                <a:latin typeface="Times New Roman"/>
                <a:cs typeface="Times New Roman"/>
              </a:rPr>
              <a:t>Management Science Theory</a:t>
            </a:r>
          </a:p>
        </p:txBody>
      </p:sp>
      <p:sp>
        <p:nvSpPr>
          <p:cNvPr id="25603" name="Content Placeholder 2"/>
          <p:cNvSpPr>
            <a:spLocks noGrp="1"/>
          </p:cNvSpPr>
          <p:nvPr>
            <p:ph idx="1"/>
          </p:nvPr>
        </p:nvSpPr>
        <p:spPr>
          <a:solidFill>
            <a:schemeClr val="bg1"/>
          </a:solidFill>
          <a:ln>
            <a:solidFill>
              <a:schemeClr val="bg1"/>
            </a:solidFill>
          </a:ln>
        </p:spPr>
        <p:txBody>
          <a:bodyPr/>
          <a:lstStyle/>
          <a:p>
            <a:pPr marL="114300" indent="0" eaLnBrk="1" hangingPunct="1">
              <a:buNone/>
            </a:pPr>
            <a:r>
              <a:rPr lang="en-US" altLang="en-US" b="1" dirty="0">
                <a:latin typeface="Times New Roman"/>
                <a:cs typeface="Times New Roman"/>
              </a:rPr>
              <a:t>Quantitative management :</a:t>
            </a:r>
            <a:endParaRPr lang="en-US" dirty="0"/>
          </a:p>
          <a:p>
            <a:pPr marL="571500" lvl="1" indent="0" eaLnBrk="1" hangingPunct="1">
              <a:buNone/>
            </a:pPr>
            <a:r>
              <a:rPr lang="en-US" altLang="en-US" dirty="0">
                <a:latin typeface="Times New Roman"/>
                <a:cs typeface="Times New Roman"/>
              </a:rPr>
              <a:t>Uses mathematical techniques, like linear programming, modeling, simulation and chaos theory</a:t>
            </a:r>
          </a:p>
          <a:p>
            <a:pPr marL="114300" indent="0" eaLnBrk="1" hangingPunct="1">
              <a:buNone/>
            </a:pPr>
            <a:r>
              <a:rPr lang="en-US" altLang="en-US" b="1" dirty="0">
                <a:latin typeface="Times New Roman"/>
                <a:cs typeface="Times New Roman"/>
              </a:rPr>
              <a:t>Operations management :</a:t>
            </a:r>
          </a:p>
          <a:p>
            <a:pPr marL="571500" lvl="1" indent="0" eaLnBrk="1" hangingPunct="1">
              <a:buNone/>
            </a:pPr>
            <a:r>
              <a:rPr lang="en-US" altLang="en-US" dirty="0">
                <a:latin typeface="Times New Roman"/>
                <a:cs typeface="Times New Roman"/>
              </a:rPr>
              <a:t>Provides managers a set of techniques they can use to analyze any aspect of an organization’s production system to increase efficiency</a:t>
            </a:r>
          </a:p>
        </p:txBody>
      </p:sp>
    </p:spTree>
    <p:extLst>
      <p:ext uri="{BB962C8B-B14F-4D97-AF65-F5344CB8AC3E}">
        <p14:creationId xmlns:p14="http://schemas.microsoft.com/office/powerpoint/2010/main" val="1898522163"/>
      </p:ext>
    </p:extLst>
  </p:cSld>
  <p:clrMapOvr>
    <a:masterClrMapping/>
  </p:clrMapOvr>
  <p:transition>
    <p:random/>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Content Placeholder 2"/>
          <p:cNvSpPr>
            <a:spLocks noGrp="1"/>
          </p:cNvSpPr>
          <p:nvPr>
            <p:ph idx="1"/>
          </p:nvPr>
        </p:nvSpPr>
        <p:spPr>
          <a:solidFill>
            <a:schemeClr val="bg1"/>
          </a:solidFill>
          <a:ln>
            <a:solidFill>
              <a:schemeClr val="bg1"/>
            </a:solidFill>
          </a:ln>
        </p:spPr>
        <p:txBody>
          <a:bodyPr/>
          <a:lstStyle/>
          <a:p>
            <a:pPr marL="114300" indent="0" eaLnBrk="1" hangingPunct="1">
              <a:buNone/>
            </a:pPr>
            <a:r>
              <a:rPr lang="en-US" altLang="en-US" b="1" dirty="0">
                <a:latin typeface="Times New Roman"/>
                <a:cs typeface="Times New Roman"/>
              </a:rPr>
              <a:t>Total quality management :</a:t>
            </a:r>
            <a:endParaRPr lang="en-US" dirty="0"/>
          </a:p>
          <a:p>
            <a:pPr marL="571500" lvl="1" indent="0" eaLnBrk="1" hangingPunct="1">
              <a:buNone/>
            </a:pPr>
            <a:r>
              <a:rPr lang="en-US" altLang="en-US" dirty="0">
                <a:latin typeface="Times New Roman"/>
                <a:cs typeface="Times New Roman"/>
              </a:rPr>
              <a:t>Focuses on analyzing an organization’s input, conversion, and output activities to increase product quality</a:t>
            </a:r>
          </a:p>
          <a:p>
            <a:pPr marL="114300" indent="0" eaLnBrk="1" hangingPunct="1">
              <a:buNone/>
            </a:pPr>
            <a:r>
              <a:rPr lang="en-US" altLang="en-US" b="1" dirty="0">
                <a:latin typeface="Times New Roman"/>
                <a:cs typeface="Times New Roman"/>
              </a:rPr>
              <a:t>Management information systems :</a:t>
            </a:r>
          </a:p>
          <a:p>
            <a:pPr marL="571500" lvl="1" indent="0" eaLnBrk="1" hangingPunct="1">
              <a:buNone/>
            </a:pPr>
            <a:r>
              <a:rPr lang="en-US" altLang="en-US" dirty="0">
                <a:latin typeface="Times New Roman"/>
                <a:cs typeface="Times New Roman"/>
              </a:rPr>
              <a:t>Help managers design systems that provide information that is vital for effective decision making </a:t>
            </a:r>
          </a:p>
        </p:txBody>
      </p:sp>
      <p:sp>
        <p:nvSpPr>
          <p:cNvPr id="4" name="Title 1"/>
          <p:cNvSpPr>
            <a:spLocks noGrp="1"/>
          </p:cNvSpPr>
          <p:nvPr>
            <p:ph type="title"/>
          </p:nvPr>
        </p:nvSpPr>
        <p:spPr>
          <a:xfrm>
            <a:off x="1992313" y="476251"/>
            <a:ext cx="8229600" cy="868363"/>
          </a:xfrm>
          <a:solidFill>
            <a:schemeClr val="bg1"/>
          </a:solidFill>
          <a:ln>
            <a:solidFill>
              <a:schemeClr val="bg1"/>
            </a:solidFill>
          </a:ln>
        </p:spPr>
        <p:txBody>
          <a:bodyPr rtlCol="0">
            <a:normAutofit/>
          </a:bodyPr>
          <a:lstStyle/>
          <a:p>
            <a:pPr>
              <a:defRPr/>
            </a:pPr>
            <a:r>
              <a:rPr lang="en-US" altLang="en-US" sz="3600" b="1" dirty="0">
                <a:latin typeface="Times New Roman"/>
                <a:cs typeface="Times New Roman"/>
              </a:rPr>
              <a:t>Management Science Theory</a:t>
            </a:r>
          </a:p>
        </p:txBody>
      </p:sp>
    </p:spTree>
    <p:extLst>
      <p:ext uri="{BB962C8B-B14F-4D97-AF65-F5344CB8AC3E}">
        <p14:creationId xmlns:p14="http://schemas.microsoft.com/office/powerpoint/2010/main" val="2488148839"/>
      </p:ext>
    </p:extLst>
  </p:cSld>
  <p:clrMapOvr>
    <a:masterClrMapping/>
  </p:clrMapOvr>
  <p:transition>
    <p:random/>
  </p:transition>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2743201" y="404813"/>
            <a:ext cx="6665913" cy="863600"/>
          </a:xfrm>
          <a:solidFill>
            <a:schemeClr val="bg1"/>
          </a:solidFill>
          <a:ln>
            <a:solidFill>
              <a:schemeClr val="bg1"/>
            </a:solidFill>
          </a:ln>
        </p:spPr>
        <p:txBody>
          <a:bodyPr rtlCol="0">
            <a:normAutofit/>
          </a:bodyPr>
          <a:lstStyle/>
          <a:p>
            <a:pPr>
              <a:defRPr/>
            </a:pPr>
            <a:r>
              <a:rPr lang="en-US" altLang="zh-CN" sz="3600" b="1" dirty="0">
                <a:latin typeface="Times New Roman"/>
                <a:cs typeface="Times New Roman"/>
              </a:rPr>
              <a:t>The System Theory</a:t>
            </a:r>
          </a:p>
        </p:txBody>
      </p:sp>
      <p:sp>
        <p:nvSpPr>
          <p:cNvPr id="111619" name="Rectangle 3"/>
          <p:cNvSpPr>
            <a:spLocks noGrp="1" noChangeArrowheads="1"/>
          </p:cNvSpPr>
          <p:nvPr>
            <p:ph idx="1"/>
          </p:nvPr>
        </p:nvSpPr>
        <p:spPr>
          <a:xfrm>
            <a:off x="2135188" y="1484314"/>
            <a:ext cx="7993062" cy="4854575"/>
          </a:xfrm>
        </p:spPr>
        <p:txBody>
          <a:bodyPr rtlCol="0">
            <a:normAutofit/>
          </a:bodyPr>
          <a:lstStyle/>
          <a:p>
            <a:pPr algn="just">
              <a:buFont typeface="Wingdings"/>
              <a:buChar char="Ø"/>
              <a:defRPr/>
            </a:pPr>
            <a:r>
              <a:rPr lang="en-US" altLang="zh-CN" b="1" dirty="0">
                <a:latin typeface="Times New Roman"/>
                <a:cs typeface="Times New Roman"/>
              </a:rPr>
              <a:t>What’s the system approach?</a:t>
            </a:r>
            <a:endParaRPr lang="en-US" altLang="zh-CN" dirty="0">
              <a:latin typeface="Times New Roman"/>
              <a:cs typeface="Times New Roman"/>
            </a:endParaRPr>
          </a:p>
          <a:p>
            <a:pPr algn="just">
              <a:buFont typeface="Wingdings"/>
              <a:buChar char="Ø"/>
              <a:defRPr/>
            </a:pPr>
            <a:r>
              <a:rPr lang="en-US" altLang="zh-CN" b="1" dirty="0">
                <a:latin typeface="Times New Roman"/>
                <a:cs typeface="Times New Roman"/>
              </a:rPr>
              <a:t>Two basic types of the system: closed and open</a:t>
            </a:r>
          </a:p>
          <a:p>
            <a:pPr lvl="1" indent="-382270" algn="just">
              <a:buClr>
                <a:schemeClr val="tx2">
                  <a:lumMod val="60000"/>
                  <a:lumOff val="40000"/>
                </a:schemeClr>
              </a:buClr>
              <a:buSzPct val="80000"/>
              <a:buFont typeface="Wingdings" pitchFamily="2" charset="2"/>
              <a:buChar char="Ø"/>
              <a:defRPr/>
            </a:pPr>
            <a:r>
              <a:rPr lang="en-US" altLang="zh-CN" dirty="0">
                <a:solidFill>
                  <a:schemeClr val="tx2"/>
                </a:solidFill>
                <a:latin typeface="Times New Roman"/>
                <a:cs typeface="Times New Roman"/>
              </a:rPr>
              <a:t> </a:t>
            </a:r>
            <a:r>
              <a:rPr lang="en-US" altLang="zh-CN" b="1" i="1" dirty="0">
                <a:solidFill>
                  <a:srgbClr val="FF0000"/>
                </a:solidFill>
                <a:latin typeface="Times New Roman"/>
                <a:cs typeface="Times New Roman"/>
              </a:rPr>
              <a:t>Closed systems</a:t>
            </a:r>
            <a:r>
              <a:rPr lang="en-US" altLang="zh-CN" dirty="0">
                <a:solidFill>
                  <a:srgbClr val="FF0000"/>
                </a:solidFill>
                <a:latin typeface="Times New Roman"/>
                <a:cs typeface="Times New Roman"/>
              </a:rPr>
              <a:t> </a:t>
            </a:r>
            <a:r>
              <a:rPr lang="en-US" altLang="zh-CN" dirty="0">
                <a:latin typeface="Times New Roman"/>
                <a:cs typeface="Times New Roman"/>
              </a:rPr>
              <a:t>are not influenced by and do not interact with their environment. </a:t>
            </a:r>
          </a:p>
          <a:p>
            <a:pPr lvl="1" indent="-382270" algn="just">
              <a:buClr>
                <a:schemeClr val="tx2">
                  <a:lumMod val="75000"/>
                </a:schemeClr>
              </a:buClr>
              <a:buSzPct val="80000"/>
              <a:buFont typeface="Wingdings" pitchFamily="2" charset="2"/>
              <a:buChar char="Ø"/>
              <a:defRPr/>
            </a:pPr>
            <a:r>
              <a:rPr lang="en-US" altLang="zh-CN" b="1" i="1" dirty="0">
                <a:solidFill>
                  <a:srgbClr val="FF0000"/>
                </a:solidFill>
                <a:latin typeface="Times New Roman"/>
                <a:cs typeface="Times New Roman"/>
              </a:rPr>
              <a:t>Open system</a:t>
            </a:r>
            <a:r>
              <a:rPr lang="en-US" altLang="zh-CN" dirty="0">
                <a:solidFill>
                  <a:schemeClr val="tx2"/>
                </a:solidFill>
                <a:latin typeface="Times New Roman"/>
                <a:cs typeface="Times New Roman"/>
              </a:rPr>
              <a:t> </a:t>
            </a:r>
            <a:r>
              <a:rPr lang="en-US" altLang="zh-CN" dirty="0">
                <a:latin typeface="Times New Roman"/>
                <a:cs typeface="Times New Roman"/>
              </a:rPr>
              <a:t>dynamically interacts with its environment.</a:t>
            </a:r>
          </a:p>
          <a:p>
            <a:pPr lvl="1" algn="just">
              <a:buFont typeface="Wingdings" pitchFamily="2" charset="2"/>
              <a:buChar char="§"/>
              <a:defRPr/>
            </a:pPr>
            <a:endParaRPr lang="en-US" altLang="zh-CN" dirty="0">
              <a:latin typeface="Times New Roman"/>
              <a:cs typeface="Times New Roman"/>
            </a:endParaRPr>
          </a:p>
          <a:p>
            <a:pPr algn="ctr">
              <a:buSzPct val="71000"/>
              <a:buFont typeface="Wingdings"/>
              <a:buChar char="Ø"/>
              <a:defRPr/>
            </a:pPr>
            <a:r>
              <a:rPr lang="en-US" altLang="zh-CN" b="1" dirty="0">
                <a:latin typeface="Times New Roman"/>
                <a:cs typeface="Times New Roman"/>
              </a:rPr>
              <a:t>An organization is an open system</a:t>
            </a:r>
          </a:p>
        </p:txBody>
      </p:sp>
      <p:sp>
        <p:nvSpPr>
          <p:cNvPr id="27652" name="Text Box 4"/>
          <p:cNvSpPr txBox="1">
            <a:spLocks noChangeArrowheads="1"/>
          </p:cNvSpPr>
          <p:nvPr/>
        </p:nvSpPr>
        <p:spPr bwMode="auto">
          <a:xfrm>
            <a:off x="2743200" y="1752601"/>
            <a:ext cx="5638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endParaRPr lang="en-US" altLang="en-US" sz="2400">
              <a:latin typeface="Times New Roman" panose="02020603050405020304" pitchFamily="18" charset="0"/>
            </a:endParaRPr>
          </a:p>
        </p:txBody>
      </p:sp>
      <p:sp>
        <p:nvSpPr>
          <p:cNvPr id="27653" name="Text Box 5"/>
          <p:cNvSpPr txBox="1">
            <a:spLocks noChangeArrowheads="1"/>
          </p:cNvSpPr>
          <p:nvPr/>
        </p:nvSpPr>
        <p:spPr bwMode="auto">
          <a:xfrm>
            <a:off x="2819400" y="4953001"/>
            <a:ext cx="6324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endParaRPr lang="en-US" altLang="en-US" sz="2400">
              <a:latin typeface="Times New Roman" panose="02020603050405020304" pitchFamily="18" charset="0"/>
            </a:endParaRPr>
          </a:p>
        </p:txBody>
      </p:sp>
      <p:sp>
        <p:nvSpPr>
          <p:cNvPr id="27654" name="Text Box 6"/>
          <p:cNvSpPr txBox="1">
            <a:spLocks noChangeArrowheads="1"/>
          </p:cNvSpPr>
          <p:nvPr/>
        </p:nvSpPr>
        <p:spPr bwMode="auto">
          <a:xfrm>
            <a:off x="2743200" y="5562601"/>
            <a:ext cx="7543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endParaRPr lang="en-US" altLang="en-US" sz="2400">
              <a:latin typeface="Times New Roman" panose="02020603050405020304" pitchFamily="18" charset="0"/>
            </a:endParaRPr>
          </a:p>
        </p:txBody>
      </p:sp>
    </p:spTree>
    <p:extLst>
      <p:ext uri="{BB962C8B-B14F-4D97-AF65-F5344CB8AC3E}">
        <p14:creationId xmlns:p14="http://schemas.microsoft.com/office/powerpoint/2010/main" val="287168638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111619">
                                            <p:txEl>
                                              <p:pRg st="0" end="0"/>
                                            </p:txEl>
                                          </p:spTgt>
                                        </p:tgtEl>
                                        <p:attrNameLst>
                                          <p:attrName>style.visibility</p:attrName>
                                        </p:attrNameLst>
                                      </p:cBhvr>
                                      <p:to>
                                        <p:strVal val="visible"/>
                                      </p:to>
                                    </p:set>
                                    <p:animEffect transition="in" filter="barn(outHorizontal)">
                                      <p:cBhvr>
                                        <p:cTn id="7" dur="500"/>
                                        <p:tgtEl>
                                          <p:spTgt spid="1116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111619">
                                            <p:txEl>
                                              <p:pRg st="1" end="1"/>
                                            </p:txEl>
                                          </p:spTgt>
                                        </p:tgtEl>
                                        <p:attrNameLst>
                                          <p:attrName>style.visibility</p:attrName>
                                        </p:attrNameLst>
                                      </p:cBhvr>
                                      <p:to>
                                        <p:strVal val="visible"/>
                                      </p:to>
                                    </p:set>
                                    <p:animEffect transition="in" filter="barn(outHorizontal)">
                                      <p:cBhvr>
                                        <p:cTn id="12" dur="500"/>
                                        <p:tgtEl>
                                          <p:spTgt spid="111619">
                                            <p:txEl>
                                              <p:pRg st="1" end="1"/>
                                            </p:txEl>
                                          </p:spTgt>
                                        </p:tgtEl>
                                      </p:cBhvr>
                                    </p:animEffect>
                                  </p:childTnLst>
                                </p:cTn>
                              </p:par>
                              <p:par>
                                <p:cTn id="13" presetID="16" presetClass="entr" presetSubtype="42" fill="hold" grpId="0" nodeType="withEffect">
                                  <p:stCondLst>
                                    <p:cond delay="0"/>
                                  </p:stCondLst>
                                  <p:childTnLst>
                                    <p:set>
                                      <p:cBhvr>
                                        <p:cTn id="14" dur="1" fill="hold">
                                          <p:stCondLst>
                                            <p:cond delay="0"/>
                                          </p:stCondLst>
                                        </p:cTn>
                                        <p:tgtEl>
                                          <p:spTgt spid="111619">
                                            <p:txEl>
                                              <p:pRg st="2" end="2"/>
                                            </p:txEl>
                                          </p:spTgt>
                                        </p:tgtEl>
                                        <p:attrNameLst>
                                          <p:attrName>style.visibility</p:attrName>
                                        </p:attrNameLst>
                                      </p:cBhvr>
                                      <p:to>
                                        <p:strVal val="visible"/>
                                      </p:to>
                                    </p:set>
                                    <p:animEffect transition="in" filter="barn(outHorizontal)">
                                      <p:cBhvr>
                                        <p:cTn id="15" dur="500"/>
                                        <p:tgtEl>
                                          <p:spTgt spid="111619">
                                            <p:txEl>
                                              <p:pRg st="2" end="2"/>
                                            </p:txEl>
                                          </p:spTgt>
                                        </p:tgtEl>
                                      </p:cBhvr>
                                    </p:animEffect>
                                  </p:childTnLst>
                                </p:cTn>
                              </p:par>
                              <p:par>
                                <p:cTn id="16" presetID="16" presetClass="entr" presetSubtype="42" fill="hold" grpId="0" nodeType="withEffect">
                                  <p:stCondLst>
                                    <p:cond delay="0"/>
                                  </p:stCondLst>
                                  <p:childTnLst>
                                    <p:set>
                                      <p:cBhvr>
                                        <p:cTn id="17" dur="1" fill="hold">
                                          <p:stCondLst>
                                            <p:cond delay="0"/>
                                          </p:stCondLst>
                                        </p:cTn>
                                        <p:tgtEl>
                                          <p:spTgt spid="111619">
                                            <p:txEl>
                                              <p:pRg st="3" end="3"/>
                                            </p:txEl>
                                          </p:spTgt>
                                        </p:tgtEl>
                                        <p:attrNameLst>
                                          <p:attrName>style.visibility</p:attrName>
                                        </p:attrNameLst>
                                      </p:cBhvr>
                                      <p:to>
                                        <p:strVal val="visible"/>
                                      </p:to>
                                    </p:set>
                                    <p:animEffect transition="in" filter="barn(outHorizontal)">
                                      <p:cBhvr>
                                        <p:cTn id="18" dur="500"/>
                                        <p:tgtEl>
                                          <p:spTgt spid="111619">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6" presetClass="entr" presetSubtype="42" fill="hold" grpId="0" nodeType="clickEffect">
                                  <p:stCondLst>
                                    <p:cond delay="0"/>
                                  </p:stCondLst>
                                  <p:childTnLst>
                                    <p:set>
                                      <p:cBhvr>
                                        <p:cTn id="22" dur="1" fill="hold">
                                          <p:stCondLst>
                                            <p:cond delay="0"/>
                                          </p:stCondLst>
                                        </p:cTn>
                                        <p:tgtEl>
                                          <p:spTgt spid="111619">
                                            <p:txEl>
                                              <p:pRg st="5" end="5"/>
                                            </p:txEl>
                                          </p:spTgt>
                                        </p:tgtEl>
                                        <p:attrNameLst>
                                          <p:attrName>style.visibility</p:attrName>
                                        </p:attrNameLst>
                                      </p:cBhvr>
                                      <p:to>
                                        <p:strVal val="visible"/>
                                      </p:to>
                                    </p:set>
                                    <p:animEffect transition="in" filter="barn(outHorizontal)">
                                      <p:cBhvr>
                                        <p:cTn id="23" dur="500"/>
                                        <p:tgtEl>
                                          <p:spTgt spid="1116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9" grpId="0" build="p"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2208213" y="404813"/>
            <a:ext cx="7772400" cy="792162"/>
          </a:xfrm>
          <a:solidFill>
            <a:schemeClr val="bg1"/>
          </a:solidFill>
          <a:ln>
            <a:solidFill>
              <a:schemeClr val="bg1"/>
            </a:solidFill>
          </a:ln>
        </p:spPr>
        <p:txBody>
          <a:bodyPr rtlCol="0">
            <a:normAutofit fontScale="90000"/>
          </a:bodyPr>
          <a:lstStyle/>
          <a:p>
            <a:pPr>
              <a:defRPr/>
            </a:pPr>
            <a:r>
              <a:rPr lang="en-US" altLang="zh-CN" sz="3600" b="1" dirty="0">
                <a:latin typeface="Times New Roman"/>
                <a:cs typeface="Times New Roman"/>
              </a:rPr>
              <a:t/>
            </a:r>
            <a:br>
              <a:rPr lang="en-US" altLang="zh-CN" sz="3600" b="1" dirty="0">
                <a:latin typeface="Times New Roman"/>
                <a:cs typeface="Times New Roman"/>
              </a:rPr>
            </a:br>
            <a:r>
              <a:rPr lang="en-US" altLang="zh-CN" sz="3600" b="1" dirty="0">
                <a:latin typeface="Times New Roman"/>
                <a:cs typeface="Times New Roman"/>
              </a:rPr>
              <a:t>An Organization Is an Open System</a:t>
            </a:r>
            <a:r>
              <a:rPr lang="en-US" altLang="zh-CN" b="1" dirty="0">
                <a:latin typeface="Times New Roman"/>
                <a:cs typeface="Times New Roman"/>
              </a:rPr>
              <a:t/>
            </a:r>
            <a:br>
              <a:rPr lang="en-US" altLang="zh-CN" b="1" dirty="0">
                <a:latin typeface="Times New Roman"/>
                <a:cs typeface="Times New Roman"/>
              </a:rPr>
            </a:br>
            <a:endParaRPr lang="en-US" altLang="zh-CN" dirty="0">
              <a:latin typeface="Times New Roman"/>
              <a:cs typeface="Times New Roman"/>
            </a:endParaRPr>
          </a:p>
        </p:txBody>
      </p:sp>
      <p:sp>
        <p:nvSpPr>
          <p:cNvPr id="28675" name="Rectangle 3"/>
          <p:cNvSpPr>
            <a:spLocks noGrp="1" noChangeArrowheads="1"/>
          </p:cNvSpPr>
          <p:nvPr>
            <p:ph idx="1"/>
          </p:nvPr>
        </p:nvSpPr>
        <p:spPr>
          <a:xfrm>
            <a:off x="1905000" y="1484314"/>
            <a:ext cx="8229600" cy="4802187"/>
          </a:xfrm>
          <a:solidFill>
            <a:schemeClr val="bg1"/>
          </a:solidFill>
          <a:ln>
            <a:solidFill>
              <a:schemeClr val="bg1"/>
            </a:solidFill>
          </a:ln>
        </p:spPr>
        <p:txBody>
          <a:bodyPr/>
          <a:lstStyle/>
          <a:p>
            <a:pPr eaLnBrk="1" hangingPunct="1">
              <a:buFont typeface="Wingdings"/>
              <a:buChar char="Ø"/>
            </a:pPr>
            <a:r>
              <a:rPr lang="en-US" altLang="zh-CN">
                <a:latin typeface="Times New Roman"/>
                <a:cs typeface="Times New Roman"/>
              </a:rPr>
              <a:t>An organization is a system that interacts with and depends upon its environment. </a:t>
            </a:r>
            <a:endParaRPr lang="en-US"/>
          </a:p>
          <a:p>
            <a:pPr lvl="1" eaLnBrk="1" hangingPunct="1">
              <a:buFont typeface="Wingdings"/>
              <a:buChar char="Ø"/>
            </a:pPr>
            <a:r>
              <a:rPr lang="en-US" altLang="zh-CN" dirty="0">
                <a:latin typeface="Times New Roman"/>
                <a:cs typeface="Times New Roman"/>
              </a:rPr>
              <a:t>     </a:t>
            </a:r>
            <a:r>
              <a:rPr lang="en-US" altLang="zh-CN" b="1" i="1">
                <a:solidFill>
                  <a:schemeClr val="tx2"/>
                </a:solidFill>
                <a:latin typeface="Times New Roman"/>
                <a:cs typeface="Times New Roman"/>
              </a:rPr>
              <a:t>Organization’s stakeholders</a:t>
            </a:r>
            <a:r>
              <a:rPr lang="en-US" altLang="zh-CN">
                <a:latin typeface="Times New Roman"/>
                <a:cs typeface="Times New Roman"/>
              </a:rPr>
              <a:t>: any group that is affected by  organizational decisions and policies. The manager’s job is to coordinate all stakeholders to achieve the organization’s goals.</a:t>
            </a:r>
          </a:p>
          <a:p>
            <a:pPr eaLnBrk="1" hangingPunct="1">
              <a:buFont typeface="Wingdings"/>
              <a:buChar char="Ø"/>
            </a:pPr>
            <a:r>
              <a:rPr lang="en-US" altLang="zh-CN">
                <a:latin typeface="Times New Roman"/>
                <a:cs typeface="Times New Roman"/>
              </a:rPr>
              <a:t>Organizational survival often depends on successful interactions with the external environment.</a:t>
            </a:r>
          </a:p>
        </p:txBody>
      </p:sp>
    </p:spTree>
    <p:extLst>
      <p:ext uri="{BB962C8B-B14F-4D97-AF65-F5344CB8AC3E}">
        <p14:creationId xmlns:p14="http://schemas.microsoft.com/office/powerpoint/2010/main" val="3122992784"/>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descr="jon69447_0204"/>
          <p:cNvPicPr>
            <a:picLocks noChangeAspect="1" noChangeArrowheads="1"/>
          </p:cNvPicPr>
          <p:nvPr/>
        </p:nvPicPr>
        <p:blipFill>
          <a:blip r:embed="rId2">
            <a:lum bright="-4000" contrast="38000"/>
            <a:extLst>
              <a:ext uri="{28A0092B-C50C-407E-A947-70E740481C1C}">
                <a14:useLocalDpi xmlns:a14="http://schemas.microsoft.com/office/drawing/2010/main" val="0"/>
              </a:ext>
            </a:extLst>
          </a:blip>
          <a:srcRect/>
          <a:stretch>
            <a:fillRect/>
          </a:stretch>
        </p:blipFill>
        <p:spPr bwMode="auto">
          <a:xfrm>
            <a:off x="2206625" y="642939"/>
            <a:ext cx="7951788" cy="585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21280069"/>
      </p:ext>
    </p:extLst>
  </p:cSld>
  <p:clrMapOvr>
    <a:masterClrMapping/>
  </p:clrMapOvr>
  <p:transition>
    <p:rand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2495550" y="476250"/>
            <a:ext cx="7416800" cy="865188"/>
          </a:xfrm>
          <a:solidFill>
            <a:schemeClr val="bg1"/>
          </a:solidFill>
          <a:ln>
            <a:solidFill>
              <a:schemeClr val="bg1"/>
            </a:solidFill>
          </a:ln>
        </p:spPr>
        <p:txBody>
          <a:bodyPr rtlCol="0">
            <a:normAutofit/>
          </a:bodyPr>
          <a:lstStyle/>
          <a:p>
            <a:pPr>
              <a:defRPr/>
            </a:pPr>
            <a:r>
              <a:rPr lang="en-US" altLang="en-US" sz="3600" b="1" dirty="0">
                <a:latin typeface="Times New Roman"/>
                <a:cs typeface="Times New Roman"/>
              </a:rPr>
              <a:t>The Open-Systems View</a:t>
            </a:r>
          </a:p>
        </p:txBody>
      </p:sp>
      <p:sp>
        <p:nvSpPr>
          <p:cNvPr id="30723" name="Rectangle 3"/>
          <p:cNvSpPr>
            <a:spLocks noGrp="1" noChangeArrowheads="1"/>
          </p:cNvSpPr>
          <p:nvPr>
            <p:ph idx="1"/>
          </p:nvPr>
        </p:nvSpPr>
        <p:spPr>
          <a:xfrm>
            <a:off x="2135188" y="1628776"/>
            <a:ext cx="8075612" cy="4608513"/>
          </a:xfrm>
          <a:solidFill>
            <a:schemeClr val="bg1"/>
          </a:solidFill>
          <a:ln>
            <a:solidFill>
              <a:schemeClr val="bg1"/>
            </a:solidFill>
          </a:ln>
        </p:spPr>
        <p:txBody>
          <a:bodyPr/>
          <a:lstStyle/>
          <a:p>
            <a:pPr lvl="1" eaLnBrk="1" hangingPunct="1">
              <a:lnSpc>
                <a:spcPct val="150000"/>
              </a:lnSpc>
              <a:buFont typeface="Wingdings"/>
              <a:buChar char="Ø"/>
            </a:pPr>
            <a:r>
              <a:rPr lang="en-US" altLang="en-US" b="1">
                <a:latin typeface="Times New Roman"/>
                <a:cs typeface="Times New Roman"/>
              </a:rPr>
              <a:t>Inputs</a:t>
            </a:r>
            <a:r>
              <a:rPr lang="en-US" altLang="en-US">
                <a:latin typeface="Times New Roman"/>
                <a:cs typeface="Times New Roman"/>
              </a:rPr>
              <a:t>: the acquisition of external resources to produce goods and services.</a:t>
            </a:r>
            <a:endParaRPr lang="en-US"/>
          </a:p>
          <a:p>
            <a:pPr lvl="1" eaLnBrk="1" hangingPunct="1">
              <a:lnSpc>
                <a:spcPct val="150000"/>
              </a:lnSpc>
              <a:buFont typeface="Wingdings"/>
              <a:buChar char="Ø"/>
            </a:pPr>
            <a:r>
              <a:rPr lang="en-US" altLang="en-US" b="1">
                <a:latin typeface="Times New Roman"/>
                <a:cs typeface="Times New Roman"/>
              </a:rPr>
              <a:t>Transformation</a:t>
            </a:r>
            <a:r>
              <a:rPr lang="en-US" altLang="en-US">
                <a:latin typeface="Times New Roman"/>
                <a:cs typeface="Times New Roman"/>
              </a:rPr>
              <a:t>: transforms the inputs into outputs of finished goods and services.</a:t>
            </a:r>
          </a:p>
          <a:p>
            <a:pPr lvl="1" eaLnBrk="1" hangingPunct="1">
              <a:lnSpc>
                <a:spcPct val="150000"/>
              </a:lnSpc>
              <a:buFont typeface="Wingdings"/>
              <a:buChar char="Ø"/>
            </a:pPr>
            <a:r>
              <a:rPr lang="en-US" altLang="en-US" b="1">
                <a:latin typeface="Times New Roman"/>
                <a:cs typeface="Times New Roman"/>
              </a:rPr>
              <a:t>Output</a:t>
            </a:r>
            <a:r>
              <a:rPr lang="en-US" altLang="en-US">
                <a:latin typeface="Times New Roman"/>
                <a:cs typeface="Times New Roman"/>
              </a:rPr>
              <a:t>: the release of finished goods  and services to its external environment.</a:t>
            </a:r>
          </a:p>
          <a:p>
            <a:pPr lvl="1" eaLnBrk="1" hangingPunct="1">
              <a:buFont typeface="Wingdings"/>
              <a:buChar char="Ø"/>
            </a:pPr>
            <a:endParaRPr lang="en-US" altLang="en-US">
              <a:latin typeface="Times New Roman"/>
              <a:cs typeface="Times New Roman"/>
            </a:endParaRPr>
          </a:p>
        </p:txBody>
      </p:sp>
    </p:spTree>
    <p:extLst>
      <p:ext uri="{BB962C8B-B14F-4D97-AF65-F5344CB8AC3E}">
        <p14:creationId xmlns:p14="http://schemas.microsoft.com/office/powerpoint/2010/main" val="3199381496"/>
      </p:ext>
    </p:extLst>
  </p:cSld>
  <p:clrMapOvr>
    <a:masterClrMapping/>
  </p:clrMapOvr>
  <p:transition>
    <p:rand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2313" y="260350"/>
            <a:ext cx="8229600" cy="1081088"/>
          </a:xfrm>
          <a:solidFill>
            <a:schemeClr val="bg1"/>
          </a:solidFill>
        </p:spPr>
        <p:txBody>
          <a:bodyPr/>
          <a:lstStyle/>
          <a:p>
            <a:pPr>
              <a:defRPr/>
            </a:pPr>
            <a:r>
              <a:rPr lang="en-US" sz="3600" b="1" dirty="0">
                <a:latin typeface="Times New Roman" panose="02020603050405020304" pitchFamily="18" charset="0"/>
                <a:cs typeface="Times New Roman" panose="02020603050405020304" pitchFamily="18" charset="0"/>
              </a:rPr>
              <a:t>Maslow’s</a:t>
            </a: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 Hierarchy-of-Needs Theory </a:t>
            </a:r>
          </a:p>
        </p:txBody>
      </p:sp>
      <p:sp>
        <p:nvSpPr>
          <p:cNvPr id="31747" name="Content Placeholder 2"/>
          <p:cNvSpPr>
            <a:spLocks noGrp="1"/>
          </p:cNvSpPr>
          <p:nvPr>
            <p:ph idx="1"/>
          </p:nvPr>
        </p:nvSpPr>
        <p:spPr>
          <a:xfrm>
            <a:off x="1981200" y="1557338"/>
            <a:ext cx="8229600" cy="4824412"/>
          </a:xfrm>
          <a:solidFill>
            <a:schemeClr val="bg1"/>
          </a:solidFill>
        </p:spPr>
        <p:txBody>
          <a:bodyPr/>
          <a:lstStyle/>
          <a:p>
            <a:pPr>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Abraham Maslow </a:t>
            </a:r>
            <a:r>
              <a:rPr lang="ar-SA"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1908-1970). </a:t>
            </a:r>
          </a:p>
          <a:p>
            <a:pPr>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Father of Humanistic Psychology.</a:t>
            </a:r>
            <a:endParaRPr lang="ar-SA" alt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Maslow's hierarchy of needs</a:t>
            </a:r>
            <a:r>
              <a:rPr lang="ar-SA"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theory is a motivational theory in psychology containing a five level model of human needs, often shown as hierarchical levels within a pyramid. </a:t>
            </a:r>
          </a:p>
          <a:p>
            <a:endParaRPr lang="en-US"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274724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433954" y="260350"/>
            <a:ext cx="10523348" cy="1354138"/>
          </a:xfrm>
        </p:spPr>
        <p:txBody>
          <a:bodyPr/>
          <a:lstStyle/>
          <a:p>
            <a:r>
              <a:rPr lang="en-US" altLang="en-US" sz="3600" b="1" dirty="0">
                <a:latin typeface="Times New Roman" panose="02020603050405020304" pitchFamily="18" charset="0"/>
                <a:cs typeface="Times New Roman" panose="02020603050405020304" pitchFamily="18" charset="0"/>
              </a:rPr>
              <a:t>Maslow’s Hierarchy-of-Needs Theory </a:t>
            </a:r>
          </a:p>
        </p:txBody>
      </p:sp>
      <p:pic>
        <p:nvPicPr>
          <p:cNvPr id="32771"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071813" y="1844675"/>
            <a:ext cx="5688012" cy="44640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Lst>
        </p:spPr>
      </p:pic>
    </p:spTree>
    <p:extLst>
      <p:ext uri="{BB962C8B-B14F-4D97-AF65-F5344CB8AC3E}">
        <p14:creationId xmlns:p14="http://schemas.microsoft.com/office/powerpoint/2010/main" val="194249957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Definition of Production Management </a:t>
            </a:r>
          </a:p>
        </p:txBody>
      </p:sp>
      <p:sp>
        <p:nvSpPr>
          <p:cNvPr id="3" name="Content Placeholder 2"/>
          <p:cNvSpPr>
            <a:spLocks noGrp="1"/>
          </p:cNvSpPr>
          <p:nvPr>
            <p:ph type="body" idx="1"/>
          </p:nvPr>
        </p:nvSpPr>
        <p:spPr/>
        <p:txBody>
          <a:bodyPr>
            <a:noAutofit/>
          </a:bodyPr>
          <a:lstStyle/>
          <a:p>
            <a:pPr indent="-457200" algn="just">
              <a:spcAft>
                <a:spcPts val="600"/>
              </a:spcAf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Production management is a function of management, related to planning, organizing implementing, coordinating and controlling the resources activities required to produce specified product by specified methods with optimal utilization of resources.</a:t>
            </a:r>
          </a:p>
          <a:p>
            <a:pPr indent="-457200" algn="just">
              <a:spcAft>
                <a:spcPts val="600"/>
              </a:spcAf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Production management is defined as management function which plans, organizes, coordinates, directs and controls the material supply and processing activities of an enterprise, so that specified products are produced by specified methods to meet an approved sales programme. </a:t>
            </a:r>
          </a:p>
          <a:p>
            <a:pPr marL="457200" lvl="1" indent="-457200" algn="just">
              <a:spcBef>
                <a:spcPts val="600"/>
              </a:spcBef>
              <a:spcAft>
                <a:spcPts val="600"/>
              </a:spcAf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These activities are being carried out in such a manner that </a:t>
            </a:r>
            <a:r>
              <a:rPr lang="en-IN" dirty="0" smtClean="0">
                <a:latin typeface="Times New Roman" panose="02020603050405020304" pitchFamily="18" charset="0"/>
                <a:cs typeface="Times New Roman" panose="02020603050405020304" pitchFamily="18" charset="0"/>
              </a:rPr>
              <a:t>labour, </a:t>
            </a:r>
            <a:r>
              <a:rPr lang="en-IN" dirty="0">
                <a:latin typeface="Times New Roman" panose="02020603050405020304" pitchFamily="18" charset="0"/>
                <a:cs typeface="Times New Roman" panose="02020603050405020304" pitchFamily="18" charset="0"/>
              </a:rPr>
              <a:t>plant and capital available are used to the best advantage of the organization.</a:t>
            </a:r>
          </a:p>
          <a:p>
            <a:pPr indent="-457200" algn="just">
              <a:spcAft>
                <a:spcPts val="600"/>
              </a:spcAft>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685782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Objectives of Production Management</a:t>
            </a:r>
            <a:endParaRPr lang="en-IN"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type="body" idx="1"/>
          </p:nvPr>
        </p:nvSpPr>
        <p:spPr/>
        <p:txBody>
          <a:bodyPr>
            <a:normAutofit/>
          </a:bodyPr>
          <a:lstStyle/>
          <a:p>
            <a:pPr lvl="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Produce the desired product or specified product by specified methods with optimal utilization of available resources.</a:t>
            </a:r>
          </a:p>
          <a:p>
            <a:pPr lvl="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Produce products which are cost efficient and conforming to the quality. </a:t>
            </a:r>
          </a:p>
          <a:p>
            <a:pPr lvl="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Deliver right goods of right quality at right place at the right price.</a:t>
            </a:r>
          </a:p>
          <a:p>
            <a:pPr algn="just">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933752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Types of Production Process</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type="body" idx="1"/>
          </p:nvPr>
        </p:nvSpPr>
        <p:spPr/>
        <p:txBody>
          <a:bodyPr>
            <a:normAutofit/>
          </a:bodyPr>
          <a:lstStyle/>
          <a:p>
            <a:pPr indent="-4572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There are four types of production process that are distinct and require different conditions for their working. </a:t>
            </a:r>
          </a:p>
          <a:p>
            <a:pPr indent="-4572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Selection of production process is a strategic decision, which requires to be considered and decided at the stage of planning itself. </a:t>
            </a:r>
          </a:p>
          <a:p>
            <a:pPr marL="457200" lvl="1" indent="-45720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It should meet the basic two objectives i.e. to meet the specification of the final product and should be cost effective.</a:t>
            </a:r>
          </a:p>
          <a:p>
            <a:pPr>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622985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Classification of Manufacturing Process</a:t>
            </a:r>
          </a:p>
        </p:txBody>
      </p:sp>
      <p:sp>
        <p:nvSpPr>
          <p:cNvPr id="3" name="Content Placeholder 2"/>
          <p:cNvSpPr>
            <a:spLocks noGrp="1"/>
          </p:cNvSpPr>
          <p:nvPr>
            <p:ph type="body" idx="1"/>
          </p:nvPr>
        </p:nvSpPr>
        <p:spPr/>
        <p:txBody>
          <a:bodyPr/>
          <a:lstStyle/>
          <a:p>
            <a:pPr>
              <a:buNone/>
            </a:pPr>
            <a:r>
              <a:rPr lang="en-IN" sz="2400" dirty="0">
                <a:latin typeface="Times New Roman" panose="02020603050405020304" pitchFamily="18" charset="0"/>
                <a:cs typeface="Times New Roman" panose="02020603050405020304" pitchFamily="18" charset="0"/>
              </a:rPr>
              <a:t>The manufacturing process is classified into four types</a:t>
            </a:r>
            <a:r>
              <a:rPr lang="en-IN" sz="2400" dirty="0" smtClean="0">
                <a:latin typeface="Times New Roman" panose="02020603050405020304" pitchFamily="18" charset="0"/>
                <a:cs typeface="Times New Roman" panose="02020603050405020304" pitchFamily="18" charset="0"/>
              </a:rPr>
              <a:t>.</a:t>
            </a:r>
          </a:p>
          <a:p>
            <a:pPr marL="457200" lvl="2" indent="-457200">
              <a:buFont typeface="+mj-lt"/>
              <a:buAutoNum type="arabicPeriod"/>
            </a:pPr>
            <a:r>
              <a:rPr lang="en-IN" dirty="0" smtClean="0">
                <a:latin typeface="Times New Roman" panose="02020603050405020304" pitchFamily="18" charset="0"/>
                <a:cs typeface="Times New Roman" panose="02020603050405020304" pitchFamily="18" charset="0"/>
              </a:rPr>
              <a:t>Job production</a:t>
            </a:r>
          </a:p>
          <a:p>
            <a:pPr marL="457200" lvl="2" indent="-457200">
              <a:buFont typeface="+mj-lt"/>
              <a:buAutoNum type="arabicPeriod"/>
            </a:pPr>
            <a:r>
              <a:rPr lang="en-IN" dirty="0" smtClean="0">
                <a:latin typeface="Times New Roman" panose="02020603050405020304" pitchFamily="18" charset="0"/>
                <a:cs typeface="Times New Roman" panose="02020603050405020304" pitchFamily="18" charset="0"/>
              </a:rPr>
              <a:t>Batch production</a:t>
            </a:r>
          </a:p>
          <a:p>
            <a:pPr marL="457200" lvl="2" indent="-457200">
              <a:buFont typeface="+mj-lt"/>
              <a:buAutoNum type="arabicPeriod"/>
            </a:pPr>
            <a:r>
              <a:rPr lang="en-IN" dirty="0" smtClean="0">
                <a:latin typeface="Times New Roman" panose="02020603050405020304" pitchFamily="18" charset="0"/>
                <a:cs typeface="Times New Roman" panose="02020603050405020304" pitchFamily="18" charset="0"/>
              </a:rPr>
              <a:t>Mass or flow production</a:t>
            </a:r>
          </a:p>
          <a:p>
            <a:pPr marL="457200" lvl="2" indent="-457200">
              <a:buFont typeface="+mj-lt"/>
              <a:buAutoNum type="arabicPeriod"/>
            </a:pPr>
            <a:r>
              <a:rPr lang="en-IN" dirty="0" smtClean="0">
                <a:latin typeface="Times New Roman" panose="02020603050405020304" pitchFamily="18" charset="0"/>
                <a:cs typeface="Times New Roman" panose="02020603050405020304" pitchFamily="18" charset="0"/>
              </a:rPr>
              <a:t>Process Production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563834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Classification of Manufacturing Process</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type="body" idx="1"/>
          </p:nvPr>
        </p:nvSpPr>
        <p:spPr>
          <a:xfrm>
            <a:off x="838200" y="1825625"/>
            <a:ext cx="10515600" cy="4895215"/>
          </a:xfrm>
        </p:spPr>
        <p:txBody>
          <a:bodyPr>
            <a:noAutofit/>
          </a:bodyPr>
          <a:lstStyle/>
          <a:p>
            <a:pPr marL="114300" indent="0">
              <a:buNone/>
            </a:pPr>
            <a:r>
              <a:rPr lang="en-IN" sz="1800" b="1" dirty="0">
                <a:latin typeface="Times New Roman" panose="02020603050405020304" pitchFamily="18" charset="0"/>
                <a:cs typeface="Times New Roman" panose="02020603050405020304" pitchFamily="18" charset="0"/>
              </a:rPr>
              <a:t>Job production</a:t>
            </a:r>
            <a:endParaRPr lang="en-IN" sz="1800"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Herein one or few units of the products are produced as per the requirement and specification of the customer. </a:t>
            </a:r>
          </a:p>
          <a:p>
            <a:pPr lvl="1" algn="just">
              <a:buFont typeface="Wingdings" panose="05000000000000000000" pitchFamily="2" charset="2"/>
              <a:buChar char="Ø"/>
            </a:pPr>
            <a:r>
              <a:rPr lang="en-IN" sz="1800" dirty="0" smtClean="0">
                <a:latin typeface="Times New Roman" panose="02020603050405020304" pitchFamily="18" charset="0"/>
                <a:cs typeface="Times New Roman" panose="02020603050405020304" pitchFamily="18" charset="0"/>
              </a:rPr>
              <a:t>Production </a:t>
            </a:r>
            <a:r>
              <a:rPr lang="en-IN" sz="1800" dirty="0">
                <a:latin typeface="Times New Roman" panose="02020603050405020304" pitchFamily="18" charset="0"/>
                <a:cs typeface="Times New Roman" panose="02020603050405020304" pitchFamily="18" charset="0"/>
              </a:rPr>
              <a:t>is to meet the delivery schedule and costs are fixed prior to the contract.</a:t>
            </a:r>
          </a:p>
          <a:p>
            <a:pPr marL="114300" indent="0">
              <a:buNone/>
            </a:pPr>
            <a:r>
              <a:rPr lang="en-IN" sz="1800" b="1" dirty="0">
                <a:latin typeface="Times New Roman" panose="02020603050405020304" pitchFamily="18" charset="0"/>
                <a:cs typeface="Times New Roman" panose="02020603050405020304" pitchFamily="18" charset="0"/>
              </a:rPr>
              <a:t>Batch production</a:t>
            </a:r>
            <a:endParaRPr lang="en-IN" sz="1800"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In this, limited quantities of each of the different types of products are manufactured on same set of machines. </a:t>
            </a:r>
            <a:endParaRPr lang="en-IN" sz="1800" dirty="0" smtClean="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Ø"/>
            </a:pPr>
            <a:r>
              <a:rPr lang="en-IN" sz="1800" dirty="0" smtClean="0">
                <a:latin typeface="Times New Roman" panose="02020603050405020304" pitchFamily="18" charset="0"/>
                <a:cs typeface="Times New Roman" panose="02020603050405020304" pitchFamily="18" charset="0"/>
              </a:rPr>
              <a:t>Different </a:t>
            </a:r>
            <a:r>
              <a:rPr lang="en-IN" sz="1800" dirty="0">
                <a:latin typeface="Times New Roman" panose="02020603050405020304" pitchFamily="18" charset="0"/>
                <a:cs typeface="Times New Roman" panose="02020603050405020304" pitchFamily="18" charset="0"/>
              </a:rPr>
              <a:t>products are produced separately one after the other.</a:t>
            </a:r>
          </a:p>
          <a:p>
            <a:pPr marL="114300" indent="0">
              <a:buNone/>
            </a:pPr>
            <a:r>
              <a:rPr lang="en-IN" sz="1800" b="1" dirty="0">
                <a:latin typeface="Times New Roman" panose="02020603050405020304" pitchFamily="18" charset="0"/>
                <a:cs typeface="Times New Roman" panose="02020603050405020304" pitchFamily="18" charset="0"/>
              </a:rPr>
              <a:t>Mass or flow production</a:t>
            </a:r>
            <a:endParaRPr lang="en-IN" sz="1800"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Under this, the production is conducted on a set of machines arranged according to the sequence of operations. </a:t>
            </a:r>
            <a:endParaRPr lang="en-IN" sz="1800" dirty="0" smtClean="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Ø"/>
            </a:pPr>
            <a:r>
              <a:rPr lang="en-IN" sz="1800" dirty="0" smtClean="0">
                <a:latin typeface="Times New Roman" panose="02020603050405020304" pitchFamily="18" charset="0"/>
                <a:cs typeface="Times New Roman" panose="02020603050405020304" pitchFamily="18" charset="0"/>
              </a:rPr>
              <a:t>A </a:t>
            </a:r>
            <a:r>
              <a:rPr lang="en-IN" sz="1800" dirty="0">
                <a:latin typeface="Times New Roman" panose="02020603050405020304" pitchFamily="18" charset="0"/>
                <a:cs typeface="Times New Roman" panose="02020603050405020304" pitchFamily="18" charset="0"/>
              </a:rPr>
              <a:t>huge quantity of same product is manufactured at a time and is stocked for sale. </a:t>
            </a:r>
            <a:endParaRPr lang="en-IN" sz="1800" dirty="0" smtClean="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Ø"/>
            </a:pPr>
            <a:r>
              <a:rPr lang="en-IN" sz="1800" dirty="0" smtClean="0">
                <a:latin typeface="Times New Roman" panose="02020603050405020304" pitchFamily="18" charset="0"/>
                <a:cs typeface="Times New Roman" panose="02020603050405020304" pitchFamily="18" charset="0"/>
              </a:rPr>
              <a:t>Different </a:t>
            </a:r>
            <a:r>
              <a:rPr lang="en-IN" sz="1800" dirty="0">
                <a:latin typeface="Times New Roman" panose="02020603050405020304" pitchFamily="18" charset="0"/>
                <a:cs typeface="Times New Roman" panose="02020603050405020304" pitchFamily="18" charset="0"/>
              </a:rPr>
              <a:t>product will require different manufacturing lines.</a:t>
            </a:r>
          </a:p>
          <a:p>
            <a:pPr marL="114300" indent="0">
              <a:buNone/>
            </a:pPr>
            <a:r>
              <a:rPr lang="en-IN" sz="1800" b="1" dirty="0">
                <a:latin typeface="Times New Roman" panose="02020603050405020304" pitchFamily="18" charset="0"/>
                <a:cs typeface="Times New Roman" panose="02020603050405020304" pitchFamily="18" charset="0"/>
              </a:rPr>
              <a:t>Process production</a:t>
            </a:r>
            <a:endParaRPr lang="en-IN" sz="1800"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Under this, the production is conducted continuously for an indefinite period to meet continuous market demand.</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631525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Scope of Production Management</a:t>
            </a:r>
            <a:endParaRPr lang="en-IN"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type="body" idx="1"/>
          </p:nvPr>
        </p:nvSpPr>
        <p:spPr/>
        <p:txBody>
          <a:bodyPr>
            <a:normAutofit/>
          </a:bodyPr>
          <a:lstStyle/>
          <a:p>
            <a:pPr indent="-4572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An organization must follow the principles of management for its survival and growth. </a:t>
            </a:r>
            <a:endParaRPr lang="en-IN" sz="2400" dirty="0" smtClean="0">
              <a:latin typeface="Times New Roman" panose="02020603050405020304" pitchFamily="18" charset="0"/>
              <a:cs typeface="Times New Roman" panose="02020603050405020304" pitchFamily="18" charset="0"/>
            </a:endParaRPr>
          </a:p>
          <a:p>
            <a:pPr indent="-457200" algn="just">
              <a:buFont typeface="Wingdings" panose="05000000000000000000" pitchFamily="2" charset="2"/>
              <a:buChar char="Ø"/>
            </a:pPr>
            <a:r>
              <a:rPr lang="en-IN" sz="2400" dirty="0" smtClean="0">
                <a:latin typeface="Times New Roman" panose="02020603050405020304" pitchFamily="18" charset="0"/>
                <a:cs typeface="Times New Roman" panose="02020603050405020304" pitchFamily="18" charset="0"/>
              </a:rPr>
              <a:t>The </a:t>
            </a:r>
            <a:r>
              <a:rPr lang="en-IN" sz="2400" dirty="0">
                <a:latin typeface="Times New Roman" panose="02020603050405020304" pitchFamily="18" charset="0"/>
                <a:cs typeface="Times New Roman" panose="02020603050405020304" pitchFamily="18" charset="0"/>
              </a:rPr>
              <a:t>same is applicable to production management also.</a:t>
            </a:r>
          </a:p>
          <a:p>
            <a:pPr indent="-4572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Reading and learning production management will enable one to be capable of solving the problems of the organization. </a:t>
            </a:r>
          </a:p>
          <a:p>
            <a:pPr indent="-4572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The problems a manager face in various organizations are more or less similar to that of Production department but smaller in magnitude. </a:t>
            </a:r>
          </a:p>
          <a:p>
            <a:pPr marL="457200" lvl="1" indent="-45720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Knowledge of Production Management helps professionals to tackle the problems of business, including dairy industry.</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928044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smtClean="0">
                <a:latin typeface="Times New Roman" panose="02020603050405020304" pitchFamily="18" charset="0"/>
                <a:cs typeface="Times New Roman" panose="02020603050405020304" pitchFamily="18" charset="0"/>
              </a:rPr>
              <a:t>Logistic Management</a:t>
            </a:r>
            <a:endParaRPr lang="en-US"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type="body" idx="1"/>
          </p:nvPr>
        </p:nvSpPr>
        <p:spPr/>
        <p:txBody>
          <a:bodyPr>
            <a:normAutofit fontScale="92500" lnSpcReduction="10000"/>
          </a:bodyPr>
          <a:lstStyle/>
          <a:p>
            <a:pPr indent="-45720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0" indent="0">
              <a:buNone/>
            </a:pPr>
            <a:r>
              <a:rPr lang="en-US" b="1" dirty="0" smtClean="0">
                <a:latin typeface="Times New Roman" panose="02020603050405020304" pitchFamily="18" charset="0"/>
                <a:cs typeface="Times New Roman" panose="02020603050405020304" pitchFamily="18" charset="0"/>
              </a:rPr>
              <a:t>Definition</a:t>
            </a:r>
            <a:endParaRPr lang="en-US" b="1" dirty="0">
              <a:latin typeface="Times New Roman" panose="02020603050405020304" pitchFamily="18" charset="0"/>
              <a:cs typeface="Times New Roman" panose="02020603050405020304" pitchFamily="18" charset="0"/>
            </a:endParaRPr>
          </a:p>
          <a:p>
            <a:pPr indent="-457200">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planning, execution, and control of the movement / placement of goods and / or people, and the related supporting activities, all within a system designed to achieve specific </a:t>
            </a:r>
            <a:r>
              <a:rPr lang="en-US" dirty="0" smtClean="0">
                <a:latin typeface="Times New Roman" panose="02020603050405020304" pitchFamily="18" charset="0"/>
                <a:cs typeface="Times New Roman" panose="02020603050405020304" pitchFamily="18" charset="0"/>
              </a:rPr>
              <a:t>objectives.</a:t>
            </a:r>
            <a:endParaRPr lang="en-US" dirty="0">
              <a:latin typeface="Times New Roman" panose="02020603050405020304" pitchFamily="18" charset="0"/>
              <a:cs typeface="Times New Roman" panose="02020603050405020304" pitchFamily="18" charset="0"/>
            </a:endParaRPr>
          </a:p>
          <a:p>
            <a:pPr marL="0" indent="0">
              <a:buNone/>
            </a:pPr>
            <a:r>
              <a:rPr lang="en-US" b="1" dirty="0" smtClean="0">
                <a:latin typeface="Times New Roman" panose="02020603050405020304" pitchFamily="18" charset="0"/>
                <a:cs typeface="Times New Roman" panose="02020603050405020304" pitchFamily="18" charset="0"/>
              </a:rPr>
              <a:t>Logistics </a:t>
            </a:r>
            <a:r>
              <a:rPr lang="en-US" b="1" dirty="0">
                <a:latin typeface="Times New Roman" panose="02020603050405020304" pitchFamily="18" charset="0"/>
                <a:cs typeface="Times New Roman" panose="02020603050405020304" pitchFamily="18" charset="0"/>
              </a:rPr>
              <a:t>Management </a:t>
            </a:r>
          </a:p>
          <a:p>
            <a:pPr indent="-457200">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Logistics management is that part of supply chain management that plans, implements, and controls the efficient, effective forward and reverse flow and storage of goods, services and related information between the point of origin and the point of consumption in order to meet customers' requirements</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119756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latin typeface="Times New Roman" panose="02020603050405020304" pitchFamily="18" charset="0"/>
                <a:cs typeface="Times New Roman" panose="02020603050405020304" pitchFamily="18" charset="0"/>
              </a:rPr>
              <a:t>Areas of Logistics Management </a:t>
            </a:r>
            <a:endParaRPr lang="en-US"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p:txBody>
          <a:bodyPr/>
          <a:lstStyle/>
          <a:p>
            <a:pPr indent="-4572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Procurement Logistics</a:t>
            </a:r>
          </a:p>
          <a:p>
            <a:pPr indent="-457200">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Production </a:t>
            </a:r>
            <a:r>
              <a:rPr lang="en-US" dirty="0">
                <a:latin typeface="Times New Roman" panose="02020603050405020304" pitchFamily="18" charset="0"/>
                <a:cs typeface="Times New Roman" panose="02020603050405020304" pitchFamily="18" charset="0"/>
              </a:rPr>
              <a:t>Logistics</a:t>
            </a:r>
          </a:p>
          <a:p>
            <a:pPr indent="-457200">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Distribution </a:t>
            </a:r>
            <a:r>
              <a:rPr lang="en-US" dirty="0">
                <a:latin typeface="Times New Roman" panose="02020603050405020304" pitchFamily="18" charset="0"/>
                <a:cs typeface="Times New Roman" panose="02020603050405020304" pitchFamily="18" charset="0"/>
              </a:rPr>
              <a:t>Logistics</a:t>
            </a:r>
          </a:p>
          <a:p>
            <a:pPr indent="-457200">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Disposal </a:t>
            </a:r>
            <a:r>
              <a:rPr lang="en-US" dirty="0">
                <a:latin typeface="Times New Roman" panose="02020603050405020304" pitchFamily="18" charset="0"/>
                <a:cs typeface="Times New Roman" panose="02020603050405020304" pitchFamily="18" charset="0"/>
              </a:rPr>
              <a:t>Logistics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84622" y="2080376"/>
            <a:ext cx="4435739" cy="409658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39449539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solidFill>
                  <a:schemeClr val="tx1"/>
                </a:solidFill>
                <a:latin typeface="Times New Roman" panose="02020603050405020304" pitchFamily="18" charset="0"/>
                <a:cs typeface="Times New Roman" panose="02020603050405020304" pitchFamily="18" charset="0"/>
              </a:rPr>
              <a:t>ACTIVITIES INVOLVED IN LOGISTICS MANAGEMENT</a:t>
            </a:r>
          </a:p>
        </p:txBody>
      </p:sp>
      <p:sp>
        <p:nvSpPr>
          <p:cNvPr id="3" name="Content Placeholder 2"/>
          <p:cNvSpPr>
            <a:spLocks noGrp="1"/>
          </p:cNvSpPr>
          <p:nvPr>
            <p:ph type="body" idx="1"/>
          </p:nvPr>
        </p:nvSpPr>
        <p:spPr/>
        <p:txBody>
          <a:bodyPr>
            <a:normAutofit/>
          </a:bodyPr>
          <a:lstStyle/>
          <a:p>
            <a:pPr marL="457200" lvl="1" indent="-457200">
              <a:buClr>
                <a:schemeClr val="accent3"/>
              </a:buClr>
              <a:buSzPct val="95000"/>
              <a:buFont typeface="+mj-lt"/>
              <a:buAutoNum type="arabicPeriod"/>
              <a:defRPr/>
            </a:pPr>
            <a:r>
              <a:rPr lang="en-US" dirty="0">
                <a:solidFill>
                  <a:schemeClr val="tx1"/>
                </a:solidFill>
                <a:latin typeface="Times New Roman" panose="02020603050405020304" pitchFamily="18" charset="0"/>
                <a:cs typeface="Times New Roman" panose="02020603050405020304" pitchFamily="18" charset="0"/>
              </a:rPr>
              <a:t>Order processing</a:t>
            </a:r>
          </a:p>
          <a:p>
            <a:pPr marL="457200" lvl="1" indent="-457200">
              <a:buClr>
                <a:schemeClr val="accent3"/>
              </a:buClr>
              <a:buSzPct val="95000"/>
              <a:buFont typeface="+mj-lt"/>
              <a:buAutoNum type="arabicPeriod"/>
              <a:defRPr/>
            </a:pPr>
            <a:r>
              <a:rPr lang="en-US" dirty="0" smtClean="0">
                <a:solidFill>
                  <a:schemeClr val="tx1"/>
                </a:solidFill>
                <a:latin typeface="Times New Roman" panose="02020603050405020304" pitchFamily="18" charset="0"/>
                <a:cs typeface="Times New Roman" panose="02020603050405020304" pitchFamily="18" charset="0"/>
              </a:rPr>
              <a:t>Inventory </a:t>
            </a:r>
            <a:r>
              <a:rPr lang="en-US" dirty="0">
                <a:solidFill>
                  <a:schemeClr val="tx1"/>
                </a:solidFill>
                <a:latin typeface="Times New Roman" panose="02020603050405020304" pitchFamily="18" charset="0"/>
                <a:cs typeface="Times New Roman" panose="02020603050405020304" pitchFamily="18" charset="0"/>
              </a:rPr>
              <a:t>management</a:t>
            </a:r>
          </a:p>
          <a:p>
            <a:pPr marL="457200" lvl="1" indent="-457200">
              <a:buClr>
                <a:schemeClr val="accent3"/>
              </a:buClr>
              <a:buSzPct val="95000"/>
              <a:buFont typeface="+mj-lt"/>
              <a:buAutoNum type="arabicPeriod"/>
              <a:defRPr/>
            </a:pPr>
            <a:r>
              <a:rPr lang="en-US" dirty="0" smtClean="0">
                <a:solidFill>
                  <a:schemeClr val="tx1"/>
                </a:solidFill>
                <a:latin typeface="Times New Roman" panose="02020603050405020304" pitchFamily="18" charset="0"/>
                <a:cs typeface="Times New Roman" panose="02020603050405020304" pitchFamily="18" charset="0"/>
              </a:rPr>
              <a:t>Material </a:t>
            </a:r>
            <a:r>
              <a:rPr lang="en-US" dirty="0">
                <a:solidFill>
                  <a:schemeClr val="tx1"/>
                </a:solidFill>
                <a:latin typeface="Times New Roman" panose="02020603050405020304" pitchFamily="18" charset="0"/>
                <a:cs typeface="Times New Roman" panose="02020603050405020304" pitchFamily="18" charset="0"/>
              </a:rPr>
              <a:t>planning</a:t>
            </a:r>
          </a:p>
          <a:p>
            <a:pPr marL="457200" lvl="1" indent="-457200">
              <a:buClr>
                <a:schemeClr val="accent3"/>
              </a:buClr>
              <a:buSzPct val="95000"/>
              <a:buFont typeface="+mj-lt"/>
              <a:buAutoNum type="arabicPeriod"/>
              <a:defRPr/>
            </a:pPr>
            <a:r>
              <a:rPr lang="en-US" dirty="0" smtClean="0">
                <a:solidFill>
                  <a:schemeClr val="tx1"/>
                </a:solidFill>
                <a:latin typeface="Times New Roman" panose="02020603050405020304" pitchFamily="18" charset="0"/>
                <a:cs typeface="Times New Roman" panose="02020603050405020304" pitchFamily="18" charset="0"/>
              </a:rPr>
              <a:t>Warehousing</a:t>
            </a:r>
            <a:endParaRPr lang="en-US" dirty="0">
              <a:solidFill>
                <a:schemeClr val="tx1"/>
              </a:solidFill>
              <a:latin typeface="Times New Roman" panose="02020603050405020304" pitchFamily="18" charset="0"/>
              <a:cs typeface="Times New Roman" panose="02020603050405020304" pitchFamily="18" charset="0"/>
            </a:endParaRPr>
          </a:p>
          <a:p>
            <a:pPr marL="457200" lvl="1" indent="-457200">
              <a:buClr>
                <a:schemeClr val="accent3"/>
              </a:buClr>
              <a:buSzPct val="95000"/>
              <a:buFont typeface="+mj-lt"/>
              <a:buAutoNum type="arabicPeriod"/>
              <a:defRPr/>
            </a:pPr>
            <a:r>
              <a:rPr lang="en-US" dirty="0" smtClean="0">
                <a:solidFill>
                  <a:schemeClr val="tx1"/>
                </a:solidFill>
                <a:latin typeface="Times New Roman" panose="02020603050405020304" pitchFamily="18" charset="0"/>
                <a:cs typeface="Times New Roman" panose="02020603050405020304" pitchFamily="18" charset="0"/>
              </a:rPr>
              <a:t>Transportation</a:t>
            </a:r>
            <a:r>
              <a:rPr lang="en-US" dirty="0">
                <a:solidFill>
                  <a:schemeClr val="tx1"/>
                </a:solidFill>
                <a:latin typeface="Times New Roman" panose="02020603050405020304" pitchFamily="18" charset="0"/>
                <a:cs typeface="Times New Roman" panose="02020603050405020304" pitchFamily="18" charset="0"/>
              </a:rPr>
              <a:t>.</a:t>
            </a:r>
          </a:p>
          <a:p>
            <a:endParaRPr lang="en-US"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62324" y="1825624"/>
            <a:ext cx="5891476" cy="4351337"/>
          </a:xfrm>
          <a:prstGeom prst="rect">
            <a:avLst/>
          </a:prstGeom>
        </p:spPr>
      </p:pic>
    </p:spTree>
    <p:extLst>
      <p:ext uri="{BB962C8B-B14F-4D97-AF65-F5344CB8AC3E}">
        <p14:creationId xmlns:p14="http://schemas.microsoft.com/office/powerpoint/2010/main" val="276022503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D1680-0295-415E-9BAC-B8BD9269C033}"/>
              </a:ext>
            </a:extLst>
          </p:cNvPr>
          <p:cNvSpPr>
            <a:spLocks noGrp="1"/>
          </p:cNvSpPr>
          <p:nvPr>
            <p:ph type="title"/>
          </p:nvPr>
        </p:nvSpPr>
        <p:spPr/>
        <p:txBody>
          <a:bodyPr>
            <a:normAutofit/>
          </a:bodyPr>
          <a:lstStyle/>
          <a:p>
            <a:r>
              <a:rPr lang="en-US" sz="3600" b="1" dirty="0" smtClean="0">
                <a:latin typeface="Times New Roman" panose="02020603050405020304" pitchFamily="18" charset="0"/>
                <a:cs typeface="Times New Roman" panose="02020603050405020304" pitchFamily="18" charset="0"/>
              </a:rPr>
              <a:t>Types of </a:t>
            </a:r>
            <a:r>
              <a:rPr lang="en-IN" sz="3600" b="1" dirty="0" smtClean="0">
                <a:latin typeface="Times New Roman" panose="02020603050405020304" pitchFamily="18" charset="0"/>
                <a:cs typeface="Times New Roman" panose="02020603050405020304" pitchFamily="18" charset="0"/>
              </a:rPr>
              <a:t>Logistics </a:t>
            </a:r>
            <a:r>
              <a:rPr lang="en-IN" sz="3600" b="1" dirty="0">
                <a:latin typeface="Times New Roman" panose="02020603050405020304" pitchFamily="18" charset="0"/>
                <a:cs typeface="Times New Roman" panose="02020603050405020304" pitchFamily="18" charset="0"/>
              </a:rPr>
              <a:t>Management</a:t>
            </a:r>
          </a:p>
        </p:txBody>
      </p:sp>
      <p:sp>
        <p:nvSpPr>
          <p:cNvPr id="3" name="Content Placeholder 2">
            <a:extLst>
              <a:ext uri="{FF2B5EF4-FFF2-40B4-BE49-F238E27FC236}">
                <a16:creationId xmlns:a16="http://schemas.microsoft.com/office/drawing/2014/main" id="{97476E4D-4432-4578-BF25-99B223C7B342}"/>
              </a:ext>
            </a:extLst>
          </p:cNvPr>
          <p:cNvSpPr>
            <a:spLocks noGrp="1"/>
          </p:cNvSpPr>
          <p:nvPr>
            <p:ph type="body" idx="1"/>
          </p:nvPr>
        </p:nvSpPr>
        <p:spPr/>
        <p:txBody>
          <a:bodyPr>
            <a:normAutofit/>
          </a:bodyPr>
          <a:lstStyle/>
          <a:p>
            <a:pPr marL="514350" indent="-514350">
              <a:buFont typeface="+mj-lt"/>
              <a:buAutoNum type="arabicPeriod"/>
            </a:pPr>
            <a:r>
              <a:rPr lang="en-US" dirty="0">
                <a:latin typeface="Times New Roman" panose="02020603050405020304" pitchFamily="18" charset="0"/>
                <a:cs typeface="Times New Roman" panose="02020603050405020304" pitchFamily="18" charset="0"/>
              </a:rPr>
              <a:t>Supply Management and Logistics</a:t>
            </a:r>
          </a:p>
          <a:p>
            <a:pPr marL="514350" indent="-514350">
              <a:spcBef>
                <a:spcPct val="20000"/>
              </a:spcBef>
              <a:buClr>
                <a:schemeClr val="accent3"/>
              </a:buClr>
              <a:buSzPct val="95000"/>
              <a:buFont typeface="+mj-lt"/>
              <a:buAutoNum type="arabicPeriod"/>
              <a:defRPr/>
            </a:pPr>
            <a:r>
              <a:rPr lang="en-US" dirty="0">
                <a:latin typeface="Times New Roman" panose="02020603050405020304" pitchFamily="18" charset="0"/>
                <a:cs typeface="Times New Roman" panose="02020603050405020304" pitchFamily="18" charset="0"/>
              </a:rPr>
              <a:t>Distribution and Material Movement</a:t>
            </a:r>
          </a:p>
          <a:p>
            <a:pPr marL="514350" indent="-514350">
              <a:spcBef>
                <a:spcPct val="20000"/>
              </a:spcBef>
              <a:buClr>
                <a:schemeClr val="accent3"/>
              </a:buClr>
              <a:buSzPct val="95000"/>
              <a:buFont typeface="+mj-lt"/>
              <a:buAutoNum type="arabicPeriod"/>
              <a:defRPr/>
            </a:pPr>
            <a:r>
              <a:rPr lang="en-IN" dirty="0">
                <a:latin typeface="Times New Roman" panose="02020603050405020304" pitchFamily="18" charset="0"/>
                <a:cs typeface="Times New Roman" panose="02020603050405020304" pitchFamily="18" charset="0"/>
              </a:rPr>
              <a:t>Production Logistics and Management</a:t>
            </a:r>
          </a:p>
          <a:p>
            <a:pPr marL="514350" indent="-514350">
              <a:spcBef>
                <a:spcPct val="20000"/>
              </a:spcBef>
              <a:buClr>
                <a:schemeClr val="accent3"/>
              </a:buClr>
              <a:buSzPct val="95000"/>
              <a:buFont typeface="+mj-lt"/>
              <a:buAutoNum type="arabicPeriod"/>
              <a:defRPr/>
            </a:pPr>
            <a:r>
              <a:rPr lang="en-US" dirty="0">
                <a:latin typeface="Times New Roman" panose="02020603050405020304" pitchFamily="18" charset="0"/>
                <a:cs typeface="Times New Roman" panose="02020603050405020304" pitchFamily="18" charset="0"/>
              </a:rPr>
              <a:t>Reverse Logistics and Product Return</a:t>
            </a:r>
          </a:p>
        </p:txBody>
      </p:sp>
    </p:spTree>
    <p:extLst>
      <p:ext uri="{BB962C8B-B14F-4D97-AF65-F5344CB8AC3E}">
        <p14:creationId xmlns:p14="http://schemas.microsoft.com/office/powerpoint/2010/main" val="262732493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sz="quarter" idx="4294967295"/>
          </p:nvPr>
        </p:nvPicPr>
        <p:blipFill>
          <a:blip r:embed="rId2" cstate="print">
            <a:extLst>
              <a:ext uri="{28A0092B-C50C-407E-A947-70E740481C1C}">
                <a14:useLocalDpi xmlns:a14="http://schemas.microsoft.com/office/drawing/2010/main" val="0"/>
              </a:ext>
            </a:extLst>
          </a:blip>
          <a:stretch>
            <a:fillRect/>
          </a:stretch>
        </p:blipFill>
        <p:spPr bwMode="auto">
          <a:xfrm>
            <a:off x="1720311" y="663575"/>
            <a:ext cx="6613525" cy="4954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0670544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4000" b="1" dirty="0">
                <a:solidFill>
                  <a:schemeClr val="tx1"/>
                </a:solidFill>
                <a:latin typeface="Times New Roman" panose="02020603050405020304" pitchFamily="18" charset="0"/>
                <a:cs typeface="Times New Roman" panose="02020603050405020304" pitchFamily="18" charset="0"/>
              </a:rPr>
              <a:t>OBJECTIVES OF LOGISTICS</a:t>
            </a:r>
            <a:endParaRPr lang="en-US" sz="40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type="body" idx="1"/>
          </p:nvPr>
        </p:nvSpPr>
        <p:spPr/>
        <p:txBody>
          <a:bodyPr>
            <a:normAutofit/>
          </a:bodyPr>
          <a:lstStyle/>
          <a:p>
            <a:pPr indent="-457200">
              <a:buClr>
                <a:schemeClr val="accent3"/>
              </a:buClr>
              <a:buSzPct val="95000"/>
              <a:buFont typeface="Wingdings" panose="05000000000000000000" pitchFamily="2" charset="2"/>
              <a:buChar char="Ø"/>
              <a:defRPr/>
            </a:pPr>
            <a:endParaRPr lang="en-US" dirty="0">
              <a:solidFill>
                <a:schemeClr val="tx1"/>
              </a:solidFill>
              <a:latin typeface="Times New Roman" panose="02020603050405020304" pitchFamily="18" charset="0"/>
              <a:cs typeface="Times New Roman" panose="02020603050405020304" pitchFamily="18" charset="0"/>
            </a:endParaRPr>
          </a:p>
          <a:p>
            <a:pPr marL="0" indent="0">
              <a:buClr>
                <a:schemeClr val="accent3"/>
              </a:buClr>
              <a:buSzPct val="95000"/>
              <a:buNone/>
              <a:defRPr/>
            </a:pPr>
            <a:r>
              <a:rPr lang="en-US" b="1" dirty="0">
                <a:solidFill>
                  <a:schemeClr val="tx1"/>
                </a:solidFill>
                <a:latin typeface="Times New Roman" panose="02020603050405020304" pitchFamily="18" charset="0"/>
                <a:cs typeface="Times New Roman" panose="02020603050405020304" pitchFamily="18" charset="0"/>
              </a:rPr>
              <a:t>OPERATING  </a:t>
            </a:r>
            <a:r>
              <a:rPr lang="en-US" b="1" dirty="0" smtClean="0">
                <a:solidFill>
                  <a:schemeClr val="tx1"/>
                </a:solidFill>
                <a:latin typeface="Times New Roman" panose="02020603050405020304" pitchFamily="18" charset="0"/>
                <a:cs typeface="Times New Roman" panose="02020603050405020304" pitchFamily="18" charset="0"/>
              </a:rPr>
              <a:t>OBJECTIVES</a:t>
            </a:r>
            <a:endParaRPr lang="en-US" b="1" dirty="0">
              <a:solidFill>
                <a:schemeClr val="tx1"/>
              </a:solidFill>
              <a:latin typeface="Times New Roman" panose="02020603050405020304" pitchFamily="18" charset="0"/>
              <a:cs typeface="Times New Roman" panose="02020603050405020304" pitchFamily="18" charset="0"/>
            </a:endParaRPr>
          </a:p>
          <a:p>
            <a:pPr marL="514350" indent="-514350">
              <a:buClr>
                <a:schemeClr val="accent3"/>
              </a:buClr>
              <a:buSzPct val="95000"/>
              <a:buFont typeface="+mj-lt"/>
              <a:buAutoNum type="arabicPeriod"/>
              <a:defRPr/>
            </a:pPr>
            <a:r>
              <a:rPr lang="en-US" dirty="0" smtClean="0">
                <a:solidFill>
                  <a:schemeClr val="tx1"/>
                </a:solidFill>
                <a:latin typeface="Times New Roman" panose="02020603050405020304" pitchFamily="18" charset="0"/>
                <a:cs typeface="Times New Roman" panose="02020603050405020304" pitchFamily="18" charset="0"/>
              </a:rPr>
              <a:t>Rapid </a:t>
            </a:r>
            <a:r>
              <a:rPr lang="en-US" dirty="0">
                <a:solidFill>
                  <a:schemeClr val="tx1"/>
                </a:solidFill>
                <a:latin typeface="Times New Roman" panose="02020603050405020304" pitchFamily="18" charset="0"/>
                <a:cs typeface="Times New Roman" panose="02020603050405020304" pitchFamily="18" charset="0"/>
              </a:rPr>
              <a:t>response</a:t>
            </a:r>
          </a:p>
          <a:p>
            <a:pPr marL="514350" indent="-514350">
              <a:buClr>
                <a:schemeClr val="accent3"/>
              </a:buClr>
              <a:buSzPct val="95000"/>
              <a:buFont typeface="+mj-lt"/>
              <a:buAutoNum type="arabicPeriod"/>
              <a:defRPr/>
            </a:pPr>
            <a:r>
              <a:rPr lang="en-US" dirty="0" smtClean="0">
                <a:solidFill>
                  <a:schemeClr val="tx1"/>
                </a:solidFill>
                <a:latin typeface="Times New Roman" panose="02020603050405020304" pitchFamily="18" charset="0"/>
                <a:cs typeface="Times New Roman" panose="02020603050405020304" pitchFamily="18" charset="0"/>
              </a:rPr>
              <a:t>Minimum </a:t>
            </a:r>
            <a:r>
              <a:rPr lang="en-US" dirty="0">
                <a:solidFill>
                  <a:schemeClr val="tx1"/>
                </a:solidFill>
                <a:latin typeface="Times New Roman" panose="02020603050405020304" pitchFamily="18" charset="0"/>
                <a:cs typeface="Times New Roman" panose="02020603050405020304" pitchFamily="18" charset="0"/>
              </a:rPr>
              <a:t>variance</a:t>
            </a:r>
          </a:p>
          <a:p>
            <a:pPr marL="514350" indent="-514350">
              <a:buClr>
                <a:schemeClr val="accent3"/>
              </a:buClr>
              <a:buSzPct val="95000"/>
              <a:buFont typeface="+mj-lt"/>
              <a:buAutoNum type="arabicPeriod"/>
              <a:defRPr/>
            </a:pPr>
            <a:r>
              <a:rPr lang="en-US" dirty="0" smtClean="0">
                <a:solidFill>
                  <a:schemeClr val="tx1"/>
                </a:solidFill>
                <a:latin typeface="Times New Roman" panose="02020603050405020304" pitchFamily="18" charset="0"/>
                <a:cs typeface="Times New Roman" panose="02020603050405020304" pitchFamily="18" charset="0"/>
              </a:rPr>
              <a:t>Quality</a:t>
            </a:r>
            <a:endParaRPr lang="en-US"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95510" y="2193710"/>
            <a:ext cx="4381500" cy="3168385"/>
          </a:xfrm>
          <a:prstGeom prst="rect">
            <a:avLst/>
          </a:prstGeom>
          <a:ln>
            <a:noFill/>
          </a:ln>
          <a:effectLst>
            <a:softEdge rad="112500"/>
          </a:effectLst>
        </p:spPr>
      </p:pic>
    </p:spTree>
    <p:extLst>
      <p:ext uri="{BB962C8B-B14F-4D97-AF65-F5344CB8AC3E}">
        <p14:creationId xmlns:p14="http://schemas.microsoft.com/office/powerpoint/2010/main" val="197601394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Advantages of logistic </a:t>
            </a:r>
          </a:p>
        </p:txBody>
      </p:sp>
      <p:sp>
        <p:nvSpPr>
          <p:cNvPr id="4" name="Content Placeholder 3"/>
          <p:cNvSpPr>
            <a:spLocks noGrp="1"/>
          </p:cNvSpPr>
          <p:nvPr>
            <p:ph type="body" idx="1"/>
          </p:nvPr>
        </p:nvSpPr>
        <p:spPr/>
        <p:txBody>
          <a:bodyPr>
            <a:normAutofit/>
          </a:bodyPr>
          <a:lstStyle/>
          <a:p>
            <a:pPr marL="628650" indent="-514350">
              <a:buFont typeface="+mj-lt"/>
              <a:buAutoNum type="arabicPeriod"/>
            </a:pPr>
            <a:r>
              <a:rPr lang="en-US" dirty="0">
                <a:latin typeface="Times New Roman" panose="02020603050405020304" pitchFamily="18" charset="0"/>
                <a:cs typeface="Times New Roman" panose="02020603050405020304" pitchFamily="18" charset="0"/>
              </a:rPr>
              <a:t>A better use of the distribution network</a:t>
            </a:r>
          </a:p>
          <a:p>
            <a:pPr marL="628650" indent="-514350">
              <a:buFont typeface="+mj-lt"/>
              <a:buAutoNum type="arabicPeriod"/>
            </a:pPr>
            <a:r>
              <a:rPr lang="en-US" dirty="0">
                <a:latin typeface="Times New Roman" panose="02020603050405020304" pitchFamily="18" charset="0"/>
                <a:cs typeface="Times New Roman" panose="02020603050405020304" pitchFamily="18" charset="0"/>
              </a:rPr>
              <a:t>Costs reduction</a:t>
            </a:r>
          </a:p>
          <a:p>
            <a:pPr marL="628650" indent="-514350">
              <a:buFont typeface="+mj-lt"/>
              <a:buAutoNum type="arabicPeriod"/>
            </a:pPr>
            <a:r>
              <a:rPr lang="en-US" dirty="0">
                <a:latin typeface="Times New Roman" panose="02020603050405020304" pitchFamily="18" charset="0"/>
                <a:cs typeface="Times New Roman" panose="02020603050405020304" pitchFamily="18" charset="0"/>
              </a:rPr>
              <a:t>Transportation and express delivery</a:t>
            </a:r>
          </a:p>
          <a:p>
            <a:pPr marL="628650" indent="-514350">
              <a:buFont typeface="+mj-lt"/>
              <a:buAutoNum type="arabicPeriod"/>
            </a:pPr>
            <a:r>
              <a:rPr lang="en-US" dirty="0">
                <a:latin typeface="Times New Roman" panose="02020603050405020304" pitchFamily="18" charset="0"/>
                <a:cs typeface="Times New Roman" panose="02020603050405020304" pitchFamily="18" charset="0"/>
              </a:rPr>
              <a:t>Information technology</a:t>
            </a:r>
          </a:p>
        </p:txBody>
      </p:sp>
    </p:spTree>
    <p:extLst>
      <p:ext uri="{BB962C8B-B14F-4D97-AF65-F5344CB8AC3E}">
        <p14:creationId xmlns:p14="http://schemas.microsoft.com/office/powerpoint/2010/main" val="20641628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B12C2-901A-464F-9388-253B760B4223}"/>
              </a:ext>
            </a:extLst>
          </p:cNvPr>
          <p:cNvSpPr>
            <a:spLocks noGrp="1"/>
          </p:cNvSpPr>
          <p:nvPr>
            <p:ph type="title"/>
          </p:nvPr>
        </p:nvSpPr>
        <p:spPr/>
        <p:txBody>
          <a:bodyPr>
            <a:noAutofit/>
          </a:bodyPr>
          <a:lstStyle/>
          <a:p>
            <a:r>
              <a:rPr lang="en-IN" sz="4000" b="1" dirty="0">
                <a:latin typeface="Times New Roman" panose="02020603050405020304" pitchFamily="18" charset="0"/>
                <a:cs typeface="Times New Roman" panose="02020603050405020304" pitchFamily="18" charset="0"/>
              </a:rPr>
              <a:t>Disadvantages of the logistics</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751C423-5F4F-41FB-A599-07D067AE00C2}"/>
              </a:ext>
            </a:extLst>
          </p:cNvPr>
          <p:cNvSpPr>
            <a:spLocks noGrp="1"/>
          </p:cNvSpPr>
          <p:nvPr>
            <p:ph type="body" idx="1"/>
          </p:nvPr>
        </p:nvSpPr>
        <p:spPr/>
        <p:txBody>
          <a:bodyPr>
            <a:normAutofit/>
          </a:bodyPr>
          <a:lstStyle/>
          <a:p>
            <a:pPr marL="628650" indent="-514350">
              <a:buFont typeface="+mj-lt"/>
              <a:buAutoNum type="arabicPeriod"/>
            </a:pPr>
            <a:r>
              <a:rPr lang="en-US" dirty="0">
                <a:latin typeface="Times New Roman" panose="02020603050405020304" pitchFamily="18" charset="0"/>
                <a:cs typeface="Times New Roman" panose="02020603050405020304" pitchFamily="18" charset="0"/>
              </a:rPr>
              <a:t>Coordination</a:t>
            </a:r>
          </a:p>
          <a:p>
            <a:pPr marL="628650" indent="-514350">
              <a:buFont typeface="+mj-lt"/>
              <a:buAutoNum type="arabicPeriod"/>
            </a:pPr>
            <a:r>
              <a:rPr lang="en-US" dirty="0">
                <a:latin typeface="Times New Roman" panose="02020603050405020304" pitchFamily="18" charset="0"/>
                <a:cs typeface="Times New Roman" panose="02020603050405020304" pitchFamily="18" charset="0"/>
              </a:rPr>
              <a:t>Multinationals and large companies</a:t>
            </a:r>
          </a:p>
          <a:p>
            <a:pPr marL="628650" indent="-514350">
              <a:buFont typeface="+mj-lt"/>
              <a:buAutoNum type="arabicPeriod"/>
            </a:pPr>
            <a:r>
              <a:rPr lang="en-US" dirty="0">
                <a:latin typeface="Times New Roman" panose="02020603050405020304" pitchFamily="18" charset="0"/>
                <a:cs typeface="Times New Roman" panose="02020603050405020304" pitchFamily="18" charset="0"/>
              </a:rPr>
              <a:t>Cost of transport</a:t>
            </a:r>
          </a:p>
          <a:p>
            <a:pPr marL="628650" indent="-514350">
              <a:buFont typeface="+mj-lt"/>
              <a:buAutoNum type="arabicPeriod"/>
            </a:pPr>
            <a:r>
              <a:rPr lang="en-US" dirty="0">
                <a:latin typeface="Times New Roman" panose="02020603050405020304" pitchFamily="18" charset="0"/>
                <a:cs typeface="Times New Roman" panose="02020603050405020304" pitchFamily="18" charset="0"/>
              </a:rPr>
              <a:t>Legality</a:t>
            </a:r>
          </a:p>
        </p:txBody>
      </p:sp>
    </p:spTree>
    <p:extLst>
      <p:ext uri="{BB962C8B-B14F-4D97-AF65-F5344CB8AC3E}">
        <p14:creationId xmlns:p14="http://schemas.microsoft.com/office/powerpoint/2010/main" val="80056132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a:lstStyle/>
          <a:p>
            <a:pPr>
              <a:defRPr/>
            </a:pPr>
            <a:r>
              <a:rPr lang="en-GB" sz="4000" b="1" dirty="0" smtClean="0">
                <a:solidFill>
                  <a:schemeClr val="tx1"/>
                </a:solidFill>
                <a:latin typeface="Times New Roman" panose="02020603050405020304" pitchFamily="18" charset="0"/>
                <a:cs typeface="Times New Roman" panose="02020603050405020304" pitchFamily="18" charset="0"/>
              </a:rPr>
              <a:t>MANAGEMENT INFORMATION SYSTEM</a:t>
            </a:r>
            <a:endParaRPr lang="en-GB" sz="4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2464430"/>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a:lstStyle/>
          <a:p>
            <a:pPr>
              <a:defRPr/>
            </a:pPr>
            <a:r>
              <a:rPr lang="en-GB" b="1" dirty="0" smtClean="0">
                <a:solidFill>
                  <a:schemeClr val="tx1"/>
                </a:solidFill>
                <a:latin typeface="Times New Roman" panose="02020603050405020304" pitchFamily="18" charset="0"/>
                <a:cs typeface="Times New Roman" panose="02020603050405020304" pitchFamily="18" charset="0"/>
              </a:rPr>
              <a:t> Definition</a:t>
            </a:r>
            <a:endParaRPr lang="en-GB" b="1" dirty="0">
              <a:solidFill>
                <a:schemeClr val="tx1"/>
              </a:solidFill>
              <a:latin typeface="Times New Roman" panose="02020603050405020304" pitchFamily="18" charset="0"/>
              <a:cs typeface="Times New Roman" panose="02020603050405020304" pitchFamily="18" charset="0"/>
            </a:endParaRPr>
          </a:p>
        </p:txBody>
      </p:sp>
      <p:sp>
        <p:nvSpPr>
          <p:cNvPr id="10243" name="Content Placeholder 2"/>
          <p:cNvSpPr>
            <a:spLocks noGrp="1"/>
          </p:cNvSpPr>
          <p:nvPr>
            <p:ph type="body" idx="1"/>
          </p:nvPr>
        </p:nvSpPr>
        <p:spPr/>
        <p:txBody>
          <a:bodyPr/>
          <a:lstStyle/>
          <a:p>
            <a:pPr eaLnBrk="1" hangingPunct="1">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 Management Information System (MIS) is a system that collects, processes, and analyzes data to support business decision-making at all levels of management. </a:t>
            </a:r>
            <a:endParaRPr lang="en-US" dirty="0" smtClean="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helps organizations operate more efficiently, track performance, and make data-driven choices. </a:t>
            </a:r>
            <a:endParaRPr lang="en-US" dirty="0" smtClean="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Essentially</a:t>
            </a:r>
            <a:r>
              <a:rPr lang="en-US" dirty="0">
                <a:latin typeface="Times New Roman" panose="02020603050405020304" pitchFamily="18" charset="0"/>
                <a:cs typeface="Times New Roman" panose="02020603050405020304" pitchFamily="18" charset="0"/>
              </a:rPr>
              <a:t>, MIS provides tools to manage information and knowledge within an organization, enabling better planning, control, and coordination. </a:t>
            </a:r>
            <a:endParaRPr lang="en-GB" altLang="en-US" dirty="0" smtClean="0">
              <a:latin typeface="Times New Roman" panose="02020603050405020304" pitchFamily="18" charset="0"/>
              <a:cs typeface="Times New Roman" panose="02020603050405020304" pitchFamily="18" charset="0"/>
            </a:endParaRPr>
          </a:p>
        </p:txBody>
      </p:sp>
      <p:sp>
        <p:nvSpPr>
          <p:cNvPr id="10244" name="Footer Placeholder 3"/>
          <p:cNvSpPr>
            <a:spLocks noGrp="1"/>
          </p:cNvSpPr>
          <p:nvPr>
            <p:ph type="ftr" sz="quarter" idx="4294967295"/>
          </p:nvPr>
        </p:nvSpPr>
        <p:spPr bwMode="auto">
          <a:xfrm>
            <a:off x="9448800" y="63563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wrap="square" lIns="91440" tIns="45720" rIns="91440" bIns="45720" numCol="1" anchor="ctr" anchorCtr="0" compatLnSpc="1">
            <a:prstTxWarp prst="textNoShape">
              <a:avLst/>
            </a:prstTxWarp>
            <a:no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0"/>
              </a:spcBef>
              <a:buClrTx/>
              <a:buSzTx/>
              <a:buFontTx/>
              <a:buNone/>
            </a:pPr>
            <a:r>
              <a:rPr lang="en-US" altLang="en-US" sz="1200">
                <a:solidFill>
                  <a:schemeClr val="tx2"/>
                </a:solidFill>
                <a:latin typeface="Times New Roman" panose="02020603050405020304" pitchFamily="18" charset="0"/>
                <a:cs typeface="Times New Roman" panose="02020603050405020304" pitchFamily="18" charset="0"/>
              </a:rPr>
              <a:t>BY Lecturer SURAJ PANDEY CCT COLLEGE</a:t>
            </a:r>
            <a:endParaRPr lang="en-GB" altLang="en-US" sz="1200">
              <a:solidFill>
                <a:schemeClr val="tx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2534295"/>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Content Placeholder 4"/>
          <p:cNvSpPr>
            <a:spLocks noGrp="1"/>
          </p:cNvSpPr>
          <p:nvPr>
            <p:ph type="body" idx="1"/>
          </p:nvPr>
        </p:nvSpPr>
        <p:spPr/>
        <p:txBody>
          <a:bodyPr/>
          <a:lstStyle/>
          <a:p>
            <a:pPr eaLnBrk="1" hangingPunct="1">
              <a:buFont typeface="Wingdings" panose="05000000000000000000" pitchFamily="2" charset="2"/>
              <a:buChar char="Ø"/>
            </a:pPr>
            <a:r>
              <a:rPr lang="en-GB" altLang="en-US" sz="2000" b="1" i="1" dirty="0" smtClean="0">
                <a:latin typeface="Times New Roman" panose="02020603050405020304" pitchFamily="18" charset="0"/>
                <a:cs typeface="Times New Roman" panose="02020603050405020304" pitchFamily="18" charset="0"/>
              </a:rPr>
              <a:t>Management :</a:t>
            </a:r>
            <a:r>
              <a:rPr lang="en-GB" altLang="en-US" sz="2000" dirty="0" smtClean="0">
                <a:latin typeface="Times New Roman" panose="02020603050405020304" pitchFamily="18" charset="0"/>
                <a:cs typeface="Times New Roman" panose="02020603050405020304" pitchFamily="18" charset="0"/>
              </a:rPr>
              <a:t> Management is art of getting things done through and with the people in formally organized groups. </a:t>
            </a:r>
          </a:p>
          <a:p>
            <a:pPr eaLnBrk="1" hangingPunct="1">
              <a:buFont typeface="Wingdings" panose="05000000000000000000" pitchFamily="2" charset="2"/>
              <a:buChar char="Ø"/>
            </a:pPr>
            <a:r>
              <a:rPr lang="en-GB" altLang="en-US" sz="2000" dirty="0" smtClean="0">
                <a:latin typeface="Times New Roman" panose="02020603050405020304" pitchFamily="18" charset="0"/>
                <a:cs typeface="Times New Roman" panose="02020603050405020304" pitchFamily="18" charset="0"/>
              </a:rPr>
              <a:t>The basic functions performed by a manager in an organization are: Planning, controlling, staffing, organizing, and directing. </a:t>
            </a:r>
          </a:p>
          <a:p>
            <a:pPr eaLnBrk="1" hangingPunct="1">
              <a:buFont typeface="Wingdings" panose="05000000000000000000" pitchFamily="2" charset="2"/>
              <a:buChar char="Ø"/>
            </a:pPr>
            <a:r>
              <a:rPr lang="en-GB" altLang="en-US" sz="2000" b="1" i="1" dirty="0" smtClean="0">
                <a:latin typeface="Times New Roman" panose="02020603050405020304" pitchFamily="18" charset="0"/>
                <a:cs typeface="Times New Roman" panose="02020603050405020304" pitchFamily="18" charset="0"/>
              </a:rPr>
              <a:t>Information : </a:t>
            </a:r>
            <a:r>
              <a:rPr lang="en-GB" altLang="en-US" sz="2000" dirty="0" smtClean="0">
                <a:latin typeface="Times New Roman" panose="02020603050405020304" pitchFamily="18" charset="0"/>
                <a:cs typeface="Times New Roman" panose="02020603050405020304" pitchFamily="18" charset="0"/>
              </a:rPr>
              <a:t>Information is considered as valuable component of an organization. </a:t>
            </a:r>
          </a:p>
          <a:p>
            <a:pPr eaLnBrk="1" hangingPunct="1">
              <a:buFont typeface="Wingdings" panose="05000000000000000000" pitchFamily="2" charset="2"/>
              <a:buChar char="Ø"/>
            </a:pPr>
            <a:r>
              <a:rPr lang="en-GB" altLang="en-US" sz="2000" dirty="0" smtClean="0">
                <a:latin typeface="Times New Roman" panose="02020603050405020304" pitchFamily="18" charset="0"/>
                <a:cs typeface="Times New Roman" panose="02020603050405020304" pitchFamily="18" charset="0"/>
              </a:rPr>
              <a:t>Information is data that is processed and is presented in a form which assists decision maker.</a:t>
            </a:r>
          </a:p>
          <a:p>
            <a:pPr eaLnBrk="1" hangingPunct="1">
              <a:buFont typeface="Wingdings" panose="05000000000000000000" pitchFamily="2" charset="2"/>
              <a:buChar char="Ø"/>
            </a:pPr>
            <a:r>
              <a:rPr lang="en-GB" altLang="en-US" sz="2000" b="1" i="1" dirty="0" smtClean="0">
                <a:latin typeface="Times New Roman" panose="02020603050405020304" pitchFamily="18" charset="0"/>
                <a:cs typeface="Times New Roman" panose="02020603050405020304" pitchFamily="18" charset="0"/>
              </a:rPr>
              <a:t>System : </a:t>
            </a:r>
            <a:r>
              <a:rPr lang="en-GB" altLang="en-US" sz="2000" dirty="0" smtClean="0">
                <a:latin typeface="Times New Roman" panose="02020603050405020304" pitchFamily="18" charset="0"/>
                <a:cs typeface="Times New Roman" panose="02020603050405020304" pitchFamily="18" charset="0"/>
              </a:rPr>
              <a:t>A system is defined as a set of elements which are joined together to achieve a common objective. </a:t>
            </a:r>
          </a:p>
          <a:p>
            <a:pPr eaLnBrk="1" hangingPunct="1">
              <a:buFont typeface="Wingdings" panose="05000000000000000000" pitchFamily="2" charset="2"/>
              <a:buChar char="Ø"/>
            </a:pPr>
            <a:r>
              <a:rPr lang="en-GB" altLang="en-US" sz="2000" dirty="0" smtClean="0">
                <a:latin typeface="Times New Roman" panose="02020603050405020304" pitchFamily="18" charset="0"/>
                <a:cs typeface="Times New Roman" panose="02020603050405020304" pitchFamily="18" charset="0"/>
              </a:rPr>
              <a:t>The elements are interrelated and interdependent. </a:t>
            </a:r>
          </a:p>
          <a:p>
            <a:pPr eaLnBrk="1" hangingPunct="1">
              <a:buFont typeface="Wingdings" panose="05000000000000000000" pitchFamily="2" charset="2"/>
              <a:buChar char="Ø"/>
            </a:pPr>
            <a:r>
              <a:rPr lang="en-GB" altLang="en-US" sz="2000" dirty="0" smtClean="0">
                <a:latin typeface="Times New Roman" panose="02020603050405020304" pitchFamily="18" charset="0"/>
                <a:cs typeface="Times New Roman" panose="02020603050405020304" pitchFamily="18" charset="0"/>
              </a:rPr>
              <a:t>Thus every system is said to be composed of subsystems. </a:t>
            </a:r>
          </a:p>
          <a:p>
            <a:pPr eaLnBrk="1" hangingPunct="1">
              <a:buFont typeface="Wingdings" panose="05000000000000000000" pitchFamily="2" charset="2"/>
              <a:buChar char="Ø"/>
            </a:pPr>
            <a:r>
              <a:rPr lang="en-GB" altLang="en-US" sz="2000" dirty="0" smtClean="0">
                <a:latin typeface="Times New Roman" panose="02020603050405020304" pitchFamily="18" charset="0"/>
                <a:cs typeface="Times New Roman" panose="02020603050405020304" pitchFamily="18" charset="0"/>
              </a:rPr>
              <a:t>A system has one or multiple inputs, these inputs are processed through a transformation process to convert these input( s) to output.  </a:t>
            </a:r>
          </a:p>
        </p:txBody>
      </p:sp>
      <p:sp>
        <p:nvSpPr>
          <p:cNvPr id="11267" name="Footer Placeholder 5"/>
          <p:cNvSpPr>
            <a:spLocks noGrp="1"/>
          </p:cNvSpPr>
          <p:nvPr>
            <p:ph type="ftr" sz="quarter" idx="4294967295"/>
          </p:nvPr>
        </p:nvSpPr>
        <p:spPr bwMode="auto">
          <a:xfrm>
            <a:off x="9448800" y="63563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wrap="square" lIns="91440" tIns="45720" rIns="91440" bIns="45720" numCol="1" anchor="ctr" anchorCtr="0" compatLnSpc="1">
            <a:prstTxWarp prst="textNoShape">
              <a:avLst/>
            </a:prstTxWarp>
            <a:no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0"/>
              </a:spcBef>
              <a:buClrTx/>
              <a:buSzTx/>
              <a:buFontTx/>
              <a:buNone/>
            </a:pPr>
            <a:r>
              <a:rPr lang="en-US" altLang="en-US" sz="1200">
                <a:solidFill>
                  <a:schemeClr val="tx2"/>
                </a:solidFill>
                <a:latin typeface="Times New Roman" panose="02020603050405020304" pitchFamily="18" charset="0"/>
                <a:cs typeface="Times New Roman" panose="02020603050405020304" pitchFamily="18" charset="0"/>
              </a:rPr>
              <a:t>BY Lecturer SURAJ PANDEY CCT COLLEGE</a:t>
            </a:r>
            <a:endParaRPr lang="en-GB" altLang="en-US" sz="1200">
              <a:solidFill>
                <a:schemeClr val="tx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7346047"/>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3" name="Picture 2"/>
          <p:cNvPicPr>
            <a:picLocks noChangeAspect="1" noChangeArrowheads="1"/>
          </p:cNvPicPr>
          <p:nvPr/>
        </p:nvPicPr>
        <p:blipFill>
          <a:blip r:embed="rId2">
            <a:extLst>
              <a:ext uri="{28A0092B-C50C-407E-A947-70E740481C1C}">
                <a14:useLocalDpi xmlns:a14="http://schemas.microsoft.com/office/drawing/2010/main" val="0"/>
              </a:ext>
            </a:extLst>
          </a:blip>
          <a:srcRect l="23364" t="48299" r="29285" b="42232"/>
          <a:stretch>
            <a:fillRect/>
          </a:stretch>
        </p:blipFill>
        <p:spPr bwMode="auto">
          <a:xfrm>
            <a:off x="2524126" y="2714624"/>
            <a:ext cx="7286625" cy="2021967"/>
          </a:xfrm>
          <a:prstGeom prst="rect">
            <a:avLst/>
          </a:prstGeom>
          <a:noFill/>
          <a:ln w="9525">
            <a:solidFill>
              <a:srgbClr val="000000"/>
            </a:solidFill>
            <a:miter lim="800000"/>
            <a:headEnd/>
            <a:tailEnd/>
          </a:ln>
          <a:extLst/>
        </p:spPr>
      </p:pic>
    </p:spTree>
    <p:extLst>
      <p:ext uri="{BB962C8B-B14F-4D97-AF65-F5344CB8AC3E}">
        <p14:creationId xmlns:p14="http://schemas.microsoft.com/office/powerpoint/2010/main" val="4292090620"/>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a:lstStyle/>
          <a:p>
            <a:pPr>
              <a:defRPr/>
            </a:pPr>
            <a:r>
              <a:rPr lang="en-GB" b="1" dirty="0" smtClean="0">
                <a:solidFill>
                  <a:schemeClr val="tx1"/>
                </a:solidFill>
                <a:latin typeface="Times New Roman" panose="02020603050405020304" pitchFamily="18" charset="0"/>
                <a:cs typeface="Times New Roman" panose="02020603050405020304" pitchFamily="18" charset="0"/>
              </a:rPr>
              <a:t>Objectives of MIS</a:t>
            </a:r>
            <a:endParaRPr lang="en-GB" b="1" dirty="0">
              <a:solidFill>
                <a:schemeClr val="tx1"/>
              </a:solidFill>
              <a:latin typeface="Times New Roman" panose="02020603050405020304" pitchFamily="18" charset="0"/>
              <a:cs typeface="Times New Roman" panose="02020603050405020304" pitchFamily="18" charset="0"/>
            </a:endParaRPr>
          </a:p>
        </p:txBody>
      </p:sp>
      <p:sp>
        <p:nvSpPr>
          <p:cNvPr id="13315" name="Content Placeholder 2"/>
          <p:cNvSpPr>
            <a:spLocks noGrp="1"/>
          </p:cNvSpPr>
          <p:nvPr>
            <p:ph type="body" idx="1"/>
          </p:nvPr>
        </p:nvSpPr>
        <p:spPr>
          <a:noFill/>
          <a:ln>
            <a:noFill/>
          </a:ln>
        </p:spPr>
        <p:txBody>
          <a:bodyPr/>
          <a:lstStyle/>
          <a:p>
            <a:pPr fontAlgn="ct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main objectives of a Management Information System (MIS) are to support effective decision-making by providing timely, accurate, and relevant information to managers at all levels</a:t>
            </a:r>
            <a:r>
              <a:rPr lang="en-US" dirty="0" smtClean="0">
                <a:latin typeface="Times New Roman" panose="02020603050405020304" pitchFamily="18" charset="0"/>
                <a:cs typeface="Times New Roman" panose="02020603050405020304" pitchFamily="18" charset="0"/>
              </a:rPr>
              <a:t>.</a:t>
            </a:r>
          </a:p>
          <a:p>
            <a:pPr fontAlgn="ct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includes enabling efficient operations, facilitating business process support, and contributing to strategic advantages. </a:t>
            </a:r>
            <a:br>
              <a:rPr lang="en-US" dirty="0">
                <a:latin typeface="Times New Roman" panose="02020603050405020304" pitchFamily="18" charset="0"/>
                <a:cs typeface="Times New Roman" panose="02020603050405020304" pitchFamily="18" charset="0"/>
              </a:rPr>
            </a:br>
            <a:endParaRPr lang="en-GB" altLang="en-US" sz="2400" dirty="0" smtClean="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9965154"/>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Key Objectives of </a:t>
            </a:r>
            <a:r>
              <a:rPr lang="en-US" b="1" dirty="0" smtClean="0">
                <a:latin typeface="Times New Roman" panose="02020603050405020304" pitchFamily="18" charset="0"/>
                <a:cs typeface="Times New Roman" panose="02020603050405020304" pitchFamily="18" charset="0"/>
              </a:rPr>
              <a:t>MIS</a:t>
            </a:r>
            <a:endParaRPr lang="en-US" b="1"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114300" indent="0">
              <a:buNone/>
            </a:pPr>
            <a:r>
              <a:rPr lang="en-US" b="1" dirty="0" smtClean="0">
                <a:latin typeface="Times New Roman" panose="02020603050405020304" pitchFamily="18" charset="0"/>
                <a:cs typeface="Times New Roman" panose="02020603050405020304" pitchFamily="18" charset="0"/>
              </a:rPr>
              <a:t>Decision </a:t>
            </a:r>
            <a:r>
              <a:rPr lang="en-US" b="1" dirty="0">
                <a:latin typeface="Times New Roman" panose="02020603050405020304" pitchFamily="18" charset="0"/>
                <a:cs typeface="Times New Roman" panose="02020603050405020304" pitchFamily="18" charset="0"/>
              </a:rPr>
              <a:t>Support:</a:t>
            </a:r>
            <a:endParaRPr lang="en-US" dirty="0">
              <a:latin typeface="Times New Roman" panose="02020603050405020304" pitchFamily="18" charset="0"/>
              <a:cs typeface="Times New Roman" panose="02020603050405020304" pitchFamily="18" charset="0"/>
            </a:endParaRPr>
          </a:p>
          <a:p>
            <a:pPr fontAlgn="ct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MIS provides information that helps managers make informed decisions about various aspects of the business, including planning, operations, and control. </a:t>
            </a:r>
          </a:p>
          <a:p>
            <a:pPr marL="114300" indent="0">
              <a:buNone/>
            </a:pPr>
            <a:r>
              <a:rPr lang="en-US" b="1" dirty="0">
                <a:latin typeface="Times New Roman" panose="02020603050405020304" pitchFamily="18" charset="0"/>
                <a:cs typeface="Times New Roman" panose="02020603050405020304" pitchFamily="18" charset="0"/>
              </a:rPr>
              <a:t>Business Process Support:</a:t>
            </a:r>
            <a:endParaRPr lang="en-US" dirty="0">
              <a:latin typeface="Times New Roman" panose="02020603050405020304" pitchFamily="18" charset="0"/>
              <a:cs typeface="Times New Roman" panose="02020603050405020304" pitchFamily="18" charset="0"/>
            </a:endParaRPr>
          </a:p>
          <a:p>
            <a:pPr fontAlgn="ct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MIS is designed to support and streamline business processes, making them more efficient and effective. </a:t>
            </a:r>
          </a:p>
          <a:p>
            <a:pPr marL="114300" indent="0">
              <a:buNone/>
            </a:pPr>
            <a:r>
              <a:rPr lang="en-US" b="1" dirty="0">
                <a:latin typeface="Times New Roman" panose="02020603050405020304" pitchFamily="18" charset="0"/>
                <a:cs typeface="Times New Roman" panose="02020603050405020304" pitchFamily="18" charset="0"/>
              </a:rPr>
              <a:t>Competitive Advantage:</a:t>
            </a:r>
            <a:endParaRPr lang="en-US" dirty="0">
              <a:latin typeface="Times New Roman" panose="02020603050405020304" pitchFamily="18" charset="0"/>
              <a:cs typeface="Times New Roman" panose="02020603050405020304" pitchFamily="18" charset="0"/>
            </a:endParaRPr>
          </a:p>
          <a:p>
            <a:pPr fontAlgn="ct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By providing timely and accurate information, MIS can help organizations gain a competitive edge in the market. </a:t>
            </a:r>
          </a:p>
        </p:txBody>
      </p:sp>
    </p:spTree>
    <p:extLst>
      <p:ext uri="{BB962C8B-B14F-4D97-AF65-F5344CB8AC3E}">
        <p14:creationId xmlns:p14="http://schemas.microsoft.com/office/powerpoint/2010/main" val="332334504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pPr marL="114300" indent="0">
              <a:buNone/>
            </a:pPr>
            <a:r>
              <a:rPr lang="en-US" b="1" dirty="0">
                <a:latin typeface="Times New Roman" panose="02020603050405020304" pitchFamily="18" charset="0"/>
                <a:cs typeface="Times New Roman" panose="02020603050405020304" pitchFamily="18" charset="0"/>
              </a:rPr>
              <a:t>Data Collection and </a:t>
            </a:r>
            <a:r>
              <a:rPr lang="en-US" b="1" dirty="0" smtClean="0">
                <a:latin typeface="Times New Roman" panose="02020603050405020304" pitchFamily="18" charset="0"/>
                <a:cs typeface="Times New Roman" panose="02020603050405020304" pitchFamily="18" charset="0"/>
              </a:rPr>
              <a:t>Processing</a:t>
            </a:r>
            <a:endParaRPr lang="en-US" dirty="0">
              <a:latin typeface="Times New Roman" panose="02020603050405020304" pitchFamily="18" charset="0"/>
              <a:cs typeface="Times New Roman" panose="02020603050405020304" pitchFamily="18" charset="0"/>
            </a:endParaRPr>
          </a:p>
          <a:p>
            <a:pPr fontAlgn="ct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MIS collects data from various internal and external sources and processes it into meaningful information for analysis and decision-making. </a:t>
            </a:r>
          </a:p>
          <a:p>
            <a:pPr marL="114300" indent="0">
              <a:buNone/>
            </a:pPr>
            <a:r>
              <a:rPr lang="en-US" b="1" dirty="0">
                <a:latin typeface="Times New Roman" panose="02020603050405020304" pitchFamily="18" charset="0"/>
                <a:cs typeface="Times New Roman" panose="02020603050405020304" pitchFamily="18" charset="0"/>
              </a:rPr>
              <a:t>Information Storage and </a:t>
            </a:r>
            <a:r>
              <a:rPr lang="en-US" b="1" dirty="0" smtClean="0">
                <a:latin typeface="Times New Roman" panose="02020603050405020304" pitchFamily="18" charset="0"/>
                <a:cs typeface="Times New Roman" panose="02020603050405020304" pitchFamily="18" charset="0"/>
              </a:rPr>
              <a:t>Retrieval</a:t>
            </a:r>
            <a:endParaRPr lang="en-US" dirty="0">
              <a:latin typeface="Times New Roman" panose="02020603050405020304" pitchFamily="18" charset="0"/>
              <a:cs typeface="Times New Roman" panose="02020603050405020304" pitchFamily="18" charset="0"/>
            </a:endParaRPr>
          </a:p>
          <a:p>
            <a:pPr fontAlgn="ct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MIS provides a secure and accessible system for storing and retrieving information, allowing users to access the data they need when they need it.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15279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pPr marL="114300" indent="0">
              <a:buNone/>
            </a:pPr>
            <a:r>
              <a:rPr lang="en-US" sz="2400" b="1" dirty="0">
                <a:latin typeface="Times New Roman" panose="02020603050405020304" pitchFamily="18" charset="0"/>
                <a:cs typeface="Times New Roman" panose="02020603050405020304" pitchFamily="18" charset="0"/>
              </a:rPr>
              <a:t>Communication and Collaboration:</a:t>
            </a:r>
            <a:endParaRPr lang="en-US" sz="2400" dirty="0">
              <a:latin typeface="Times New Roman" panose="02020603050405020304" pitchFamily="18" charset="0"/>
              <a:cs typeface="Times New Roman" panose="02020603050405020304" pitchFamily="18" charset="0"/>
            </a:endParaRPr>
          </a:p>
          <a:p>
            <a:pPr fontAlgn="ct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MIS can facilitate communication and collaboration among employees and departments by providing a centralized source of information. </a:t>
            </a:r>
          </a:p>
          <a:p>
            <a:pPr marL="114300" indent="0">
              <a:buNone/>
            </a:pPr>
            <a:r>
              <a:rPr lang="en-US" sz="2400" b="1" dirty="0">
                <a:latin typeface="Times New Roman" panose="02020603050405020304" pitchFamily="18" charset="0"/>
                <a:cs typeface="Times New Roman" panose="02020603050405020304" pitchFamily="18" charset="0"/>
              </a:rPr>
              <a:t>Risk Management:</a:t>
            </a:r>
            <a:endParaRPr lang="en-US" sz="2400" dirty="0">
              <a:latin typeface="Times New Roman" panose="02020603050405020304" pitchFamily="18" charset="0"/>
              <a:cs typeface="Times New Roman" panose="02020603050405020304" pitchFamily="18" charset="0"/>
            </a:endParaRPr>
          </a:p>
          <a:p>
            <a:pPr fontAlgn="ct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By providing data and insights into business operations, MIS can help identify and manage risks effectively. </a:t>
            </a:r>
          </a:p>
          <a:p>
            <a:pPr marL="114300" indent="0">
              <a:buNone/>
            </a:pPr>
            <a:r>
              <a:rPr lang="en-US" sz="2400" b="1" dirty="0">
                <a:latin typeface="Times New Roman" panose="02020603050405020304" pitchFamily="18" charset="0"/>
                <a:cs typeface="Times New Roman" panose="02020603050405020304" pitchFamily="18" charset="0"/>
              </a:rPr>
              <a:t>Improved Operational Efficiency:</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MIS can help improve operational efficiency by providing tools for monitoring, tracking, and controlling key performance indicators (KPIs). </a:t>
            </a:r>
          </a:p>
          <a:p>
            <a:pP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001136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Components of MIS</a:t>
            </a:r>
            <a:endParaRPr lang="en-US" b="1"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114300" indent="0">
              <a:buNone/>
            </a:pPr>
            <a:r>
              <a:rPr lang="en-US" sz="2000" b="1" dirty="0" smtClean="0">
                <a:latin typeface="Times New Roman" panose="02020603050405020304" pitchFamily="18" charset="0"/>
                <a:cs typeface="Times New Roman" panose="02020603050405020304" pitchFamily="18" charset="0"/>
              </a:rPr>
              <a:t>People </a:t>
            </a:r>
            <a:endParaRPr lang="en-US" sz="2000" b="1" dirty="0">
              <a:latin typeface="Times New Roman" panose="02020603050405020304" pitchFamily="18" charset="0"/>
              <a:cs typeface="Times New Roman" panose="02020603050405020304" pitchFamily="18" charset="0"/>
            </a:endParaRPr>
          </a:p>
          <a:p>
            <a:pPr marL="114300" indent="0">
              <a:buNone/>
            </a:pPr>
            <a:r>
              <a:rPr lang="en-US" sz="2000" b="1" i="1" dirty="0">
                <a:latin typeface="Times New Roman" panose="02020603050405020304" pitchFamily="18" charset="0"/>
                <a:cs typeface="Times New Roman" panose="02020603050405020304" pitchFamily="18" charset="0"/>
              </a:rPr>
              <a:t>Users: </a:t>
            </a:r>
            <a:r>
              <a:rPr lang="en-US" sz="2000" dirty="0">
                <a:latin typeface="Times New Roman" panose="02020603050405020304" pitchFamily="18" charset="0"/>
                <a:cs typeface="Times New Roman" panose="02020603050405020304" pitchFamily="18" charset="0"/>
              </a:rPr>
              <a:t>These are the individuals who interact with the MIS, including managers, employees, and external stakeholders.</a:t>
            </a:r>
          </a:p>
          <a:p>
            <a:pPr marL="114300" indent="0">
              <a:buNone/>
            </a:pPr>
            <a:r>
              <a:rPr lang="en-US" sz="2000" b="1" i="1" dirty="0">
                <a:latin typeface="Times New Roman" panose="02020603050405020304" pitchFamily="18" charset="0"/>
                <a:cs typeface="Times New Roman" panose="02020603050405020304" pitchFamily="18" charset="0"/>
              </a:rPr>
              <a:t>Support Staff:</a:t>
            </a:r>
            <a:r>
              <a:rPr lang="en-US" sz="2000" dirty="0">
                <a:latin typeface="Times New Roman" panose="02020603050405020304" pitchFamily="18" charset="0"/>
                <a:cs typeface="Times New Roman" panose="02020603050405020304" pitchFamily="18" charset="0"/>
              </a:rPr>
              <a:t> IT professionals who maintain and support the system.</a:t>
            </a:r>
          </a:p>
          <a:p>
            <a:pPr marL="114300" indent="0">
              <a:buNone/>
            </a:pPr>
            <a:r>
              <a:rPr lang="en-US" sz="2000" b="1" dirty="0" smtClean="0">
                <a:latin typeface="Times New Roman" panose="02020603050405020304" pitchFamily="18" charset="0"/>
                <a:cs typeface="Times New Roman" panose="02020603050405020304" pitchFamily="18" charset="0"/>
              </a:rPr>
              <a:t>Data</a:t>
            </a:r>
            <a:endParaRPr lang="en-US" sz="2000" b="1" dirty="0">
              <a:latin typeface="Times New Roman" panose="02020603050405020304" pitchFamily="18" charset="0"/>
              <a:cs typeface="Times New Roman" panose="02020603050405020304" pitchFamily="18" charset="0"/>
            </a:endParaRPr>
          </a:p>
          <a:p>
            <a:pPr marL="114300" indent="0">
              <a:buNone/>
            </a:pPr>
            <a:r>
              <a:rPr lang="en-US" sz="2000" b="1" i="1" dirty="0">
                <a:latin typeface="Times New Roman" panose="02020603050405020304" pitchFamily="18" charset="0"/>
                <a:cs typeface="Times New Roman" panose="02020603050405020304" pitchFamily="18" charset="0"/>
              </a:rPr>
              <a:t>Raw Data: </a:t>
            </a:r>
            <a:r>
              <a:rPr lang="en-US" sz="2000" dirty="0">
                <a:latin typeface="Times New Roman" panose="02020603050405020304" pitchFamily="18" charset="0"/>
                <a:cs typeface="Times New Roman" panose="02020603050405020304" pitchFamily="18" charset="0"/>
              </a:rPr>
              <a:t>The fundamental input to the MIS, including internal and external information. </a:t>
            </a:r>
          </a:p>
          <a:p>
            <a:pPr marL="114300" indent="0">
              <a:buNone/>
            </a:pPr>
            <a:r>
              <a:rPr lang="en-US" sz="2000" dirty="0">
                <a:latin typeface="Times New Roman" panose="02020603050405020304" pitchFamily="18" charset="0"/>
                <a:cs typeface="Times New Roman" panose="02020603050405020304" pitchFamily="18" charset="0"/>
              </a:rPr>
              <a:t>Examples: Customer information, sales figures, financial data, inventory records. </a:t>
            </a:r>
          </a:p>
          <a:p>
            <a:pPr marL="114300" indent="0">
              <a:buNone/>
            </a:pPr>
            <a:r>
              <a:rPr lang="en-US" sz="2000" b="1" dirty="0" smtClean="0">
                <a:latin typeface="Times New Roman" panose="02020603050405020304" pitchFamily="18" charset="0"/>
                <a:cs typeface="Times New Roman" panose="02020603050405020304" pitchFamily="18" charset="0"/>
              </a:rPr>
              <a:t>Hardware</a:t>
            </a:r>
            <a:r>
              <a:rPr lang="en-US" sz="2000" dirty="0" smtClean="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a:p>
            <a:pPr marL="114300" indent="0">
              <a:buNone/>
            </a:pPr>
            <a:r>
              <a:rPr lang="en-US" sz="2000" b="1" i="1" dirty="0">
                <a:latin typeface="Times New Roman" panose="02020603050405020304" pitchFamily="18" charset="0"/>
                <a:cs typeface="Times New Roman" panose="02020603050405020304" pitchFamily="18" charset="0"/>
              </a:rPr>
              <a:t>Physical Components:</a:t>
            </a:r>
          </a:p>
          <a:p>
            <a:pPr marL="114300" indent="0">
              <a:buNone/>
            </a:pPr>
            <a:r>
              <a:rPr lang="en-US" sz="2000" dirty="0">
                <a:latin typeface="Times New Roman" panose="02020603050405020304" pitchFamily="18" charset="0"/>
                <a:cs typeface="Times New Roman" panose="02020603050405020304" pitchFamily="18" charset="0"/>
              </a:rPr>
              <a:t>These include computers, servers, networking equipment, and peripherals like printers.</a:t>
            </a:r>
          </a:p>
          <a:p>
            <a:pPr marL="114300" indent="0">
              <a:buNone/>
            </a:pPr>
            <a:r>
              <a:rPr lang="en-US" sz="2000" b="1" i="1" dirty="0">
                <a:latin typeface="Times New Roman" panose="02020603050405020304" pitchFamily="18" charset="0"/>
                <a:cs typeface="Times New Roman" panose="02020603050405020304" pitchFamily="18" charset="0"/>
              </a:rPr>
              <a:t>Purpose:</a:t>
            </a:r>
          </a:p>
          <a:p>
            <a:pPr marL="114300" indent="0">
              <a:buNone/>
            </a:pPr>
            <a:r>
              <a:rPr lang="en-US" sz="2000" dirty="0">
                <a:latin typeface="Times New Roman" panose="02020603050405020304" pitchFamily="18" charset="0"/>
                <a:cs typeface="Times New Roman" panose="02020603050405020304" pitchFamily="18" charset="0"/>
              </a:rPr>
              <a:t>Facilitates input, processing, storage, and output of data and information</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5191426"/>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pPr marL="114300" indent="0">
              <a:buNone/>
            </a:pPr>
            <a:r>
              <a:rPr lang="en-US" sz="1800" b="1" i="1" dirty="0" smtClean="0">
                <a:latin typeface="Times New Roman" panose="02020603050405020304" pitchFamily="18" charset="0"/>
                <a:cs typeface="Times New Roman" panose="02020603050405020304" pitchFamily="18" charset="0"/>
              </a:rPr>
              <a:t>Software</a:t>
            </a:r>
            <a:r>
              <a:rPr lang="en-US" sz="1800" b="1" i="1" dirty="0">
                <a:latin typeface="Times New Roman" panose="02020603050405020304" pitchFamily="18" charset="0"/>
                <a:cs typeface="Times New Roman" panose="02020603050405020304" pitchFamily="18" charset="0"/>
              </a:rPr>
              <a:t>:</a:t>
            </a:r>
          </a:p>
          <a:p>
            <a:pPr marL="114300" indent="0">
              <a:buNone/>
            </a:pPr>
            <a:r>
              <a:rPr lang="en-US" sz="1800" b="1" i="1" dirty="0">
                <a:latin typeface="Times New Roman" panose="02020603050405020304" pitchFamily="18" charset="0"/>
                <a:cs typeface="Times New Roman" panose="02020603050405020304" pitchFamily="18" charset="0"/>
              </a:rPr>
              <a:t>Programs and Applications:</a:t>
            </a:r>
            <a:r>
              <a:rPr lang="en-US" sz="1800" dirty="0">
                <a:latin typeface="Times New Roman" panose="02020603050405020304" pitchFamily="18" charset="0"/>
                <a:cs typeface="Times New Roman" panose="02020603050405020304" pitchFamily="18" charset="0"/>
              </a:rPr>
              <a:t> The software that runs on the hardware, enabling data processing, analysis, and reporting. </a:t>
            </a:r>
          </a:p>
          <a:p>
            <a:pPr marL="114300" indent="0">
              <a:buNone/>
            </a:pPr>
            <a:r>
              <a:rPr lang="en-US" sz="1800" dirty="0">
                <a:latin typeface="Times New Roman" panose="02020603050405020304" pitchFamily="18" charset="0"/>
                <a:cs typeface="Times New Roman" panose="02020603050405020304" pitchFamily="18" charset="0"/>
              </a:rPr>
              <a:t>Examples: Database software, spreadsheet programs, ERP systems, CRM systems. </a:t>
            </a:r>
          </a:p>
          <a:p>
            <a:pPr marL="114300" indent="0">
              <a:buNone/>
            </a:pPr>
            <a:r>
              <a:rPr lang="en-US" sz="1800" b="1" i="1" dirty="0" smtClean="0">
                <a:latin typeface="Times New Roman" panose="02020603050405020304" pitchFamily="18" charset="0"/>
                <a:cs typeface="Times New Roman" panose="02020603050405020304" pitchFamily="18" charset="0"/>
              </a:rPr>
              <a:t>Business </a:t>
            </a:r>
            <a:r>
              <a:rPr lang="en-US" sz="1800" b="1" i="1" dirty="0">
                <a:latin typeface="Times New Roman" panose="02020603050405020304" pitchFamily="18" charset="0"/>
                <a:cs typeface="Times New Roman" panose="02020603050405020304" pitchFamily="18" charset="0"/>
              </a:rPr>
              <a:t>Procedures: </a:t>
            </a:r>
          </a:p>
          <a:p>
            <a:pPr marL="114300" indent="0">
              <a:buNone/>
            </a:pPr>
            <a:r>
              <a:rPr lang="en-US" sz="1800" b="1" i="1" dirty="0">
                <a:latin typeface="Times New Roman" panose="02020603050405020304" pitchFamily="18" charset="0"/>
                <a:cs typeface="Times New Roman" panose="02020603050405020304" pitchFamily="18" charset="0"/>
              </a:rPr>
              <a:t>Policies and Protocols: </a:t>
            </a:r>
            <a:r>
              <a:rPr lang="en-US" sz="1800" dirty="0">
                <a:latin typeface="Times New Roman" panose="02020603050405020304" pitchFamily="18" charset="0"/>
                <a:cs typeface="Times New Roman" panose="02020603050405020304" pitchFamily="18" charset="0"/>
              </a:rPr>
              <a:t>Established methods and procedures for how data is collected, processed, stored, and used.</a:t>
            </a:r>
          </a:p>
          <a:p>
            <a:pPr marL="114300" indent="0">
              <a:buNone/>
            </a:pPr>
            <a:r>
              <a:rPr lang="en-US" sz="1800" dirty="0">
                <a:latin typeface="Times New Roman" panose="02020603050405020304" pitchFamily="18" charset="0"/>
                <a:cs typeface="Times New Roman" panose="02020603050405020304" pitchFamily="18" charset="0"/>
              </a:rPr>
              <a:t>Examples: Data capture, data processing, data storage, retrieval, and dissemination.</a:t>
            </a:r>
          </a:p>
          <a:p>
            <a:pPr marL="114300" indent="0">
              <a:buNone/>
            </a:pPr>
            <a:r>
              <a:rPr lang="en-US" sz="1800" b="1" i="1" dirty="0">
                <a:latin typeface="Times New Roman" panose="02020603050405020304" pitchFamily="18" charset="0"/>
                <a:cs typeface="Times New Roman" panose="02020603050405020304" pitchFamily="18" charset="0"/>
              </a:rPr>
              <a:t>Additional Considerations:</a:t>
            </a:r>
          </a:p>
          <a:p>
            <a:pPr marL="114300" indent="0">
              <a:buNone/>
            </a:pPr>
            <a:r>
              <a:rPr lang="en-US" sz="1800" b="1" i="1" dirty="0">
                <a:latin typeface="Times New Roman" panose="02020603050405020304" pitchFamily="18" charset="0"/>
                <a:cs typeface="Times New Roman" panose="02020603050405020304" pitchFamily="18" charset="0"/>
              </a:rPr>
              <a:t>Data Analysis:</a:t>
            </a:r>
            <a:r>
              <a:rPr lang="en-US" sz="1800" dirty="0">
                <a:latin typeface="Times New Roman" panose="02020603050405020304" pitchFamily="18" charset="0"/>
                <a:cs typeface="Times New Roman" panose="02020603050405020304" pitchFamily="18" charset="0"/>
              </a:rPr>
              <a:t> Tools and techniques used to analyze data and extract meaningful insights. </a:t>
            </a:r>
          </a:p>
          <a:p>
            <a:pPr marL="114300" indent="0">
              <a:buNone/>
            </a:pPr>
            <a:r>
              <a:rPr lang="en-US" sz="1800" b="1" i="1" dirty="0">
                <a:latin typeface="Times New Roman" panose="02020603050405020304" pitchFamily="18" charset="0"/>
                <a:cs typeface="Times New Roman" panose="02020603050405020304" pitchFamily="18" charset="0"/>
              </a:rPr>
              <a:t>Reporting:</a:t>
            </a:r>
            <a:r>
              <a:rPr lang="en-US" sz="1800" dirty="0">
                <a:latin typeface="Times New Roman" panose="02020603050405020304" pitchFamily="18" charset="0"/>
                <a:cs typeface="Times New Roman" panose="02020603050405020304" pitchFamily="18" charset="0"/>
              </a:rPr>
              <a:t> MIS provides reports to managers, which can be routine, on-demand, or exception-based. </a:t>
            </a:r>
          </a:p>
          <a:p>
            <a:pPr marL="114300" indent="0">
              <a:buNone/>
            </a:pPr>
            <a:r>
              <a:rPr lang="en-US" sz="1800" b="1" i="1" dirty="0">
                <a:latin typeface="Times New Roman" panose="02020603050405020304" pitchFamily="18" charset="0"/>
                <a:cs typeface="Times New Roman" panose="02020603050405020304" pitchFamily="18" charset="0"/>
              </a:rPr>
              <a:t>Integration:</a:t>
            </a:r>
            <a:r>
              <a:rPr lang="en-US" sz="1800" dirty="0">
                <a:latin typeface="Times New Roman" panose="02020603050405020304" pitchFamily="18" charset="0"/>
                <a:cs typeface="Times New Roman" panose="02020603050405020304" pitchFamily="18" charset="0"/>
              </a:rPr>
              <a:t> MIS often integrates with other business systems, such as transaction processing systems (TPS). </a:t>
            </a: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133000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Importance of MIS</a:t>
            </a:r>
            <a:endParaRPr lang="en-US" b="1"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114300" indent="0">
              <a:buNone/>
            </a:pPr>
            <a:r>
              <a:rPr lang="en-US" b="1" i="1" dirty="0" smtClean="0">
                <a:latin typeface="Times New Roman" panose="02020603050405020304" pitchFamily="18" charset="0"/>
                <a:cs typeface="Times New Roman" panose="02020603050405020304" pitchFamily="18" charset="0"/>
              </a:rPr>
              <a:t>Enhanced Decision-Making</a:t>
            </a:r>
            <a:endParaRPr lang="en-US" b="1" i="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MIS provides accurate and timely data, enabling managers to make informed decisions based on real-time insights.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helps identify opportunities and problems quickly, allowing for proactive responses and adjustments.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By providing data analysis and reports, MIS facilitates the understanding of business performance and trends. </a:t>
            </a:r>
          </a:p>
        </p:txBody>
      </p:sp>
    </p:spTree>
    <p:extLst>
      <p:ext uri="{BB962C8B-B14F-4D97-AF65-F5344CB8AC3E}">
        <p14:creationId xmlns:p14="http://schemas.microsoft.com/office/powerpoint/2010/main" val="327350997"/>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sz="200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marL="114300" indent="0">
              <a:buNone/>
            </a:pPr>
            <a:r>
              <a:rPr lang="en-US" sz="2000" b="1" i="1" dirty="0" smtClean="0">
                <a:latin typeface="Times New Roman" panose="02020603050405020304" pitchFamily="18" charset="0"/>
                <a:cs typeface="Times New Roman" panose="02020603050405020304" pitchFamily="18" charset="0"/>
              </a:rPr>
              <a:t>Streamlined Operations</a:t>
            </a:r>
            <a:endParaRPr lang="en-US" sz="2000" b="1" i="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MIS automates and integrates various business processes, reducing redundancy and minimizing errors. </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It improves operational efficiency by automating routine tasks and providing easy access to information, allowing employees to focus on more strategic activities. </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MIS can streamline workflows and boost productivity by providing clear roles and responsibilities. </a:t>
            </a:r>
          </a:p>
          <a:p>
            <a:pPr marL="114300" indent="0">
              <a:buNone/>
            </a:pPr>
            <a:r>
              <a:rPr lang="en-US" sz="2000" b="1" i="1" dirty="0" smtClean="0">
                <a:latin typeface="Times New Roman" panose="02020603050405020304" pitchFamily="18" charset="0"/>
                <a:cs typeface="Times New Roman" panose="02020603050405020304" pitchFamily="18" charset="0"/>
              </a:rPr>
              <a:t>Competitive Advantage</a:t>
            </a:r>
            <a:endParaRPr lang="en-US" sz="2000" b="1" i="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MIS provides businesses with a competitive edge by delivering timely and accurate information.</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It helps organizations track customer activity and preferences, enabling the development of targeted marketing campaigns and improved customer service.</a:t>
            </a:r>
          </a:p>
        </p:txBody>
      </p:sp>
    </p:spTree>
    <p:extLst>
      <p:ext uri="{BB962C8B-B14F-4D97-AF65-F5344CB8AC3E}">
        <p14:creationId xmlns:p14="http://schemas.microsoft.com/office/powerpoint/2010/main" val="396655609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pPr marL="114300" indent="0">
              <a:buNone/>
            </a:pPr>
            <a:r>
              <a:rPr lang="en-US" sz="2000" b="1" i="1" dirty="0" smtClean="0">
                <a:latin typeface="Times New Roman" panose="02020603050405020304" pitchFamily="18" charset="0"/>
                <a:cs typeface="Times New Roman" panose="02020603050405020304" pitchFamily="18" charset="0"/>
              </a:rPr>
              <a:t>Improved </a:t>
            </a:r>
            <a:r>
              <a:rPr lang="en-US" sz="2000" b="1" i="1" dirty="0">
                <a:latin typeface="Times New Roman" panose="02020603050405020304" pitchFamily="18" charset="0"/>
                <a:cs typeface="Times New Roman" panose="02020603050405020304" pitchFamily="18" charset="0"/>
              </a:rPr>
              <a:t>Communication and </a:t>
            </a:r>
            <a:r>
              <a:rPr lang="en-US" sz="2000" b="1" i="1" dirty="0" smtClean="0">
                <a:latin typeface="Times New Roman" panose="02020603050405020304" pitchFamily="18" charset="0"/>
                <a:cs typeface="Times New Roman" panose="02020603050405020304" pitchFamily="18" charset="0"/>
              </a:rPr>
              <a:t>Collaboration</a:t>
            </a:r>
            <a:endParaRPr lang="en-US" sz="2000" b="1" i="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MIS enhances internal communication and facilitates collaboration between different teams and departments. </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It can be used for managing schedules, editing information, and facilitating communication. </a:t>
            </a:r>
          </a:p>
          <a:p>
            <a:pPr marL="114300" indent="0">
              <a:buNone/>
            </a:pPr>
            <a:r>
              <a:rPr lang="en-US" sz="2000" b="1" i="1" dirty="0" smtClean="0">
                <a:latin typeface="Times New Roman" panose="02020603050405020304" pitchFamily="18" charset="0"/>
                <a:cs typeface="Times New Roman" panose="02020603050405020304" pitchFamily="18" charset="0"/>
              </a:rPr>
              <a:t>Cost </a:t>
            </a:r>
            <a:r>
              <a:rPr lang="en-US" sz="2000" b="1" i="1" dirty="0">
                <a:latin typeface="Times New Roman" panose="02020603050405020304" pitchFamily="18" charset="0"/>
                <a:cs typeface="Times New Roman" panose="02020603050405020304" pitchFamily="18" charset="0"/>
              </a:rPr>
              <a:t>Savings and </a:t>
            </a:r>
            <a:r>
              <a:rPr lang="en-US" sz="2000" b="1" i="1" dirty="0" smtClean="0">
                <a:latin typeface="Times New Roman" panose="02020603050405020304" pitchFamily="18" charset="0"/>
                <a:cs typeface="Times New Roman" panose="02020603050405020304" pitchFamily="18" charset="0"/>
              </a:rPr>
              <a:t>Efficiency </a:t>
            </a:r>
            <a:endParaRPr lang="en-US" sz="2000" b="1" i="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By streamlining processes and automating tasks, MIS can lead to significant cost savings and increased efficiency. </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It also helps in managing resources more effectively and optimizing workflows. </a:t>
            </a:r>
          </a:p>
          <a:p>
            <a:pPr marL="114300" indent="0">
              <a:buNone/>
            </a:pPr>
            <a:r>
              <a:rPr lang="en-US" sz="2000" b="1" i="1" dirty="0" smtClean="0">
                <a:latin typeface="Times New Roman" panose="02020603050405020304" pitchFamily="18" charset="0"/>
                <a:cs typeface="Times New Roman" panose="02020603050405020304" pitchFamily="18" charset="0"/>
              </a:rPr>
              <a:t>Performance </a:t>
            </a:r>
            <a:r>
              <a:rPr lang="en-US" sz="2000" b="1" i="1" dirty="0">
                <a:latin typeface="Times New Roman" panose="02020603050405020304" pitchFamily="18" charset="0"/>
                <a:cs typeface="Times New Roman" panose="02020603050405020304" pitchFamily="18" charset="0"/>
              </a:rPr>
              <a:t>Monitoring and </a:t>
            </a:r>
            <a:r>
              <a:rPr lang="en-US" sz="2000" b="1" i="1" dirty="0" smtClean="0">
                <a:latin typeface="Times New Roman" panose="02020603050405020304" pitchFamily="18" charset="0"/>
                <a:cs typeface="Times New Roman" panose="02020603050405020304" pitchFamily="18" charset="0"/>
              </a:rPr>
              <a:t>Analysis</a:t>
            </a:r>
            <a:endParaRPr lang="en-US" sz="2000" b="1" i="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MIS allows businesses to monitor performance against objectives and identify trends. </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It provides tools for analyzing data, identifying strengths and weaknesses, and tracking employee performance. </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This allows for proactive adjustments and improvements to business processes. </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379832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anose="02020603050405020304" pitchFamily="18" charset="0"/>
                <a:cs typeface="Times New Roman" panose="02020603050405020304" pitchFamily="18" charset="0"/>
              </a:rPr>
              <a:t>Thank You</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2679543"/>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256</TotalTime>
  <Words>5474</Words>
  <Application>Microsoft Office PowerPoint</Application>
  <PresentationFormat>Widescreen</PresentationFormat>
  <Paragraphs>621</Paragraphs>
  <Slides>104</Slides>
  <Notes>30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104</vt:i4>
      </vt:variant>
    </vt:vector>
  </HeadingPairs>
  <TitlesOfParts>
    <vt:vector size="113" baseType="lpstr">
      <vt:lpstr>MS PGothic</vt:lpstr>
      <vt:lpstr>Arial</vt:lpstr>
      <vt:lpstr>Calibri</vt:lpstr>
      <vt:lpstr>Noto Sans Symbols</vt:lpstr>
      <vt:lpstr>Times</vt:lpstr>
      <vt:lpstr>Times New Roman</vt:lpstr>
      <vt:lpstr>Verdana</vt:lpstr>
      <vt:lpstr>Wingdings</vt:lpstr>
      <vt:lpstr>Office Theme</vt:lpstr>
      <vt:lpstr>Pharmaceutical Management</vt:lpstr>
      <vt:lpstr>Management</vt:lpstr>
      <vt:lpstr>PowerPoint Presentation</vt:lpstr>
      <vt:lpstr>Nature of Management</vt:lpstr>
      <vt:lpstr>PowerPoint Presentation</vt:lpstr>
      <vt:lpstr>PowerPoint Presentation</vt:lpstr>
      <vt:lpstr>PowerPoint Presentation</vt:lpstr>
      <vt:lpstr>Principles of Management</vt:lpstr>
      <vt:lpstr>Pharmaceutical Management </vt:lpstr>
      <vt:lpstr>PowerPoint Presentation</vt:lpstr>
      <vt:lpstr>Features </vt:lpstr>
      <vt:lpstr>PowerPoint Presentation</vt:lpstr>
      <vt:lpstr>Objectives </vt:lpstr>
      <vt:lpstr>PowerPoint Presentation</vt:lpstr>
      <vt:lpstr>Management Vs. Administration</vt:lpstr>
      <vt:lpstr>PowerPoint Presentation</vt:lpstr>
      <vt:lpstr>PowerPoint Presentation</vt:lpstr>
      <vt:lpstr>Functions of Management</vt:lpstr>
      <vt:lpstr>Planning</vt:lpstr>
      <vt:lpstr>Organizing</vt:lpstr>
      <vt:lpstr>Leading </vt:lpstr>
      <vt:lpstr>Controlling </vt:lpstr>
      <vt:lpstr>Process of Management</vt:lpstr>
      <vt:lpstr>PowerPoint Presentation</vt:lpstr>
      <vt:lpstr>PowerPoint Presentation</vt:lpstr>
      <vt:lpstr>PowerPoint Presentation</vt:lpstr>
      <vt:lpstr>Managerial Hierarchy and Levels</vt:lpstr>
      <vt:lpstr>Top Level Management </vt:lpstr>
      <vt:lpstr>PowerPoint Presentation</vt:lpstr>
      <vt:lpstr>Middle Level Management </vt:lpstr>
      <vt:lpstr>PowerPoint Presentation</vt:lpstr>
      <vt:lpstr>Lower Level Management</vt:lpstr>
      <vt:lpstr>PowerPoint Presentation</vt:lpstr>
      <vt:lpstr>PowerPoint Presentation</vt:lpstr>
      <vt:lpstr>Managerial Skills</vt:lpstr>
      <vt:lpstr>PowerPoint Presentation</vt:lpstr>
      <vt:lpstr>PowerPoint Presentation</vt:lpstr>
      <vt:lpstr>What is a Role?</vt:lpstr>
      <vt:lpstr>Managerial Roles </vt:lpstr>
      <vt:lpstr>The Managerial Roles</vt:lpstr>
      <vt:lpstr>Interpersonal Roles</vt:lpstr>
      <vt:lpstr>Informational roles </vt:lpstr>
      <vt:lpstr>Decisional role</vt:lpstr>
      <vt:lpstr>PowerPoint Presentation</vt:lpstr>
      <vt:lpstr>PowerPoint Presentation</vt:lpstr>
      <vt:lpstr>PowerPoint Presentation</vt:lpstr>
      <vt:lpstr>Management Theories</vt:lpstr>
      <vt:lpstr>Why Management History?</vt:lpstr>
      <vt:lpstr> The Industrial Revolution [1760-1840]</vt:lpstr>
      <vt:lpstr>An original steam engine</vt:lpstr>
      <vt:lpstr>A  cotton factory</vt:lpstr>
      <vt:lpstr>PowerPoint Presentation</vt:lpstr>
      <vt:lpstr>The Industrial Revolution – New Technology</vt:lpstr>
      <vt:lpstr>Large Organizations and New Approaches to Management</vt:lpstr>
      <vt:lpstr>Management Perspectives Over Time</vt:lpstr>
      <vt:lpstr>Schools of Management Thought</vt:lpstr>
      <vt:lpstr>Scientific Management: Frederick Taylor  (1856-1915)</vt:lpstr>
      <vt:lpstr>Scientific Management: Frederick Taylor  (1856-1915)</vt:lpstr>
      <vt:lpstr>The 4 Principles </vt:lpstr>
      <vt:lpstr>Scientific Management: summarize</vt:lpstr>
      <vt:lpstr>Administrative Principles Theory:  Henry Fayol (1841–1925)</vt:lpstr>
      <vt:lpstr>Fayol’s Principles</vt:lpstr>
      <vt:lpstr>Fayol’s Principles</vt:lpstr>
      <vt:lpstr>Fayol’s Principles</vt:lpstr>
      <vt:lpstr>Fayol’s 14 Principles</vt:lpstr>
      <vt:lpstr>Behavioral Management School </vt:lpstr>
      <vt:lpstr>Theory X and Y</vt:lpstr>
      <vt:lpstr>Theory X  / Theory Y</vt:lpstr>
      <vt:lpstr>Management Science Theory</vt:lpstr>
      <vt:lpstr>Management Science Theory</vt:lpstr>
      <vt:lpstr>The System Theory</vt:lpstr>
      <vt:lpstr> An Organization Is an Open System </vt:lpstr>
      <vt:lpstr>PowerPoint Presentation</vt:lpstr>
      <vt:lpstr>The Open-Systems View</vt:lpstr>
      <vt:lpstr>Maslow’s  Hierarchy-of-Needs Theory </vt:lpstr>
      <vt:lpstr>Maslow’s Hierarchy-of-Needs Theory </vt:lpstr>
      <vt:lpstr>Definition of Production Management </vt:lpstr>
      <vt:lpstr>Objectives of Production Management</vt:lpstr>
      <vt:lpstr>Types of Production Process</vt:lpstr>
      <vt:lpstr>Classification of Manufacturing Process</vt:lpstr>
      <vt:lpstr>Classification of Manufacturing Process</vt:lpstr>
      <vt:lpstr>Scope of Production Management</vt:lpstr>
      <vt:lpstr>Logistic Management</vt:lpstr>
      <vt:lpstr>Areas of Logistics Management </vt:lpstr>
      <vt:lpstr>ACTIVITIES INVOLVED IN LOGISTICS MANAGEMENT</vt:lpstr>
      <vt:lpstr>Types of Logistics Management</vt:lpstr>
      <vt:lpstr>PowerPoint Presentation</vt:lpstr>
      <vt:lpstr>OBJECTIVES OF LOGISTICS</vt:lpstr>
      <vt:lpstr>Advantages of logistic </vt:lpstr>
      <vt:lpstr>Disadvantages of the logistics</vt:lpstr>
      <vt:lpstr>MANAGEMENT INFORMATION SYSTEM</vt:lpstr>
      <vt:lpstr> Definition</vt:lpstr>
      <vt:lpstr>PowerPoint Presentation</vt:lpstr>
      <vt:lpstr>PowerPoint Presentation</vt:lpstr>
      <vt:lpstr>Objectives of MIS</vt:lpstr>
      <vt:lpstr>Key Objectives of MIS</vt:lpstr>
      <vt:lpstr>PowerPoint Presentation</vt:lpstr>
      <vt:lpstr>PowerPoint Presentation</vt:lpstr>
      <vt:lpstr>Components of MIS</vt:lpstr>
      <vt:lpstr>PowerPoint Presentation</vt:lpstr>
      <vt:lpstr>Importance of MIS</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Functions of Management</dc:title>
  <dc:creator>Windows User</dc:creator>
  <cp:lastModifiedBy>De</cp:lastModifiedBy>
  <cp:revision>253</cp:revision>
  <dcterms:created xsi:type="dcterms:W3CDTF">2025-05-12T11:01:25Z</dcterms:created>
  <dcterms:modified xsi:type="dcterms:W3CDTF">2025-10-31T02:13:23Z</dcterms:modified>
</cp:coreProperties>
</file>